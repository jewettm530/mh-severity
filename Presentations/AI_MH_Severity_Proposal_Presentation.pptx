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Roboto Slab"/>
      <p:regular r:id="rId18"/>
      <p:bold r:id="rId19"/>
    </p:embeddedFont>
    <p:embeddedFont>
      <p:font typeface="Roboto"/>
      <p:regular r:id="rId20"/>
      <p:bold r:id="rId21"/>
      <p:italic r:id="rId22"/>
      <p:boldItalic r:id="rId23"/>
    </p:embeddedFont>
    <p:embeddedFont>
      <p:font typeface="Crimson Tex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BB24AC4-D001-47E7-8EEC-BCB30FFDCAA8}">
  <a:tblStyle styleId="{BBB24AC4-D001-47E7-8EEC-BCB30FFDCAA8}"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CrimsonText-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CrimsonText-italic.fntdata"/><Relationship Id="rId25" Type="http://schemas.openxmlformats.org/officeDocument/2006/relationships/font" Target="fonts/CrimsonText-bold.fntdata"/><Relationship Id="rId27" Type="http://schemas.openxmlformats.org/officeDocument/2006/relationships/font" Target="fonts/CrimsonText-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Slab-bold.fntdata"/><Relationship Id="rId18" Type="http://schemas.openxmlformats.org/officeDocument/2006/relationships/font" Target="fonts/RobotoSlab-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1aab49e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1aab49e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project investigates whether symptom severity can be predicted more accurately using behavioral assessments, extracted brain connectivity features, or a combination of both. Rather than predicting diagnoses such as depression or anxiety, we're predicting symptom severity because two people with the same diagnosis can experience very different levels of symptoms."</a:t>
            </a:r>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Behavioral data</a:t>
            </a:r>
            <a:r>
              <a:rPr lang="en">
                <a:solidFill>
                  <a:schemeClr val="dk1"/>
                </a:solidFill>
              </a:rPr>
              <a:t> = standardized psychological questionnaires and clinical assessments.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Imaging features</a:t>
            </a:r>
            <a:r>
              <a:rPr lang="en">
                <a:solidFill>
                  <a:schemeClr val="dk1"/>
                </a:solidFill>
              </a:rPr>
              <a:t> = numerical summaries extracted from resting-state fMRI (not raw MRI images).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Symptom severity ≠ diagnosis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Diagnosis answers </a:t>
            </a:r>
            <a:r>
              <a:rPr i="1" lang="en">
                <a:solidFill>
                  <a:schemeClr val="dk1"/>
                </a:solidFill>
              </a:rPr>
              <a:t>"What disorder does this person have?"</a:t>
            </a:r>
            <a:endParaRPr i="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Symptom severity answers </a:t>
            </a:r>
            <a:r>
              <a:rPr i="1" lang="en">
                <a:solidFill>
                  <a:schemeClr val="dk1"/>
                </a:solidFill>
              </a:rPr>
              <a:t>"How severe are the symptoms?"</a:t>
            </a:r>
            <a:endParaRPr i="1">
              <a:solidFill>
                <a:schemeClr val="dk1"/>
              </a:solidFill>
            </a:endParaRPr>
          </a:p>
          <a:p>
            <a:pPr indent="0" lvl="0" marL="0" rtl="0" algn="l">
              <a:spcBef>
                <a:spcPts val="1200"/>
              </a:spcBef>
              <a:spcAft>
                <a:spcPts val="0"/>
              </a:spcAft>
              <a:buNone/>
            </a:pPr>
            <a:r>
              <a:t/>
            </a:r>
            <a:endParaRPr b="1"/>
          </a:p>
          <a:p>
            <a:pPr indent="0" lvl="0" marL="0" rtl="0" algn="l">
              <a:spcBef>
                <a:spcPts val="0"/>
              </a:spcBef>
              <a:spcAft>
                <a:spcPts val="0"/>
              </a:spcAft>
              <a:buNone/>
            </a:pPr>
            <a:r>
              <a:rPr b="1" lang="en"/>
              <a:t>Just definitions if needed:</a:t>
            </a:r>
            <a:endParaRPr b="1"/>
          </a:p>
          <a:p>
            <a:pPr indent="0" lvl="0" marL="0" rtl="0" algn="l">
              <a:spcBef>
                <a:spcPts val="0"/>
              </a:spcBef>
              <a:spcAft>
                <a:spcPts val="0"/>
              </a:spcAft>
              <a:buNone/>
            </a:pPr>
            <a:r>
              <a:rPr lang="en" u="sng"/>
              <a:t>Regression</a:t>
            </a:r>
            <a:r>
              <a:rPr lang="en"/>
              <a:t> - Predicts a continuous value rather than a category.</a:t>
            </a:r>
            <a:endParaRPr/>
          </a:p>
          <a:p>
            <a:pPr indent="0" lvl="0" marL="0" rtl="0" algn="l">
              <a:spcBef>
                <a:spcPts val="0"/>
              </a:spcBef>
              <a:spcAft>
                <a:spcPts val="0"/>
              </a:spcAft>
              <a:buNone/>
            </a:pPr>
            <a:r>
              <a:rPr lang="en" u="sng"/>
              <a:t>Random Forest</a:t>
            </a:r>
            <a:r>
              <a:rPr lang="en">
                <a:solidFill>
                  <a:schemeClr val="dk1"/>
                </a:solidFill>
              </a:rPr>
              <a:t> - </a:t>
            </a:r>
            <a:r>
              <a:rPr lang="en"/>
              <a:t>An ensemble of decision trees whose predictions are averaged.</a:t>
            </a:r>
            <a:endParaRPr/>
          </a:p>
          <a:p>
            <a:pPr indent="0" lvl="0" marL="0" rtl="0" algn="l">
              <a:spcBef>
                <a:spcPts val="0"/>
              </a:spcBef>
              <a:spcAft>
                <a:spcPts val="0"/>
              </a:spcAft>
              <a:buNone/>
            </a:pPr>
            <a:r>
              <a:rPr lang="en" u="sng"/>
              <a:t>Feature</a:t>
            </a:r>
            <a:r>
              <a:rPr lang="en">
                <a:solidFill>
                  <a:schemeClr val="dk1"/>
                </a:solidFill>
              </a:rPr>
              <a:t> - </a:t>
            </a:r>
            <a:r>
              <a:rPr lang="en"/>
              <a:t>An input variable used by the model (questionnaire score or imaging measurement).</a:t>
            </a:r>
            <a:endParaRPr/>
          </a:p>
          <a:p>
            <a:pPr indent="0" lvl="0" marL="0" rtl="0" algn="l">
              <a:spcBef>
                <a:spcPts val="0"/>
              </a:spcBef>
              <a:spcAft>
                <a:spcPts val="0"/>
              </a:spcAft>
              <a:buNone/>
            </a:pPr>
            <a:r>
              <a:rPr lang="en" u="sng"/>
              <a:t>Target</a:t>
            </a:r>
            <a:r>
              <a:rPr lang="en">
                <a:solidFill>
                  <a:schemeClr val="dk1"/>
                </a:solidFill>
              </a:rPr>
              <a:t> - </a:t>
            </a:r>
            <a:r>
              <a:rPr lang="en"/>
              <a:t>The value the model is trying to predict (e.g., QIDS total score).</a:t>
            </a:r>
            <a:endParaRPr/>
          </a:p>
          <a:p>
            <a:pPr indent="0" lvl="0" marL="0" rtl="0" algn="l">
              <a:spcBef>
                <a:spcPts val="0"/>
              </a:spcBef>
              <a:spcAft>
                <a:spcPts val="0"/>
              </a:spcAft>
              <a:buNone/>
            </a:pPr>
            <a:r>
              <a:rPr lang="en" u="sng"/>
              <a:t>Resting-state fMRI</a:t>
            </a:r>
            <a:r>
              <a:rPr lang="en">
                <a:solidFill>
                  <a:schemeClr val="dk1"/>
                </a:solidFill>
              </a:rPr>
              <a:t> - </a:t>
            </a:r>
            <a:r>
              <a:rPr lang="en"/>
              <a:t>Measures spontaneous brain activity while the participant is not performing a task.</a:t>
            </a:r>
            <a:endParaRPr/>
          </a:p>
          <a:p>
            <a:pPr indent="0" lvl="0" marL="0" rtl="0" algn="l">
              <a:spcBef>
                <a:spcPts val="0"/>
              </a:spcBef>
              <a:spcAft>
                <a:spcPts val="0"/>
              </a:spcAft>
              <a:buNone/>
            </a:pPr>
            <a:r>
              <a:rPr lang="en" u="sng"/>
              <a:t>Connectivity feature</a:t>
            </a:r>
            <a:r>
              <a:rPr lang="en">
                <a:solidFill>
                  <a:schemeClr val="dk1"/>
                </a:solidFill>
              </a:rPr>
              <a:t> - </a:t>
            </a:r>
            <a:r>
              <a:rPr lang="en"/>
              <a:t>A numerical measure describing relationships between brain regions.</a:t>
            </a:r>
            <a:endParaRPr/>
          </a:p>
          <a:p>
            <a:pPr indent="0" lvl="0" marL="0" rtl="0" algn="l">
              <a:spcBef>
                <a:spcPts val="0"/>
              </a:spcBef>
              <a:spcAft>
                <a:spcPts val="0"/>
              </a:spcAft>
              <a:buNone/>
            </a:pPr>
            <a:r>
              <a:rPr lang="en" u="sng"/>
              <a:t>Multimodal</a:t>
            </a:r>
            <a:r>
              <a:rPr lang="en">
                <a:solidFill>
                  <a:schemeClr val="dk1"/>
                </a:solidFill>
              </a:rPr>
              <a:t> - </a:t>
            </a:r>
            <a:r>
              <a:rPr lang="en"/>
              <a:t>Combines behavioral and imaging features in the same model.</a:t>
            </a:r>
            <a:endParaRPr/>
          </a:p>
          <a:p>
            <a:pPr indent="0" lvl="0" marL="0" rtl="0" algn="l">
              <a:spcBef>
                <a:spcPts val="0"/>
              </a:spcBef>
              <a:spcAft>
                <a:spcPts val="0"/>
              </a:spcAft>
              <a:buNone/>
            </a:pPr>
            <a:r>
              <a:rPr lang="en" u="sng"/>
              <a:t>Cross-validation</a:t>
            </a:r>
            <a:r>
              <a:rPr lang="en">
                <a:solidFill>
                  <a:schemeClr val="dk1"/>
                </a:solidFill>
              </a:rPr>
              <a:t> - </a:t>
            </a:r>
            <a:r>
              <a:rPr lang="en"/>
              <a:t>Repeatedly rotates validation data to estimate how well the model generalizes.</a:t>
            </a:r>
            <a:endParaRPr/>
          </a:p>
          <a:p>
            <a:pPr indent="0" lvl="0" marL="0" rtl="0" algn="l">
              <a:spcBef>
                <a:spcPts val="0"/>
              </a:spcBef>
              <a:spcAft>
                <a:spcPts val="0"/>
              </a:spcAft>
              <a:buNone/>
            </a:pPr>
            <a:r>
              <a:rPr lang="en" u="sng"/>
              <a:t>Overfitting</a:t>
            </a:r>
            <a:r>
              <a:rPr lang="en">
                <a:solidFill>
                  <a:schemeClr val="dk1"/>
                </a:solidFill>
              </a:rPr>
              <a:t> - </a:t>
            </a:r>
            <a:r>
              <a:rPr lang="en"/>
              <a:t>When a model memorizes the training data and performs poorly on new data.</a:t>
            </a:r>
            <a:endParaRPr/>
          </a:p>
          <a:p>
            <a:pPr indent="0" lvl="0" marL="0" rtl="0" algn="l">
              <a:spcBef>
                <a:spcPts val="0"/>
              </a:spcBef>
              <a:spcAft>
                <a:spcPts val="0"/>
              </a:spcAft>
              <a:buNone/>
            </a:pPr>
            <a:r>
              <a:rPr lang="en" u="sng"/>
              <a:t>Generalization</a:t>
            </a:r>
            <a:r>
              <a:rPr lang="en">
                <a:solidFill>
                  <a:schemeClr val="dk1"/>
                </a:solidFill>
              </a:rPr>
              <a:t> - </a:t>
            </a:r>
            <a:r>
              <a:rPr lang="en"/>
              <a:t>How well a model performs on unseen participants.</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1aab49e1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1aab49e1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"Mental health disorders are highly variable. Two patients with the same diagnosis may have very different symptom severity and treatment needs. Predicting symptom severity instead of diagnosis may provide clinicians and researchers with a more detailed understanding of patient status and could eventually support better monitoring and personalized treatment planning. Additionally, severity changes over time more than diagnoses."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Just definitions if needed:</a:t>
            </a:r>
            <a:endParaRPr b="1">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Regression</a:t>
            </a:r>
            <a:r>
              <a:rPr lang="en">
                <a:solidFill>
                  <a:schemeClr val="dk1"/>
                </a:solidFill>
              </a:rPr>
              <a:t> - Predicts a continuous value rather than a category.</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Random Forest</a:t>
            </a:r>
            <a:r>
              <a:rPr lang="en">
                <a:solidFill>
                  <a:schemeClr val="dk1"/>
                </a:solidFill>
              </a:rPr>
              <a:t> - An ensemble of decision trees whose predictions are averaged.</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Feature</a:t>
            </a:r>
            <a:r>
              <a:rPr lang="en">
                <a:solidFill>
                  <a:schemeClr val="dk1"/>
                </a:solidFill>
              </a:rPr>
              <a:t> - An input variable used by the model (questionnaire score or imaging measurement).</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Target</a:t>
            </a:r>
            <a:r>
              <a:rPr lang="en">
                <a:solidFill>
                  <a:schemeClr val="dk1"/>
                </a:solidFill>
              </a:rPr>
              <a:t> - The value the model is trying to predict (e.g., QIDS total score).</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Resting-state fMRI</a:t>
            </a:r>
            <a:r>
              <a:rPr lang="en">
                <a:solidFill>
                  <a:schemeClr val="dk1"/>
                </a:solidFill>
              </a:rPr>
              <a:t> - Measures spontaneous brain activity while the participant is not performing a task.</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Connectivity feature</a:t>
            </a:r>
            <a:r>
              <a:rPr lang="en">
                <a:solidFill>
                  <a:schemeClr val="dk1"/>
                </a:solidFill>
              </a:rPr>
              <a:t> - A numerical measure describing relationships between brain regions.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Multimodal</a:t>
            </a:r>
            <a:r>
              <a:rPr lang="en">
                <a:solidFill>
                  <a:schemeClr val="dk1"/>
                </a:solidFill>
              </a:rPr>
              <a:t> - Combines behavioral and imaging features in the same model.</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Cross-validation</a:t>
            </a:r>
            <a:r>
              <a:rPr lang="en">
                <a:solidFill>
                  <a:schemeClr val="dk1"/>
                </a:solidFill>
              </a:rPr>
              <a:t> - Repeatedly rotates validation data to estimate how well the model generalizes.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Overfitting</a:t>
            </a:r>
            <a:r>
              <a:rPr lang="en">
                <a:solidFill>
                  <a:schemeClr val="dk1"/>
                </a:solidFill>
              </a:rPr>
              <a:t> - When a model memorizes the training data and performs poorly on new data.</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Generalization</a:t>
            </a:r>
            <a:r>
              <a:rPr lang="en">
                <a:solidFill>
                  <a:schemeClr val="dk1"/>
                </a:solidFill>
              </a:rPr>
              <a:t> - How well a model performs on unseen participants.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1aab49e1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1aab49e1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study uses data from the Transdiagnostic Connectome Project, which contains resting-state brain imaging, demographic information, and more than fifty behavioral and clinical assessments. We'll compare three machine learning models: one using behavioral information alone, one using extracted brain connectivity features alone, and one combining both data sources. This comparison helps determine whether brain imaging contributes additional predictive value beyond traditional clinical assessments. Because our project predicts continuous symptom severity scores rather than diagnostic categories, we evaluate performance using three standard regression metrics. Mean Absolute Error measures the average prediction error, Root Mean Squared Error measures average error while penalizing larger mistakes more heavily, and R-squared indicates how much of the variation in symptom severity is explained by the model. Together, these metrics provide a comprehensive assessment of prediction accuracy."</a:t>
            </a:r>
            <a:endParaRPr/>
          </a:p>
          <a:p>
            <a:pPr indent="0" lvl="0" marL="0" rtl="0" algn="l">
              <a:spcBef>
                <a:spcPts val="0"/>
              </a:spcBef>
              <a:spcAft>
                <a:spcPts val="0"/>
              </a:spcAft>
              <a:buNone/>
            </a:pPr>
            <a:r>
              <a:t/>
            </a:r>
            <a:endParaRPr/>
          </a:p>
          <a:p>
            <a:pPr indent="0" lvl="0" marL="0" rtl="0" algn="l">
              <a:lnSpc>
                <a:spcPct val="100000"/>
              </a:lnSpc>
              <a:spcBef>
                <a:spcPts val="0"/>
              </a:spcBef>
              <a:spcAft>
                <a:spcPts val="0"/>
              </a:spcAft>
              <a:buNone/>
            </a:pPr>
            <a:r>
              <a:rPr lang="en">
                <a:solidFill>
                  <a:schemeClr val="dk1"/>
                </a:solidFill>
              </a:rPr>
              <a:t>Behavioral data</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Questionnaire scores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Demographics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Clinical assessments</a:t>
            </a:r>
            <a:endParaRPr>
              <a:solidFill>
                <a:schemeClr val="dk1"/>
              </a:solidFill>
            </a:endParaRPr>
          </a:p>
          <a:p>
            <a:pPr indent="0" lvl="0" marL="0" rtl="0" algn="l">
              <a:lnSpc>
                <a:spcPct val="100000"/>
              </a:lnSpc>
              <a:spcBef>
                <a:spcPts val="0"/>
              </a:spcBef>
              <a:spcAft>
                <a:spcPts val="0"/>
              </a:spcAft>
              <a:buNone/>
            </a:pPr>
            <a:r>
              <a:rPr lang="en">
                <a:solidFill>
                  <a:schemeClr val="dk1"/>
                </a:solidFill>
              </a:rPr>
              <a:t>Imaging data</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Resting-state fMRI</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Extracted connectivity features</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No raw images used</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MAE = Mean Absolute Error tells us how far our predictions are from the actual symptom scores on average. Lower MAE values indicate more accurate predictions and are easy to interpret because they're measured in the same units as the clinical questionnaire.</a:t>
            </a:r>
            <a:endParaRPr/>
          </a:p>
          <a:p>
            <a:pPr indent="0" lvl="0" marL="0" marR="381000" rtl="0" algn="l">
              <a:lnSpc>
                <a:spcPct val="115000"/>
              </a:lnSpc>
              <a:spcBef>
                <a:spcPts val="1200"/>
              </a:spcBef>
              <a:spcAft>
                <a:spcPts val="0"/>
              </a:spcAft>
              <a:buNone/>
            </a:pPr>
            <a:r>
              <a:rPr lang="en">
                <a:solidFill>
                  <a:schemeClr val="dk1"/>
                </a:solidFill>
              </a:rPr>
              <a:t>RMSE = Root Mean Squared Error also measures prediction error, but it gives much greater weight to large mistakes. This helps us identify models that occasionally make very inaccurate predictions, even if their average error is relatively small.</a:t>
            </a:r>
            <a:endParaRPr sz="1300">
              <a:solidFill>
                <a:schemeClr val="dk1"/>
              </a:solidFill>
              <a:latin typeface="Roboto"/>
              <a:ea typeface="Roboto"/>
              <a:cs typeface="Roboto"/>
              <a:sym typeface="Roboto"/>
            </a:endParaRPr>
          </a:p>
          <a:p>
            <a:pPr indent="0" lvl="0" marL="0" marR="381000" rtl="0" algn="l">
              <a:lnSpc>
                <a:spcPct val="115000"/>
              </a:lnSpc>
              <a:spcBef>
                <a:spcPts val="1200"/>
              </a:spcBef>
              <a:spcAft>
                <a:spcPts val="0"/>
              </a:spcAft>
              <a:buNone/>
            </a:pPr>
            <a:r>
              <a:rPr lang="en">
                <a:solidFill>
                  <a:schemeClr val="dk1"/>
                </a:solidFill>
              </a:rPr>
              <a:t>R² = </a:t>
            </a:r>
            <a:r>
              <a:rPr lang="en"/>
              <a:t>Root Mean Squared Error also measures prediction error, but it gives much greater weight to large mistakes. This helps us identify models that occasionally make very inaccurate predictions, even if their average error is relatively small.</a:t>
            </a:r>
            <a:endParaRPr/>
          </a:p>
          <a:p>
            <a:pPr indent="0" lvl="0" marL="0" rtl="0" algn="l">
              <a:spcBef>
                <a:spcPts val="120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Just definitions if needed:</a:t>
            </a:r>
            <a:endParaRPr b="1">
              <a:solidFill>
                <a:schemeClr val="dk1"/>
              </a:solidFill>
            </a:endParaRPr>
          </a:p>
          <a:p>
            <a:pPr indent="0" lvl="0" marL="0" rtl="0" algn="l">
              <a:spcBef>
                <a:spcPts val="0"/>
              </a:spcBef>
              <a:spcAft>
                <a:spcPts val="0"/>
              </a:spcAft>
              <a:buNone/>
            </a:pPr>
            <a:r>
              <a:rPr lang="en" u="sng">
                <a:solidFill>
                  <a:schemeClr val="dk1"/>
                </a:solidFill>
              </a:rPr>
              <a:t>Regression</a:t>
            </a:r>
            <a:r>
              <a:rPr lang="en">
                <a:solidFill>
                  <a:schemeClr val="dk1"/>
                </a:solidFill>
              </a:rPr>
              <a:t> - Predicts a continuous value rather than a category.</a:t>
            </a:r>
            <a:endParaRPr>
              <a:solidFill>
                <a:schemeClr val="dk1"/>
              </a:solidFill>
            </a:endParaRPr>
          </a:p>
          <a:p>
            <a:pPr indent="0" lvl="0" marL="0" rtl="0" algn="l">
              <a:spcBef>
                <a:spcPts val="0"/>
              </a:spcBef>
              <a:spcAft>
                <a:spcPts val="0"/>
              </a:spcAft>
              <a:buNone/>
            </a:pPr>
            <a:r>
              <a:rPr lang="en" u="sng">
                <a:solidFill>
                  <a:schemeClr val="dk1"/>
                </a:solidFill>
              </a:rPr>
              <a:t>Random Forest</a:t>
            </a:r>
            <a:r>
              <a:rPr lang="en">
                <a:solidFill>
                  <a:schemeClr val="dk1"/>
                </a:solidFill>
              </a:rPr>
              <a:t> - An ensemble of decision trees whose predictions are averaged.</a:t>
            </a:r>
            <a:endParaRPr>
              <a:solidFill>
                <a:schemeClr val="dk1"/>
              </a:solidFill>
            </a:endParaRPr>
          </a:p>
          <a:p>
            <a:pPr indent="0" lvl="0" marL="0" rtl="0" algn="l">
              <a:spcBef>
                <a:spcPts val="0"/>
              </a:spcBef>
              <a:spcAft>
                <a:spcPts val="0"/>
              </a:spcAft>
              <a:buNone/>
            </a:pPr>
            <a:r>
              <a:rPr lang="en" u="sng">
                <a:solidFill>
                  <a:schemeClr val="dk1"/>
                </a:solidFill>
              </a:rPr>
              <a:t>Feature</a:t>
            </a:r>
            <a:r>
              <a:rPr lang="en">
                <a:solidFill>
                  <a:schemeClr val="dk1"/>
                </a:solidFill>
              </a:rPr>
              <a:t> - An input variable used by the model (questionnaire score or imaging measurement).</a:t>
            </a:r>
            <a:endParaRPr>
              <a:solidFill>
                <a:schemeClr val="dk1"/>
              </a:solidFill>
            </a:endParaRPr>
          </a:p>
          <a:p>
            <a:pPr indent="0" lvl="0" marL="0" rtl="0" algn="l">
              <a:spcBef>
                <a:spcPts val="0"/>
              </a:spcBef>
              <a:spcAft>
                <a:spcPts val="0"/>
              </a:spcAft>
              <a:buNone/>
            </a:pPr>
            <a:r>
              <a:rPr lang="en" u="sng">
                <a:solidFill>
                  <a:schemeClr val="dk1"/>
                </a:solidFill>
              </a:rPr>
              <a:t>Target</a:t>
            </a:r>
            <a:r>
              <a:rPr lang="en">
                <a:solidFill>
                  <a:schemeClr val="dk1"/>
                </a:solidFill>
              </a:rPr>
              <a:t> - The value the model is trying to predict (e.g., QIDS total score).</a:t>
            </a:r>
            <a:endParaRPr>
              <a:solidFill>
                <a:schemeClr val="dk1"/>
              </a:solidFill>
            </a:endParaRPr>
          </a:p>
          <a:p>
            <a:pPr indent="0" lvl="0" marL="0" rtl="0" algn="l">
              <a:spcBef>
                <a:spcPts val="0"/>
              </a:spcBef>
              <a:spcAft>
                <a:spcPts val="0"/>
              </a:spcAft>
              <a:buNone/>
            </a:pPr>
            <a:r>
              <a:rPr lang="en" u="sng">
                <a:solidFill>
                  <a:schemeClr val="dk1"/>
                </a:solidFill>
              </a:rPr>
              <a:t>Resting-state fMRI</a:t>
            </a:r>
            <a:r>
              <a:rPr lang="en">
                <a:solidFill>
                  <a:schemeClr val="dk1"/>
                </a:solidFill>
              </a:rPr>
              <a:t> - Measures spontaneous brain activity while the participant is not performing a task.</a:t>
            </a:r>
            <a:endParaRPr>
              <a:solidFill>
                <a:schemeClr val="dk1"/>
              </a:solidFill>
            </a:endParaRPr>
          </a:p>
          <a:p>
            <a:pPr indent="0" lvl="0" marL="0" rtl="0" algn="l">
              <a:spcBef>
                <a:spcPts val="0"/>
              </a:spcBef>
              <a:spcAft>
                <a:spcPts val="0"/>
              </a:spcAft>
              <a:buNone/>
            </a:pPr>
            <a:r>
              <a:rPr lang="en" u="sng">
                <a:solidFill>
                  <a:schemeClr val="dk1"/>
                </a:solidFill>
              </a:rPr>
              <a:t>Connectivity feature</a:t>
            </a:r>
            <a:r>
              <a:rPr lang="en">
                <a:solidFill>
                  <a:schemeClr val="dk1"/>
                </a:solidFill>
              </a:rPr>
              <a:t> - A numerical measure describing relationships between brain regions.</a:t>
            </a:r>
            <a:endParaRPr>
              <a:solidFill>
                <a:schemeClr val="dk1"/>
              </a:solidFill>
            </a:endParaRPr>
          </a:p>
          <a:p>
            <a:pPr indent="0" lvl="0" marL="0" rtl="0" algn="l">
              <a:spcBef>
                <a:spcPts val="0"/>
              </a:spcBef>
              <a:spcAft>
                <a:spcPts val="0"/>
              </a:spcAft>
              <a:buNone/>
            </a:pPr>
            <a:r>
              <a:rPr lang="en" u="sng">
                <a:solidFill>
                  <a:schemeClr val="dk1"/>
                </a:solidFill>
              </a:rPr>
              <a:t>Multimodal</a:t>
            </a:r>
            <a:r>
              <a:rPr lang="en">
                <a:solidFill>
                  <a:schemeClr val="dk1"/>
                </a:solidFill>
              </a:rPr>
              <a:t> - Combines behavioral and imaging features in the same model.</a:t>
            </a:r>
            <a:endParaRPr>
              <a:solidFill>
                <a:schemeClr val="dk1"/>
              </a:solidFill>
            </a:endParaRPr>
          </a:p>
          <a:p>
            <a:pPr indent="0" lvl="0" marL="0" rtl="0" algn="l">
              <a:spcBef>
                <a:spcPts val="0"/>
              </a:spcBef>
              <a:spcAft>
                <a:spcPts val="0"/>
              </a:spcAft>
              <a:buNone/>
            </a:pPr>
            <a:r>
              <a:rPr lang="en" u="sng">
                <a:solidFill>
                  <a:schemeClr val="dk1"/>
                </a:solidFill>
              </a:rPr>
              <a:t>Cross-validation</a:t>
            </a:r>
            <a:r>
              <a:rPr lang="en">
                <a:solidFill>
                  <a:schemeClr val="dk1"/>
                </a:solidFill>
              </a:rPr>
              <a:t> - Repeatedly rotates validation data to estimate how well the model generalizes.</a:t>
            </a:r>
            <a:endParaRPr>
              <a:solidFill>
                <a:schemeClr val="dk1"/>
              </a:solidFill>
            </a:endParaRPr>
          </a:p>
          <a:p>
            <a:pPr indent="0" lvl="0" marL="0" rtl="0" algn="l">
              <a:spcBef>
                <a:spcPts val="0"/>
              </a:spcBef>
              <a:spcAft>
                <a:spcPts val="0"/>
              </a:spcAft>
              <a:buNone/>
            </a:pPr>
            <a:r>
              <a:rPr lang="en" u="sng">
                <a:solidFill>
                  <a:schemeClr val="dk1"/>
                </a:solidFill>
              </a:rPr>
              <a:t>Overfitting</a:t>
            </a:r>
            <a:r>
              <a:rPr lang="en">
                <a:solidFill>
                  <a:schemeClr val="dk1"/>
                </a:solidFill>
              </a:rPr>
              <a:t> - When a model memorizes the training data and performs poorly on new data.</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Generalization</a:t>
            </a:r>
            <a:r>
              <a:rPr lang="en">
                <a:solidFill>
                  <a:schemeClr val="dk1"/>
                </a:solidFill>
              </a:rPr>
              <a:t> - How well a model performs on unseen participants.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1aab49e1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1aab49e1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 Forest with XGBoost for tabular data Allows us to work with a smaller dataset size and still analyze complex relationships between variables. Notes: *Potentially using linear regression first (baseline) vs random forest as comparison, *Freesurfer models parsing MRI  </a:t>
            </a:r>
            <a:br>
              <a:rPr lang="en"/>
            </a:br>
            <a:br>
              <a:rPr lang="en"/>
            </a:br>
            <a:r>
              <a:rPr lang="en"/>
              <a:t>"We selected Random Forest Regression because our goal is to predict a continuous symptom severity score rather than classify participants into diagnostic categories. Random Forest performs well with relatively small datasets, can model nonlinear relationships, works with mixed feature types, and also provides feature importance scores that help identify which variables contribute most to prediction."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Just definitions if needed:</a:t>
            </a:r>
            <a:endParaRPr b="1">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Regression</a:t>
            </a:r>
            <a:r>
              <a:rPr lang="en">
                <a:solidFill>
                  <a:schemeClr val="dk1"/>
                </a:solidFill>
              </a:rPr>
              <a:t> - Predicts a continuous value rather than a category.</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Random Forest</a:t>
            </a:r>
            <a:r>
              <a:rPr lang="en">
                <a:solidFill>
                  <a:schemeClr val="dk1"/>
                </a:solidFill>
              </a:rPr>
              <a:t> - An ensemble of decision trees whose predictions are averaged.</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Feature</a:t>
            </a:r>
            <a:r>
              <a:rPr lang="en">
                <a:solidFill>
                  <a:schemeClr val="dk1"/>
                </a:solidFill>
              </a:rPr>
              <a:t> - An input variable used by the model (questionnaire score or imaging measurement).</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Target</a:t>
            </a:r>
            <a:r>
              <a:rPr lang="en">
                <a:solidFill>
                  <a:schemeClr val="dk1"/>
                </a:solidFill>
              </a:rPr>
              <a:t> - The value the model is trying to predict (e.g., QIDS total score).</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Resting-state fMRI</a:t>
            </a:r>
            <a:r>
              <a:rPr lang="en">
                <a:solidFill>
                  <a:schemeClr val="dk1"/>
                </a:solidFill>
              </a:rPr>
              <a:t> - Measures spontaneous brain activity while the participant is not performing a task.</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Connectivity feature</a:t>
            </a:r>
            <a:r>
              <a:rPr lang="en">
                <a:solidFill>
                  <a:schemeClr val="dk1"/>
                </a:solidFill>
              </a:rPr>
              <a:t> - A numerical measure describing relationships between brain regions.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Multimodal</a:t>
            </a:r>
            <a:r>
              <a:rPr lang="en">
                <a:solidFill>
                  <a:schemeClr val="dk1"/>
                </a:solidFill>
              </a:rPr>
              <a:t> - Combines behavioral and imaging features in the same model.</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Cross-validation</a:t>
            </a:r>
            <a:r>
              <a:rPr lang="en">
                <a:solidFill>
                  <a:schemeClr val="dk1"/>
                </a:solidFill>
              </a:rPr>
              <a:t> - Repeatedly rotates validation data to estimate how well the model generalizes.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Overfitting</a:t>
            </a:r>
            <a:r>
              <a:rPr lang="en">
                <a:solidFill>
                  <a:schemeClr val="dk1"/>
                </a:solidFill>
              </a:rPr>
              <a:t> - When a model memorizes the training data and performs poorly on new data.</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Generalization</a:t>
            </a:r>
            <a:r>
              <a:rPr lang="en">
                <a:solidFill>
                  <a:schemeClr val="dk1"/>
                </a:solidFill>
              </a:rPr>
              <a:t> - How well a model performs on unseen participants.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1aab49e1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f1aab49e1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first research question asks which type of information produces the most accurate symptom severity predictions: behavioral data, imaging features, or both together. Our second question investigates whether combining both sources produces better predictions than either source individually."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Just definitions if needed:</a:t>
            </a:r>
            <a:endParaRPr b="1">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Regression</a:t>
            </a:r>
            <a:r>
              <a:rPr lang="en">
                <a:solidFill>
                  <a:schemeClr val="dk1"/>
                </a:solidFill>
              </a:rPr>
              <a:t> - Predicts a continuous value rather than a category.</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Random Forest</a:t>
            </a:r>
            <a:r>
              <a:rPr lang="en">
                <a:solidFill>
                  <a:schemeClr val="dk1"/>
                </a:solidFill>
              </a:rPr>
              <a:t> - An ensemble of decision trees whose predictions are averaged.</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Feature</a:t>
            </a:r>
            <a:r>
              <a:rPr lang="en">
                <a:solidFill>
                  <a:schemeClr val="dk1"/>
                </a:solidFill>
              </a:rPr>
              <a:t> - An input variable used by the model (questionnaire score or imaging measurement).</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Target</a:t>
            </a:r>
            <a:r>
              <a:rPr lang="en">
                <a:solidFill>
                  <a:schemeClr val="dk1"/>
                </a:solidFill>
              </a:rPr>
              <a:t> - The value the model is trying to predict (e.g., QIDS total score).</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Resting-state fMRI</a:t>
            </a:r>
            <a:r>
              <a:rPr lang="en">
                <a:solidFill>
                  <a:schemeClr val="dk1"/>
                </a:solidFill>
              </a:rPr>
              <a:t> - Measures spontaneous brain activity while the participant is not performing a task.</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Connectivity feature</a:t>
            </a:r>
            <a:r>
              <a:rPr lang="en">
                <a:solidFill>
                  <a:schemeClr val="dk1"/>
                </a:solidFill>
              </a:rPr>
              <a:t> - A numerical measure describing relationships between brain regions.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Multimodal</a:t>
            </a:r>
            <a:r>
              <a:rPr lang="en">
                <a:solidFill>
                  <a:schemeClr val="dk1"/>
                </a:solidFill>
              </a:rPr>
              <a:t> - Combines behavioral and imaging features in the same model.</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Cross-validation</a:t>
            </a:r>
            <a:r>
              <a:rPr lang="en">
                <a:solidFill>
                  <a:schemeClr val="dk1"/>
                </a:solidFill>
              </a:rPr>
              <a:t> - Repeatedly rotates validation data to estimate how well the model generalizes.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Overfitting</a:t>
            </a:r>
            <a:r>
              <a:rPr lang="en">
                <a:solidFill>
                  <a:schemeClr val="dk1"/>
                </a:solidFill>
              </a:rPr>
              <a:t> - When a model memorizes the training data and performs poorly on new data.</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Generalization</a:t>
            </a:r>
            <a:r>
              <a:rPr lang="en">
                <a:solidFill>
                  <a:schemeClr val="dk1"/>
                </a:solidFill>
              </a:rPr>
              <a:t> - How well a model performs on unseen participants.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1aab49e1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1aab49e1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dataset contains 241 participants from both healthy controls and psychiatric patients. Although MRI data are included, our project uses extracted resting-state connectivity features rather than training directly on the raw MRI images. This makes the dataset much more appropriate for Random Forest Regression."</a:t>
            </a:r>
            <a:endParaRPr/>
          </a:p>
          <a:p>
            <a:pPr indent="0" lvl="0" marL="0" rtl="0" algn="l">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rPr lang="en" u="sng">
                <a:solidFill>
                  <a:schemeClr val="dk1"/>
                </a:solidFill>
              </a:rPr>
              <a:t>Resting-state fMRI</a:t>
            </a:r>
            <a:endParaRPr u="sng">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Measures spontaneous brain activity while the participant is not performing a task.</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u="sng">
                <a:solidFill>
                  <a:schemeClr val="dk1"/>
                </a:solidFill>
              </a:rPr>
              <a:t>Connectivity features</a:t>
            </a:r>
            <a:endParaRPr u="sng">
              <a:solidFill>
                <a:schemeClr val="dk1"/>
              </a:solidFill>
            </a:endParaRPr>
          </a:p>
          <a:p>
            <a:pPr indent="0" lvl="0" marL="0" rtl="0" algn="l">
              <a:lnSpc>
                <a:spcPct val="100000"/>
              </a:lnSpc>
              <a:spcBef>
                <a:spcPts val="0"/>
              </a:spcBef>
              <a:spcAft>
                <a:spcPts val="0"/>
              </a:spcAft>
              <a:buNone/>
            </a:pPr>
            <a:r>
              <a:rPr lang="en">
                <a:solidFill>
                  <a:schemeClr val="dk1"/>
                </a:solidFill>
              </a:rPr>
              <a:t>Describe how strongly different brain regions communicate with one another.</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Just definitions if needed:</a:t>
            </a:r>
            <a:endParaRPr b="1">
              <a:solidFill>
                <a:schemeClr val="dk1"/>
              </a:solidFill>
            </a:endParaRPr>
          </a:p>
          <a:p>
            <a:pPr indent="0" lvl="0" marL="0" rtl="0" algn="l">
              <a:spcBef>
                <a:spcPts val="0"/>
              </a:spcBef>
              <a:spcAft>
                <a:spcPts val="0"/>
              </a:spcAft>
              <a:buNone/>
            </a:pPr>
            <a:r>
              <a:rPr lang="en" u="sng">
                <a:solidFill>
                  <a:schemeClr val="dk1"/>
                </a:solidFill>
              </a:rPr>
              <a:t>Regression</a:t>
            </a:r>
            <a:r>
              <a:rPr lang="en">
                <a:solidFill>
                  <a:schemeClr val="dk1"/>
                </a:solidFill>
              </a:rPr>
              <a:t> - Predicts a continuous value rather than a category.</a:t>
            </a:r>
            <a:endParaRPr>
              <a:solidFill>
                <a:schemeClr val="dk1"/>
              </a:solidFill>
            </a:endParaRPr>
          </a:p>
          <a:p>
            <a:pPr indent="0" lvl="0" marL="0" rtl="0" algn="l">
              <a:spcBef>
                <a:spcPts val="0"/>
              </a:spcBef>
              <a:spcAft>
                <a:spcPts val="0"/>
              </a:spcAft>
              <a:buNone/>
            </a:pPr>
            <a:r>
              <a:rPr lang="en" u="sng">
                <a:solidFill>
                  <a:schemeClr val="dk1"/>
                </a:solidFill>
              </a:rPr>
              <a:t>Random Forest</a:t>
            </a:r>
            <a:r>
              <a:rPr lang="en">
                <a:solidFill>
                  <a:schemeClr val="dk1"/>
                </a:solidFill>
              </a:rPr>
              <a:t> - An ensemble of decision trees whose predictions are averaged.</a:t>
            </a:r>
            <a:endParaRPr>
              <a:solidFill>
                <a:schemeClr val="dk1"/>
              </a:solidFill>
            </a:endParaRPr>
          </a:p>
          <a:p>
            <a:pPr indent="0" lvl="0" marL="0" rtl="0" algn="l">
              <a:spcBef>
                <a:spcPts val="0"/>
              </a:spcBef>
              <a:spcAft>
                <a:spcPts val="0"/>
              </a:spcAft>
              <a:buNone/>
            </a:pPr>
            <a:r>
              <a:rPr lang="en" u="sng">
                <a:solidFill>
                  <a:schemeClr val="dk1"/>
                </a:solidFill>
              </a:rPr>
              <a:t>Feature</a:t>
            </a:r>
            <a:r>
              <a:rPr lang="en">
                <a:solidFill>
                  <a:schemeClr val="dk1"/>
                </a:solidFill>
              </a:rPr>
              <a:t> - An input variable used by the model (questionnaire score or imaging measurement).</a:t>
            </a:r>
            <a:endParaRPr>
              <a:solidFill>
                <a:schemeClr val="dk1"/>
              </a:solidFill>
            </a:endParaRPr>
          </a:p>
          <a:p>
            <a:pPr indent="0" lvl="0" marL="0" rtl="0" algn="l">
              <a:spcBef>
                <a:spcPts val="0"/>
              </a:spcBef>
              <a:spcAft>
                <a:spcPts val="0"/>
              </a:spcAft>
              <a:buNone/>
            </a:pPr>
            <a:r>
              <a:rPr lang="en" u="sng">
                <a:solidFill>
                  <a:schemeClr val="dk1"/>
                </a:solidFill>
              </a:rPr>
              <a:t>Target</a:t>
            </a:r>
            <a:r>
              <a:rPr lang="en">
                <a:solidFill>
                  <a:schemeClr val="dk1"/>
                </a:solidFill>
              </a:rPr>
              <a:t> - The value the model is trying to predict (e.g., QIDS total score).</a:t>
            </a:r>
            <a:endParaRPr>
              <a:solidFill>
                <a:schemeClr val="dk1"/>
              </a:solidFill>
            </a:endParaRPr>
          </a:p>
          <a:p>
            <a:pPr indent="0" lvl="0" marL="0" rtl="0" algn="l">
              <a:spcBef>
                <a:spcPts val="0"/>
              </a:spcBef>
              <a:spcAft>
                <a:spcPts val="0"/>
              </a:spcAft>
              <a:buNone/>
            </a:pPr>
            <a:r>
              <a:rPr lang="en" u="sng">
                <a:solidFill>
                  <a:schemeClr val="dk1"/>
                </a:solidFill>
              </a:rPr>
              <a:t>Resting-state fMRI</a:t>
            </a:r>
            <a:r>
              <a:rPr lang="en">
                <a:solidFill>
                  <a:schemeClr val="dk1"/>
                </a:solidFill>
              </a:rPr>
              <a:t> - Measures spontaneous brain activity while the participant is not performing a task.</a:t>
            </a:r>
            <a:endParaRPr>
              <a:solidFill>
                <a:schemeClr val="dk1"/>
              </a:solidFill>
            </a:endParaRPr>
          </a:p>
          <a:p>
            <a:pPr indent="0" lvl="0" marL="0" rtl="0" algn="l">
              <a:spcBef>
                <a:spcPts val="0"/>
              </a:spcBef>
              <a:spcAft>
                <a:spcPts val="0"/>
              </a:spcAft>
              <a:buNone/>
            </a:pPr>
            <a:r>
              <a:rPr lang="en" u="sng">
                <a:solidFill>
                  <a:schemeClr val="dk1"/>
                </a:solidFill>
              </a:rPr>
              <a:t>Connectivity feature</a:t>
            </a:r>
            <a:r>
              <a:rPr lang="en">
                <a:solidFill>
                  <a:schemeClr val="dk1"/>
                </a:solidFill>
              </a:rPr>
              <a:t> - A numerical measure describing relationships between brain regions.</a:t>
            </a:r>
            <a:endParaRPr>
              <a:solidFill>
                <a:schemeClr val="dk1"/>
              </a:solidFill>
            </a:endParaRPr>
          </a:p>
          <a:p>
            <a:pPr indent="0" lvl="0" marL="0" rtl="0" algn="l">
              <a:spcBef>
                <a:spcPts val="0"/>
              </a:spcBef>
              <a:spcAft>
                <a:spcPts val="0"/>
              </a:spcAft>
              <a:buNone/>
            </a:pPr>
            <a:r>
              <a:rPr lang="en" u="sng">
                <a:solidFill>
                  <a:schemeClr val="dk1"/>
                </a:solidFill>
              </a:rPr>
              <a:t>Multimodal</a:t>
            </a:r>
            <a:r>
              <a:rPr lang="en">
                <a:solidFill>
                  <a:schemeClr val="dk1"/>
                </a:solidFill>
              </a:rPr>
              <a:t> - Combines behavioral and imaging features in the same model.</a:t>
            </a:r>
            <a:endParaRPr>
              <a:solidFill>
                <a:schemeClr val="dk1"/>
              </a:solidFill>
            </a:endParaRPr>
          </a:p>
          <a:p>
            <a:pPr indent="0" lvl="0" marL="0" rtl="0" algn="l">
              <a:spcBef>
                <a:spcPts val="0"/>
              </a:spcBef>
              <a:spcAft>
                <a:spcPts val="0"/>
              </a:spcAft>
              <a:buNone/>
            </a:pPr>
            <a:r>
              <a:rPr lang="en" u="sng">
                <a:solidFill>
                  <a:schemeClr val="dk1"/>
                </a:solidFill>
              </a:rPr>
              <a:t>Cross-validation</a:t>
            </a:r>
            <a:r>
              <a:rPr lang="en">
                <a:solidFill>
                  <a:schemeClr val="dk1"/>
                </a:solidFill>
              </a:rPr>
              <a:t> - Repeatedly rotates validation data to estimate how well the model generalizes.</a:t>
            </a:r>
            <a:endParaRPr>
              <a:solidFill>
                <a:schemeClr val="dk1"/>
              </a:solidFill>
            </a:endParaRPr>
          </a:p>
          <a:p>
            <a:pPr indent="0" lvl="0" marL="0" rtl="0" algn="l">
              <a:spcBef>
                <a:spcPts val="0"/>
              </a:spcBef>
              <a:spcAft>
                <a:spcPts val="0"/>
              </a:spcAft>
              <a:buNone/>
            </a:pPr>
            <a:r>
              <a:rPr lang="en" u="sng">
                <a:solidFill>
                  <a:schemeClr val="dk1"/>
                </a:solidFill>
              </a:rPr>
              <a:t>Overfitting</a:t>
            </a:r>
            <a:r>
              <a:rPr lang="en">
                <a:solidFill>
                  <a:schemeClr val="dk1"/>
                </a:solidFill>
              </a:rPr>
              <a:t> - When a model memorizes the training data and performs poorly on new data.</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Generalization</a:t>
            </a:r>
            <a:r>
              <a:rPr lang="en">
                <a:solidFill>
                  <a:schemeClr val="dk1"/>
                </a:solidFill>
              </a:rPr>
              <a:t> - How well a model performs on unseen participants.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1aab49e1f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1aab49e1f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None/>
            </a:pPr>
            <a:r>
              <a:rPr lang="en"/>
              <a:t>"Because our dataset contains only 241 participants, training a deep learning model directly on MRI scans would likely overfit. Instead, we use Random Forest Regression with extracted imaging features. The data are divided into 192 training participants and 49 testing participants. Within the training set, we perform 5-fold cross-validation, meaning the training data are divided into five approximately equal groups. Each group serves as the validation set once while the remaining four groups are used for training. After cross-validation, the final model is retrained using all 192 training participants before being evaluated on the independent test set."</a:t>
            </a:r>
            <a:endParaRPr/>
          </a:p>
          <a:p>
            <a:pPr indent="0" lvl="0" marL="0" rtl="0" algn="l">
              <a:lnSpc>
                <a:spcPct val="100000"/>
              </a:lnSpc>
              <a:spcBef>
                <a:spcPts val="1200"/>
              </a:spcBef>
              <a:spcAft>
                <a:spcPts val="0"/>
              </a:spcAft>
              <a:buNone/>
            </a:pPr>
            <a:r>
              <a:rPr lang="en" u="sng">
                <a:solidFill>
                  <a:schemeClr val="dk1"/>
                </a:solidFill>
              </a:rPr>
              <a:t>5-fold Cross Validation</a:t>
            </a:r>
            <a:endParaRPr u="sng">
              <a:solidFill>
                <a:schemeClr val="dk1"/>
              </a:solidFill>
            </a:endParaRPr>
          </a:p>
          <a:p>
            <a:pPr indent="0" lvl="0" marL="0" rtl="0" algn="l">
              <a:lnSpc>
                <a:spcPct val="100000"/>
              </a:lnSpc>
              <a:spcBef>
                <a:spcPts val="0"/>
              </a:spcBef>
              <a:spcAft>
                <a:spcPts val="0"/>
              </a:spcAft>
              <a:buNone/>
            </a:pPr>
            <a:r>
              <a:rPr lang="en">
                <a:solidFill>
                  <a:schemeClr val="dk1"/>
                </a:solidFill>
              </a:rPr>
              <a:t>Purpose:</a:t>
            </a:r>
            <a:endParaRPr>
              <a:solidFill>
                <a:schemeClr val="dk1"/>
              </a:solidFill>
            </a:endParaRPr>
          </a:p>
          <a:p>
            <a:pPr indent="0" lvl="0" marL="0" rtl="0" algn="l">
              <a:lnSpc>
                <a:spcPct val="100000"/>
              </a:lnSpc>
              <a:spcBef>
                <a:spcPts val="0"/>
              </a:spcBef>
              <a:spcAft>
                <a:spcPts val="0"/>
              </a:spcAft>
              <a:buNone/>
            </a:pPr>
            <a:r>
              <a:rPr lang="en">
                <a:solidFill>
                  <a:schemeClr val="dk1"/>
                </a:solidFill>
              </a:rPr>
              <a:t>Estimate how well the model generalizes, NOT to improve accuracy directly.</a:t>
            </a:r>
            <a:endParaRPr>
              <a:solidFill>
                <a:schemeClr val="dk1"/>
              </a:solidFill>
            </a:endParaRPr>
          </a:p>
          <a:p>
            <a:pPr indent="0" lvl="0" marL="0" rtl="0" algn="l">
              <a:spcBef>
                <a:spcPts val="0"/>
              </a:spcBef>
              <a:spcAft>
                <a:spcPts val="0"/>
              </a:spcAft>
              <a:buNone/>
            </a:pPr>
            <a:r>
              <a:rPr lang="en">
                <a:solidFill>
                  <a:schemeClr val="dk1"/>
                </a:solidFill>
              </a:rPr>
              <a:t>Workflow pipeline: Training -&gt; Split into 5 folds -&gt; Train 5 times -&gt; Average performance -&gt; Train final model -&gt; Test once</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u="sng">
                <a:solidFill>
                  <a:schemeClr val="dk1"/>
                </a:solidFill>
              </a:rPr>
              <a:t>MAE</a:t>
            </a:r>
            <a:endParaRPr u="sng">
              <a:solidFill>
                <a:schemeClr val="dk1"/>
              </a:solidFill>
            </a:endParaRPr>
          </a:p>
          <a:p>
            <a:pPr indent="0" lvl="0" marL="0" rtl="0" algn="l">
              <a:lnSpc>
                <a:spcPct val="100000"/>
              </a:lnSpc>
              <a:spcBef>
                <a:spcPts val="0"/>
              </a:spcBef>
              <a:spcAft>
                <a:spcPts val="0"/>
              </a:spcAft>
              <a:buNone/>
            </a:pPr>
            <a:r>
              <a:rPr lang="en">
                <a:solidFill>
                  <a:schemeClr val="dk1"/>
                </a:solidFill>
              </a:rPr>
              <a:t>Average prediction error.</a:t>
            </a:r>
            <a:endParaRPr>
              <a:solidFill>
                <a:schemeClr val="dk1"/>
              </a:solidFill>
            </a:endParaRPr>
          </a:p>
          <a:p>
            <a:pPr indent="0" lvl="0" marL="0" rtl="0" algn="l">
              <a:lnSpc>
                <a:spcPct val="100000"/>
              </a:lnSpc>
              <a:spcBef>
                <a:spcPts val="0"/>
              </a:spcBef>
              <a:spcAft>
                <a:spcPts val="0"/>
              </a:spcAft>
              <a:buNone/>
            </a:pPr>
            <a:r>
              <a:rPr lang="en">
                <a:solidFill>
                  <a:schemeClr val="dk1"/>
                </a:solidFill>
              </a:rPr>
              <a:t>Lower is better.</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u="sng">
                <a:solidFill>
                  <a:schemeClr val="dk1"/>
                </a:solidFill>
              </a:rPr>
              <a:t>RMSE</a:t>
            </a:r>
            <a:endParaRPr u="sng">
              <a:solidFill>
                <a:schemeClr val="dk1"/>
              </a:solidFill>
            </a:endParaRPr>
          </a:p>
          <a:p>
            <a:pPr indent="0" lvl="0" marL="0" rtl="0" algn="l">
              <a:lnSpc>
                <a:spcPct val="100000"/>
              </a:lnSpc>
              <a:spcBef>
                <a:spcPts val="0"/>
              </a:spcBef>
              <a:spcAft>
                <a:spcPts val="0"/>
              </a:spcAft>
              <a:buNone/>
            </a:pPr>
            <a:r>
              <a:rPr lang="en">
                <a:solidFill>
                  <a:schemeClr val="dk1"/>
                </a:solidFill>
              </a:rPr>
              <a:t>Penalizes large mistakes.</a:t>
            </a:r>
            <a:endParaRPr>
              <a:solidFill>
                <a:schemeClr val="dk1"/>
              </a:solidFill>
            </a:endParaRPr>
          </a:p>
          <a:p>
            <a:pPr indent="0" lvl="0" marL="0" rtl="0" algn="l">
              <a:lnSpc>
                <a:spcPct val="100000"/>
              </a:lnSpc>
              <a:spcBef>
                <a:spcPts val="0"/>
              </a:spcBef>
              <a:spcAft>
                <a:spcPts val="0"/>
              </a:spcAft>
              <a:buNone/>
            </a:pPr>
            <a:r>
              <a:rPr lang="en">
                <a:solidFill>
                  <a:schemeClr val="dk1"/>
                </a:solidFill>
              </a:rPr>
              <a:t>Lower is better.</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en" u="sng">
                <a:solidFill>
                  <a:schemeClr val="dk1"/>
                </a:solidFill>
              </a:rPr>
              <a:t>R²</a:t>
            </a:r>
            <a:endParaRPr u="sng">
              <a:solidFill>
                <a:schemeClr val="dk1"/>
              </a:solidFill>
            </a:endParaRPr>
          </a:p>
          <a:p>
            <a:pPr indent="0" lvl="0" marL="0" rtl="0" algn="l">
              <a:lnSpc>
                <a:spcPct val="100000"/>
              </a:lnSpc>
              <a:spcBef>
                <a:spcPts val="0"/>
              </a:spcBef>
              <a:spcAft>
                <a:spcPts val="0"/>
              </a:spcAft>
              <a:buNone/>
            </a:pPr>
            <a:r>
              <a:rPr lang="en">
                <a:solidFill>
                  <a:schemeClr val="dk1"/>
                </a:solidFill>
              </a:rPr>
              <a:t>Explains how much variation the model captures.</a:t>
            </a:r>
            <a:endParaRPr>
              <a:solidFill>
                <a:schemeClr val="dk1"/>
              </a:solidFill>
            </a:endParaRPr>
          </a:p>
          <a:p>
            <a:pPr indent="0" lvl="0" marL="0" rtl="0" algn="l">
              <a:lnSpc>
                <a:spcPct val="100000"/>
              </a:lnSpc>
              <a:spcBef>
                <a:spcPts val="0"/>
              </a:spcBef>
              <a:spcAft>
                <a:spcPts val="0"/>
              </a:spcAft>
              <a:buNone/>
            </a:pPr>
            <a:r>
              <a:rPr lang="en">
                <a:solidFill>
                  <a:schemeClr val="dk1"/>
                </a:solidFill>
              </a:rPr>
              <a:t>Higher is better.</a:t>
            </a:r>
            <a:endParaRPr>
              <a:solidFill>
                <a:schemeClr val="dk1"/>
              </a:solidFill>
            </a:endParaRPr>
          </a:p>
          <a:p>
            <a:pPr indent="0" lvl="0" marL="0" rtl="0" algn="l">
              <a:lnSpc>
                <a:spcPct val="100000"/>
              </a:lnSpc>
              <a:spcBef>
                <a:spcPts val="0"/>
              </a:spcBef>
              <a:spcAft>
                <a:spcPts val="0"/>
              </a:spcAft>
              <a:buNone/>
            </a:pPr>
            <a:r>
              <a:rPr lang="en">
                <a:solidFill>
                  <a:schemeClr val="dk1"/>
                </a:solidFill>
              </a:rPr>
              <a:t>1 = perfect</a:t>
            </a:r>
            <a:endParaRPr>
              <a:solidFill>
                <a:schemeClr val="dk1"/>
              </a:solidFill>
            </a:endParaRPr>
          </a:p>
          <a:p>
            <a:pPr indent="0" lvl="0" marL="0" rtl="0" algn="l">
              <a:lnSpc>
                <a:spcPct val="100000"/>
              </a:lnSpc>
              <a:spcBef>
                <a:spcPts val="0"/>
              </a:spcBef>
              <a:spcAft>
                <a:spcPts val="0"/>
              </a:spcAft>
              <a:buNone/>
            </a:pPr>
            <a:r>
              <a:rPr lang="en">
                <a:solidFill>
                  <a:schemeClr val="dk1"/>
                </a:solidFill>
              </a:rPr>
              <a:t>0 = average prediction</a:t>
            </a:r>
            <a:endParaRPr>
              <a:solidFill>
                <a:schemeClr val="dk1"/>
              </a:solidFill>
            </a:endParaRPr>
          </a:p>
          <a:p>
            <a:pPr indent="0" lvl="0" marL="0" rtl="0" algn="l">
              <a:lnSpc>
                <a:spcPct val="100000"/>
              </a:lnSpc>
              <a:spcBef>
                <a:spcPts val="0"/>
              </a:spcBef>
              <a:spcAft>
                <a:spcPts val="0"/>
              </a:spcAft>
              <a:buNone/>
            </a:pPr>
            <a:r>
              <a:rPr lang="en">
                <a:solidFill>
                  <a:schemeClr val="dk1"/>
                </a:solidFill>
              </a:rPr>
              <a:t>Negative = worse than guessing the average</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Just definitions if needed:</a:t>
            </a:r>
            <a:endParaRPr b="1">
              <a:solidFill>
                <a:schemeClr val="dk1"/>
              </a:solidFill>
            </a:endParaRPr>
          </a:p>
          <a:p>
            <a:pPr indent="0" lvl="0" marL="0" rtl="0" algn="l">
              <a:spcBef>
                <a:spcPts val="0"/>
              </a:spcBef>
              <a:spcAft>
                <a:spcPts val="0"/>
              </a:spcAft>
              <a:buNone/>
            </a:pPr>
            <a:r>
              <a:rPr lang="en" u="sng">
                <a:solidFill>
                  <a:schemeClr val="dk1"/>
                </a:solidFill>
              </a:rPr>
              <a:t>Regression</a:t>
            </a:r>
            <a:r>
              <a:rPr lang="en">
                <a:solidFill>
                  <a:schemeClr val="dk1"/>
                </a:solidFill>
              </a:rPr>
              <a:t> - Predicts a continuous value rather than a category.</a:t>
            </a:r>
            <a:endParaRPr>
              <a:solidFill>
                <a:schemeClr val="dk1"/>
              </a:solidFill>
            </a:endParaRPr>
          </a:p>
          <a:p>
            <a:pPr indent="0" lvl="0" marL="0" rtl="0" algn="l">
              <a:spcBef>
                <a:spcPts val="0"/>
              </a:spcBef>
              <a:spcAft>
                <a:spcPts val="0"/>
              </a:spcAft>
              <a:buNone/>
            </a:pPr>
            <a:r>
              <a:rPr lang="en" u="sng">
                <a:solidFill>
                  <a:schemeClr val="dk1"/>
                </a:solidFill>
              </a:rPr>
              <a:t>Random Forest</a:t>
            </a:r>
            <a:r>
              <a:rPr lang="en">
                <a:solidFill>
                  <a:schemeClr val="dk1"/>
                </a:solidFill>
              </a:rPr>
              <a:t> - An ensemble of decision trees whose predictions are averaged.</a:t>
            </a:r>
            <a:endParaRPr>
              <a:solidFill>
                <a:schemeClr val="dk1"/>
              </a:solidFill>
            </a:endParaRPr>
          </a:p>
          <a:p>
            <a:pPr indent="0" lvl="0" marL="0" rtl="0" algn="l">
              <a:spcBef>
                <a:spcPts val="0"/>
              </a:spcBef>
              <a:spcAft>
                <a:spcPts val="0"/>
              </a:spcAft>
              <a:buNone/>
            </a:pPr>
            <a:r>
              <a:rPr lang="en" u="sng">
                <a:solidFill>
                  <a:schemeClr val="dk1"/>
                </a:solidFill>
              </a:rPr>
              <a:t>Feature</a:t>
            </a:r>
            <a:r>
              <a:rPr lang="en">
                <a:solidFill>
                  <a:schemeClr val="dk1"/>
                </a:solidFill>
              </a:rPr>
              <a:t> - An input variable used by the model (questionnaire score or imaging measurement).</a:t>
            </a:r>
            <a:endParaRPr>
              <a:solidFill>
                <a:schemeClr val="dk1"/>
              </a:solidFill>
            </a:endParaRPr>
          </a:p>
          <a:p>
            <a:pPr indent="0" lvl="0" marL="0" rtl="0" algn="l">
              <a:spcBef>
                <a:spcPts val="0"/>
              </a:spcBef>
              <a:spcAft>
                <a:spcPts val="0"/>
              </a:spcAft>
              <a:buNone/>
            </a:pPr>
            <a:r>
              <a:rPr lang="en" u="sng">
                <a:solidFill>
                  <a:schemeClr val="dk1"/>
                </a:solidFill>
              </a:rPr>
              <a:t>Target</a:t>
            </a:r>
            <a:r>
              <a:rPr lang="en">
                <a:solidFill>
                  <a:schemeClr val="dk1"/>
                </a:solidFill>
              </a:rPr>
              <a:t> - The value the model is trying to predict (e.g., QIDS total score).</a:t>
            </a:r>
            <a:endParaRPr>
              <a:solidFill>
                <a:schemeClr val="dk1"/>
              </a:solidFill>
            </a:endParaRPr>
          </a:p>
          <a:p>
            <a:pPr indent="0" lvl="0" marL="0" rtl="0" algn="l">
              <a:spcBef>
                <a:spcPts val="0"/>
              </a:spcBef>
              <a:spcAft>
                <a:spcPts val="0"/>
              </a:spcAft>
              <a:buNone/>
            </a:pPr>
            <a:r>
              <a:rPr lang="en" u="sng">
                <a:solidFill>
                  <a:schemeClr val="dk1"/>
                </a:solidFill>
              </a:rPr>
              <a:t>Resting-state fMRI</a:t>
            </a:r>
            <a:r>
              <a:rPr lang="en">
                <a:solidFill>
                  <a:schemeClr val="dk1"/>
                </a:solidFill>
              </a:rPr>
              <a:t> - Measures spontaneous brain activity while the participant is not performing a task.</a:t>
            </a:r>
            <a:endParaRPr>
              <a:solidFill>
                <a:schemeClr val="dk1"/>
              </a:solidFill>
            </a:endParaRPr>
          </a:p>
          <a:p>
            <a:pPr indent="0" lvl="0" marL="0" rtl="0" algn="l">
              <a:spcBef>
                <a:spcPts val="0"/>
              </a:spcBef>
              <a:spcAft>
                <a:spcPts val="0"/>
              </a:spcAft>
              <a:buNone/>
            </a:pPr>
            <a:r>
              <a:rPr lang="en" u="sng">
                <a:solidFill>
                  <a:schemeClr val="dk1"/>
                </a:solidFill>
              </a:rPr>
              <a:t>Connectivity feature</a:t>
            </a:r>
            <a:r>
              <a:rPr lang="en">
                <a:solidFill>
                  <a:schemeClr val="dk1"/>
                </a:solidFill>
              </a:rPr>
              <a:t> - A numerical measure describing relationships between brain regions.</a:t>
            </a:r>
            <a:endParaRPr>
              <a:solidFill>
                <a:schemeClr val="dk1"/>
              </a:solidFill>
            </a:endParaRPr>
          </a:p>
          <a:p>
            <a:pPr indent="0" lvl="0" marL="0" rtl="0" algn="l">
              <a:spcBef>
                <a:spcPts val="0"/>
              </a:spcBef>
              <a:spcAft>
                <a:spcPts val="0"/>
              </a:spcAft>
              <a:buNone/>
            </a:pPr>
            <a:r>
              <a:rPr lang="en" u="sng">
                <a:solidFill>
                  <a:schemeClr val="dk1"/>
                </a:solidFill>
              </a:rPr>
              <a:t>Multimodal</a:t>
            </a:r>
            <a:r>
              <a:rPr lang="en">
                <a:solidFill>
                  <a:schemeClr val="dk1"/>
                </a:solidFill>
              </a:rPr>
              <a:t> - Combines behavioral and imaging features in the same model.</a:t>
            </a:r>
            <a:endParaRPr>
              <a:solidFill>
                <a:schemeClr val="dk1"/>
              </a:solidFill>
            </a:endParaRPr>
          </a:p>
          <a:p>
            <a:pPr indent="0" lvl="0" marL="0" rtl="0" algn="l">
              <a:spcBef>
                <a:spcPts val="0"/>
              </a:spcBef>
              <a:spcAft>
                <a:spcPts val="0"/>
              </a:spcAft>
              <a:buNone/>
            </a:pPr>
            <a:r>
              <a:rPr lang="en" u="sng">
                <a:solidFill>
                  <a:schemeClr val="dk1"/>
                </a:solidFill>
              </a:rPr>
              <a:t>Cross-validation</a:t>
            </a:r>
            <a:r>
              <a:rPr lang="en">
                <a:solidFill>
                  <a:schemeClr val="dk1"/>
                </a:solidFill>
              </a:rPr>
              <a:t> - Repeatedly rotates validation data to estimate how well the model generalizes.</a:t>
            </a:r>
            <a:endParaRPr>
              <a:solidFill>
                <a:schemeClr val="dk1"/>
              </a:solidFill>
            </a:endParaRPr>
          </a:p>
          <a:p>
            <a:pPr indent="0" lvl="0" marL="0" rtl="0" algn="l">
              <a:spcBef>
                <a:spcPts val="0"/>
              </a:spcBef>
              <a:spcAft>
                <a:spcPts val="0"/>
              </a:spcAft>
              <a:buNone/>
            </a:pPr>
            <a:r>
              <a:rPr lang="en" u="sng">
                <a:solidFill>
                  <a:schemeClr val="dk1"/>
                </a:solidFill>
              </a:rPr>
              <a:t>Overfitting</a:t>
            </a:r>
            <a:r>
              <a:rPr lang="en">
                <a:solidFill>
                  <a:schemeClr val="dk1"/>
                </a:solidFill>
              </a:rPr>
              <a:t> - When a model memorizes the training data and performs poorly on new data.</a:t>
            </a:r>
            <a:endParaRPr>
              <a:solidFill>
                <a:schemeClr val="dk1"/>
              </a:solidFill>
            </a:endParaRPr>
          </a:p>
          <a:p>
            <a:pPr indent="0" lvl="0" marL="0" rtl="0" algn="l">
              <a:spcBef>
                <a:spcPts val="0"/>
              </a:spcBef>
              <a:spcAft>
                <a:spcPts val="0"/>
              </a:spcAft>
              <a:buNone/>
            </a:pPr>
            <a:r>
              <a:rPr lang="en" u="sng">
                <a:solidFill>
                  <a:schemeClr val="dk1"/>
                </a:solidFill>
              </a:rPr>
              <a:t>Generalization</a:t>
            </a:r>
            <a:r>
              <a:rPr lang="en">
                <a:solidFill>
                  <a:schemeClr val="dk1"/>
                </a:solidFill>
              </a:rPr>
              <a:t> - How well a model performs on unseen participants.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1aab49e1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f1aab49e1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"Several biases could affect our results. First, demographic imbalance means females are somewhat overrepresented, particularly within the patient group. Second, symptom severity scores are derived from questionnaires, which may contain reporting or measurement error. Finally, although we use extracted imaging features instead of raw MRI images, scanner differences, participant motion, and site imbalance may still introduce site-specific information into the extracted features."</a:t>
            </a:r>
            <a:endParaRPr/>
          </a:p>
          <a:p>
            <a:pPr indent="0" lvl="0" marL="0" rtl="0" algn="l">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rPr lang="en" u="sng">
                <a:solidFill>
                  <a:schemeClr val="dk1"/>
                </a:solidFill>
              </a:rPr>
              <a:t>Representation bias</a:t>
            </a:r>
            <a:endParaRPr u="sng">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Some demographic groups have fewer participants.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u="sng">
                <a:solidFill>
                  <a:schemeClr val="dk1"/>
                </a:solidFill>
              </a:rPr>
              <a:t>Measurement bias</a:t>
            </a:r>
            <a:endParaRPr u="sng">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Questionnaires are imperfect.</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u="sng">
                <a:solidFill>
                  <a:schemeClr val="dk1"/>
                </a:solidFill>
              </a:rPr>
              <a:t>Site bias</a:t>
            </a:r>
            <a:endParaRPr u="sng">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Different MRI scanners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Different acquisition settings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Different preprocessing</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Different patient distribution</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Just definitions if needed:</a:t>
            </a:r>
            <a:endParaRPr b="1">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Regression</a:t>
            </a:r>
            <a:r>
              <a:rPr lang="en">
                <a:solidFill>
                  <a:schemeClr val="dk1"/>
                </a:solidFill>
              </a:rPr>
              <a:t> - Predicts a continuous value rather than a category.</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Random Forest</a:t>
            </a:r>
            <a:r>
              <a:rPr lang="en">
                <a:solidFill>
                  <a:schemeClr val="dk1"/>
                </a:solidFill>
              </a:rPr>
              <a:t> - An ensemble of decision trees whose predictions are averaged.</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Feature</a:t>
            </a:r>
            <a:r>
              <a:rPr lang="en">
                <a:solidFill>
                  <a:schemeClr val="dk1"/>
                </a:solidFill>
              </a:rPr>
              <a:t> - An input variable used by the model (questionnaire score or imaging measurement).</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Target</a:t>
            </a:r>
            <a:r>
              <a:rPr lang="en">
                <a:solidFill>
                  <a:schemeClr val="dk1"/>
                </a:solidFill>
              </a:rPr>
              <a:t> - The value the model is trying to predict (e.g., QIDS total score).</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Resting-state fMRI</a:t>
            </a:r>
            <a:r>
              <a:rPr lang="en">
                <a:solidFill>
                  <a:schemeClr val="dk1"/>
                </a:solidFill>
              </a:rPr>
              <a:t> - Measures spontaneous brain activity while the participant is not performing a task.</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Connectivity feature</a:t>
            </a:r>
            <a:r>
              <a:rPr lang="en">
                <a:solidFill>
                  <a:schemeClr val="dk1"/>
                </a:solidFill>
              </a:rPr>
              <a:t> - A numerical measure describing relationships between brain regions.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Multimodal</a:t>
            </a:r>
            <a:r>
              <a:rPr lang="en">
                <a:solidFill>
                  <a:schemeClr val="dk1"/>
                </a:solidFill>
              </a:rPr>
              <a:t> - Combines behavioral and imaging features in the same model.</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Cross-validation</a:t>
            </a:r>
            <a:r>
              <a:rPr lang="en">
                <a:solidFill>
                  <a:schemeClr val="dk1"/>
                </a:solidFill>
              </a:rPr>
              <a:t> - Repeatedly rotates validation data to estimate how well the model generalizes.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Overfitting</a:t>
            </a:r>
            <a:r>
              <a:rPr lang="en">
                <a:solidFill>
                  <a:schemeClr val="dk1"/>
                </a:solidFill>
              </a:rPr>
              <a:t> - When a model memorizes the training data and performs poorly on new data.</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Generalization</a:t>
            </a:r>
            <a:r>
              <a:rPr lang="en">
                <a:solidFill>
                  <a:schemeClr val="dk1"/>
                </a:solidFill>
              </a:rPr>
              <a:t> - How well a model performs on unseen participants.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1aab49e1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1aab49e1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reduce these biases, we'll carefully preprocess the data by removing variables with excessive missing values and retaining only clinically meaningful summary scores. We'll use stratified sampling when creating train and test sets so demographic distributions remain similar across splits. Five-fold cross-validation and an independent test set will help reduce overfitting and provide a more reliable estimate of model performance. Finally, by comparing behavioral-only, imaging-only, and multimodal models, we can determine whether brain imaging truly adds predictive value beyond behavioral assessments."</a:t>
            </a:r>
            <a:endParaRPr/>
          </a:p>
          <a:p>
            <a:pPr indent="0" lvl="0" marL="0" rtl="0" algn="l">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rPr lang="en" u="sng">
                <a:solidFill>
                  <a:schemeClr val="dk1"/>
                </a:solidFill>
              </a:rPr>
              <a:t>Stratified sampling</a:t>
            </a:r>
            <a:endParaRPr u="sng">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Keeps approximately the same proportions of</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Male/Female</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Patient/GenPop</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en">
                <a:solidFill>
                  <a:schemeClr val="dk1"/>
                </a:solidFill>
              </a:rPr>
              <a:t>Site 1/Site 2</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rPr>
              <a:t>across train/test splits.</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Just definitions if needed:</a:t>
            </a:r>
            <a:endParaRPr b="1">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Regression</a:t>
            </a:r>
            <a:r>
              <a:rPr lang="en">
                <a:solidFill>
                  <a:schemeClr val="dk1"/>
                </a:solidFill>
              </a:rPr>
              <a:t> - Predicts a continuous value rather than a category.</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Random Forest</a:t>
            </a:r>
            <a:r>
              <a:rPr lang="en">
                <a:solidFill>
                  <a:schemeClr val="dk1"/>
                </a:solidFill>
              </a:rPr>
              <a:t> - An ensemble of decision trees whose predictions are averaged.</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Feature</a:t>
            </a:r>
            <a:r>
              <a:rPr lang="en">
                <a:solidFill>
                  <a:schemeClr val="dk1"/>
                </a:solidFill>
              </a:rPr>
              <a:t> - An input variable used by the model (questionnaire score or imaging measurement).</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Target</a:t>
            </a:r>
            <a:r>
              <a:rPr lang="en">
                <a:solidFill>
                  <a:schemeClr val="dk1"/>
                </a:solidFill>
              </a:rPr>
              <a:t> - The value the model is trying to predict (e.g., QIDS total score).</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Resting-state fMRI</a:t>
            </a:r>
            <a:r>
              <a:rPr lang="en">
                <a:solidFill>
                  <a:schemeClr val="dk1"/>
                </a:solidFill>
              </a:rPr>
              <a:t> - Measures spontaneous brain activity while the participant is not performing a task.</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Connectivity feature</a:t>
            </a:r>
            <a:r>
              <a:rPr lang="en">
                <a:solidFill>
                  <a:schemeClr val="dk1"/>
                </a:solidFill>
              </a:rPr>
              <a:t> - A numerical measure describing relationships between brain regions.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Multimodal</a:t>
            </a:r>
            <a:r>
              <a:rPr lang="en">
                <a:solidFill>
                  <a:schemeClr val="dk1"/>
                </a:solidFill>
              </a:rPr>
              <a:t> - Combines behavioral and imaging features in the same model.</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Cross-validation</a:t>
            </a:r>
            <a:r>
              <a:rPr lang="en">
                <a:solidFill>
                  <a:schemeClr val="dk1"/>
                </a:solidFill>
              </a:rPr>
              <a:t> - Repeatedly rotates validation data to estimate how well the model generalizes.</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Overfitting</a:t>
            </a:r>
            <a:r>
              <a:rPr lang="en">
                <a:solidFill>
                  <a:schemeClr val="dk1"/>
                </a:solidFill>
              </a:rPr>
              <a:t> - When a model memorizes the training data and performs poorly on new data.</a:t>
            </a:r>
            <a:endParaRPr>
              <a:solidFill>
                <a:schemeClr val="dk1"/>
              </a:solidFill>
            </a:endParaRPr>
          </a:p>
          <a:p>
            <a:pPr indent="0" lvl="0" marL="0" rtl="0" algn="l">
              <a:spcBef>
                <a:spcPts val="0"/>
              </a:spcBef>
              <a:spcAft>
                <a:spcPts val="0"/>
              </a:spcAft>
              <a:buClr>
                <a:schemeClr val="dk1"/>
              </a:buClr>
              <a:buSzPts val="1100"/>
              <a:buFont typeface="Arial"/>
              <a:buNone/>
            </a:pPr>
            <a:r>
              <a:rPr lang="en" u="sng">
                <a:solidFill>
                  <a:schemeClr val="dk1"/>
                </a:solidFill>
              </a:rPr>
              <a:t>Generalization</a:t>
            </a:r>
            <a:r>
              <a:rPr lang="en">
                <a:solidFill>
                  <a:schemeClr val="dk1"/>
                </a:solidFill>
              </a:rPr>
              <a:t> - How well a model performs on unseen participants.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1aab49e1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1aab49e1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doi.org/10.1038/s41597-025-04895-z" TargetMode="External"/><Relationship Id="rId4" Type="http://schemas.openxmlformats.org/officeDocument/2006/relationships/hyperlink" Target="https://doi.org/10.1101/2024.06.18.24309054"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912283"/>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2800"/>
              <a:t>Predicting Severity of Mental Health Symptoms Using Behavioral Data And Brain Scans</a:t>
            </a:r>
            <a:endParaRPr sz="2800"/>
          </a:p>
        </p:txBody>
      </p:sp>
      <p:sp>
        <p:nvSpPr>
          <p:cNvPr id="64" name="Google Shape;64;p13"/>
          <p:cNvSpPr txBox="1"/>
          <p:nvPr>
            <p:ph idx="1" type="subTitle"/>
          </p:nvPr>
        </p:nvSpPr>
        <p:spPr>
          <a:xfrm>
            <a:off x="1680302" y="3377325"/>
            <a:ext cx="5783400" cy="909000"/>
          </a:xfrm>
          <a:prstGeom prst="rect">
            <a:avLst/>
          </a:prstGeom>
        </p:spPr>
        <p:txBody>
          <a:bodyPr anchorCtr="0" anchor="t" bIns="91425" lIns="91425" spcFirstLastPara="1" rIns="91425" wrap="square" tIns="91425">
            <a:normAutofit fontScale="70000" lnSpcReduction="10000"/>
          </a:bodyPr>
          <a:lstStyle/>
          <a:p>
            <a:pPr indent="0" lvl="0" marL="0" rtl="0" algn="ctr">
              <a:spcBef>
                <a:spcPts val="0"/>
              </a:spcBef>
              <a:spcAft>
                <a:spcPts val="0"/>
              </a:spcAft>
              <a:buNone/>
            </a:pPr>
            <a:r>
              <a:rPr lang="en"/>
              <a:t>Shreya Sureshbabu Banumathi, Ayomide Olushola Arulogun, Albin Rahman, Abdelrahman Mohamed, Viktoriia Lyon, Maddie Jewett, Soham Sinha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Topic of Interest</a:t>
            </a:r>
            <a:endParaRPr/>
          </a:p>
        </p:txBody>
      </p:sp>
      <p:sp>
        <p:nvSpPr>
          <p:cNvPr id="70" name="Google Shape;70;p14"/>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Quantitative brain imaging features and tabular behavioral/clinical assessment data are typically analyzed separately when studying mental health.</a:t>
            </a:r>
            <a:endParaRPr sz="1900"/>
          </a:p>
          <a:p>
            <a:pPr indent="0" lvl="0" marL="0" rtl="0" algn="l">
              <a:spcBef>
                <a:spcPts val="1200"/>
              </a:spcBef>
              <a:spcAft>
                <a:spcPts val="0"/>
              </a:spcAft>
              <a:buNone/>
            </a:pPr>
            <a:r>
              <a:rPr lang="en" sz="1900"/>
              <a:t>We aim to explore</a:t>
            </a:r>
            <a:r>
              <a:rPr lang="en" sz="1900"/>
              <a:t> whether mental health symptom severity can be best predicted best using brain imaging features, behavioral/clinical data, or a combination of both.</a:t>
            </a:r>
            <a:endParaRPr sz="1900"/>
          </a:p>
          <a:p>
            <a:pPr indent="0" lvl="0" marL="0" rtl="0" algn="l">
              <a:spcBef>
                <a:spcPts val="1200"/>
              </a:spcBef>
              <a:spcAft>
                <a:spcPts val="1200"/>
              </a:spcAft>
              <a:buNone/>
            </a:pPr>
            <a:r>
              <a:rPr lang="en" sz="1900"/>
              <a:t>We focus on symptom severity rather than diagnosis because people with the same diagnosis can still experience very different levels of symptoms. </a:t>
            </a: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Summary:  1. Why Is This Topic Important?</a:t>
            </a:r>
            <a:endParaRPr/>
          </a:p>
        </p:txBody>
      </p:sp>
      <p:sp>
        <p:nvSpPr>
          <p:cNvPr id="76" name="Google Shape;76;p15"/>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1. </a:t>
            </a:r>
            <a:endParaRPr/>
          </a:p>
          <a:p>
            <a:pPr indent="0" lvl="0" marL="0" rtl="0" algn="l">
              <a:spcBef>
                <a:spcPts val="1200"/>
              </a:spcBef>
              <a:spcAft>
                <a:spcPts val="1200"/>
              </a:spcAft>
              <a:buNone/>
            </a:pPr>
            <a:r>
              <a:rPr lang="en"/>
              <a:t>Mental health conditions are common, complex, and difficult to capture with diagnosis alone, so predicting symptom severity may provide a more detailed understanding of patient needs and help improve monitoring, treatment planning, and research on brain–behavior relationships.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87900" y="458025"/>
            <a:ext cx="8368200" cy="686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Summary:  2. How Will Data Be Used?  3. Potential Impact</a:t>
            </a:r>
            <a:endParaRPr/>
          </a:p>
        </p:txBody>
      </p:sp>
      <p:sp>
        <p:nvSpPr>
          <p:cNvPr id="82" name="Google Shape;82;p16"/>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2. </a:t>
            </a:r>
            <a:endParaRPr sz="1500"/>
          </a:p>
          <a:p>
            <a:pPr indent="-323850" lvl="0" marL="457200" rtl="0" algn="l">
              <a:spcBef>
                <a:spcPts val="1200"/>
              </a:spcBef>
              <a:spcAft>
                <a:spcPts val="0"/>
              </a:spcAft>
              <a:buSzPts val="1500"/>
              <a:buChar char="-"/>
            </a:pPr>
            <a:r>
              <a:rPr lang="en" sz="1500"/>
              <a:t>Transdiagnostic Connectome Project dataset with 241 </a:t>
            </a:r>
            <a:r>
              <a:rPr lang="en" sz="1500"/>
              <a:t>participants</a:t>
            </a:r>
            <a:endParaRPr sz="1500"/>
          </a:p>
          <a:p>
            <a:pPr indent="-323850" lvl="0" marL="457200" rtl="0" algn="l">
              <a:spcBef>
                <a:spcPts val="0"/>
              </a:spcBef>
              <a:spcAft>
                <a:spcPts val="0"/>
              </a:spcAft>
              <a:buSzPts val="1500"/>
              <a:buChar char="-"/>
            </a:pPr>
            <a:r>
              <a:rPr lang="en" sz="1500"/>
              <a:t>Includes resting-state fMRI-derived connectivity features data, demographics, and 50+ behavioral/clinical assessments</a:t>
            </a:r>
            <a:endParaRPr sz="1500"/>
          </a:p>
          <a:p>
            <a:pPr indent="-323850" lvl="0" marL="457200" rtl="0" algn="l">
              <a:spcBef>
                <a:spcPts val="0"/>
              </a:spcBef>
              <a:spcAft>
                <a:spcPts val="0"/>
              </a:spcAft>
              <a:buSzPts val="1500"/>
              <a:buChar char="-"/>
            </a:pPr>
            <a:r>
              <a:rPr lang="en" sz="1500"/>
              <a:t>Models:</a:t>
            </a:r>
            <a:endParaRPr sz="1500"/>
          </a:p>
          <a:p>
            <a:pPr indent="0" lvl="0" marL="0" rtl="0" algn="l">
              <a:spcBef>
                <a:spcPts val="1200"/>
              </a:spcBef>
              <a:spcAft>
                <a:spcPts val="1200"/>
              </a:spcAft>
              <a:buNone/>
            </a:pPr>
            <a:r>
              <a:t/>
            </a:r>
            <a:endParaRPr sz="1500"/>
          </a:p>
        </p:txBody>
      </p:sp>
      <p:sp>
        <p:nvSpPr>
          <p:cNvPr id="83" name="Google Shape;83;p16"/>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3. </a:t>
            </a:r>
            <a:endParaRPr sz="1500"/>
          </a:p>
          <a:p>
            <a:pPr indent="-323850" lvl="0" marL="457200" rtl="0" algn="l">
              <a:spcBef>
                <a:spcPts val="1200"/>
              </a:spcBef>
              <a:spcAft>
                <a:spcPts val="0"/>
              </a:spcAft>
              <a:buSzPts val="1500"/>
              <a:buChar char="-"/>
            </a:pPr>
            <a:r>
              <a:rPr lang="en" sz="1500"/>
              <a:t>Findings could show whether combining brain scans with behavioral data improves symptom prediction, and whether brain imaging adds useful information beyond questionnaires and clinical measures alone</a:t>
            </a:r>
            <a:endParaRPr sz="1500"/>
          </a:p>
          <a:p>
            <a:pPr indent="0" lvl="0" marL="0" rtl="0" algn="l">
              <a:spcBef>
                <a:spcPts val="0"/>
              </a:spcBef>
              <a:spcAft>
                <a:spcPts val="1200"/>
              </a:spcAft>
              <a:buNone/>
            </a:pPr>
            <a:r>
              <a:t/>
            </a:r>
            <a:endParaRPr/>
          </a:p>
        </p:txBody>
      </p:sp>
      <p:sp>
        <p:nvSpPr>
          <p:cNvPr id="84" name="Google Shape;84;p16"/>
          <p:cNvSpPr txBox="1"/>
          <p:nvPr/>
        </p:nvSpPr>
        <p:spPr>
          <a:xfrm>
            <a:off x="387900" y="3847975"/>
            <a:ext cx="5559000" cy="115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Roboto"/>
                <a:ea typeface="Roboto"/>
                <a:cs typeface="Roboto"/>
                <a:sym typeface="Roboto"/>
              </a:rPr>
              <a:t>Behavioral Data ────► Random Forest ──► Prediction</a:t>
            </a:r>
            <a:endParaRPr>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1"/>
                </a:solidFill>
                <a:latin typeface="Roboto"/>
                <a:ea typeface="Roboto"/>
                <a:cs typeface="Roboto"/>
                <a:sym typeface="Roboto"/>
              </a:rPr>
              <a:t>Imaging Features  ───► Random Forest ──► Prediction</a:t>
            </a:r>
            <a:endParaRPr>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a:solidFill>
                  <a:schemeClr val="dk1"/>
                </a:solidFill>
                <a:latin typeface="Roboto"/>
                <a:ea typeface="Roboto"/>
                <a:cs typeface="Roboto"/>
                <a:sym typeface="Roboto"/>
              </a:rPr>
              <a:t>Behavioral + Imaging    ─► Random Forest ──► Prediction</a:t>
            </a:r>
            <a:endParaRPr>
              <a:solidFill>
                <a:schemeClr val="dk1"/>
              </a:solidFill>
              <a:latin typeface="Roboto"/>
              <a:ea typeface="Roboto"/>
              <a:cs typeface="Roboto"/>
              <a:sym typeface="Roboto"/>
            </a:endParaRPr>
          </a:p>
          <a:p>
            <a:pPr indent="0" lvl="0" marL="0" rtl="0" algn="l">
              <a:lnSpc>
                <a:spcPct val="115000"/>
              </a:lnSpc>
              <a:spcBef>
                <a:spcPts val="1000"/>
              </a:spcBef>
              <a:spcAft>
                <a:spcPts val="0"/>
              </a:spcAft>
              <a:buNone/>
            </a:pPr>
            <a:r>
              <a:rPr lang="en">
                <a:solidFill>
                  <a:schemeClr val="dk1"/>
                </a:solidFill>
                <a:latin typeface="Roboto"/>
                <a:ea typeface="Roboto"/>
                <a:cs typeface="Roboto"/>
                <a:sym typeface="Roboto"/>
              </a:rPr>
              <a:t>                		Compare MAE • RMSE • R²</a:t>
            </a:r>
            <a:endParaRPr>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t/>
            </a:r>
            <a:endParaRPr sz="13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Machine Learning Algorithm(s)</a:t>
            </a:r>
            <a:endParaRPr/>
          </a:p>
        </p:txBody>
      </p:sp>
      <p:sp>
        <p:nvSpPr>
          <p:cNvPr id="90" name="Google Shape;90;p17"/>
          <p:cNvSpPr txBox="1"/>
          <p:nvPr>
            <p:ph idx="1" type="body"/>
          </p:nvPr>
        </p:nvSpPr>
        <p:spPr>
          <a:xfrm>
            <a:off x="387900" y="1486075"/>
            <a:ext cx="8368200" cy="2952300"/>
          </a:xfrm>
          <a:prstGeom prst="rect">
            <a:avLst/>
          </a:prstGeom>
        </p:spPr>
        <p:txBody>
          <a:bodyPr anchorCtr="0" anchor="t" bIns="91425" lIns="91425" spcFirstLastPara="1" rIns="91425" wrap="square" tIns="91425">
            <a:normAutofit fontScale="32500" lnSpcReduction="10000"/>
          </a:bodyPr>
          <a:lstStyle/>
          <a:p>
            <a:pPr indent="-344170" lvl="0" marL="457200" rtl="0" algn="l">
              <a:spcBef>
                <a:spcPts val="1200"/>
              </a:spcBef>
              <a:spcAft>
                <a:spcPts val="0"/>
              </a:spcAft>
              <a:buClr>
                <a:srgbClr val="000000"/>
              </a:buClr>
              <a:buSzPct val="100000"/>
              <a:buFont typeface="Arial"/>
              <a:buChar char="●"/>
            </a:pPr>
            <a:r>
              <a:rPr lang="en" sz="5600"/>
              <a:t>Random Forest Regression as the main machine learning </a:t>
            </a:r>
            <a:endParaRPr sz="5600"/>
          </a:p>
          <a:p>
            <a:pPr indent="-344170" lvl="0" marL="457200" rtl="0" algn="l">
              <a:spcBef>
                <a:spcPts val="0"/>
              </a:spcBef>
              <a:spcAft>
                <a:spcPts val="0"/>
              </a:spcAft>
              <a:buClr>
                <a:srgbClr val="000000"/>
              </a:buClr>
              <a:buSzPct val="100000"/>
              <a:buFont typeface="Arial"/>
              <a:buChar char="●"/>
            </a:pPr>
            <a:r>
              <a:rPr lang="en" sz="5600"/>
              <a:t>Random Forest is a strong fit because it can handle nonlinear relationships, works well with tabular and imaging-derived features, and provides feature importance measures that can help show which variables contribute most to symptom severity prediction</a:t>
            </a:r>
            <a:endParaRPr sz="5600"/>
          </a:p>
          <a:p>
            <a:pPr indent="-344170" lvl="0" marL="457200" rtl="0" algn="l">
              <a:spcBef>
                <a:spcPts val="0"/>
              </a:spcBef>
              <a:spcAft>
                <a:spcPts val="0"/>
              </a:spcAft>
              <a:buClr>
                <a:srgbClr val="000000"/>
              </a:buClr>
              <a:buSzPct val="100000"/>
              <a:buFont typeface="Arial"/>
              <a:buChar char="●"/>
            </a:pPr>
            <a:r>
              <a:rPr lang="en" sz="5600"/>
              <a:t>Use the model to compare:</a:t>
            </a:r>
            <a:endParaRPr sz="5600"/>
          </a:p>
          <a:p>
            <a:pPr indent="-344170" lvl="1" marL="914400" rtl="0" algn="l">
              <a:spcBef>
                <a:spcPts val="0"/>
              </a:spcBef>
              <a:spcAft>
                <a:spcPts val="0"/>
              </a:spcAft>
              <a:buClr>
                <a:srgbClr val="000000"/>
              </a:buClr>
              <a:buSzPct val="100000"/>
              <a:buFont typeface="Arial"/>
              <a:buChar char="○"/>
            </a:pPr>
            <a:r>
              <a:rPr lang="en" sz="5600"/>
              <a:t>Behavioral-only Random Forest</a:t>
            </a:r>
            <a:endParaRPr sz="5600"/>
          </a:p>
          <a:p>
            <a:pPr indent="-344170" lvl="1" marL="914400" rtl="0" algn="l">
              <a:spcBef>
                <a:spcPts val="0"/>
              </a:spcBef>
              <a:spcAft>
                <a:spcPts val="0"/>
              </a:spcAft>
              <a:buClr>
                <a:srgbClr val="000000"/>
              </a:buClr>
              <a:buSzPct val="100000"/>
              <a:buFont typeface="Arial"/>
              <a:buChar char="○"/>
            </a:pPr>
            <a:r>
              <a:rPr lang="en" sz="5600"/>
              <a:t>Imaging-only Random Forest</a:t>
            </a:r>
            <a:endParaRPr sz="5600"/>
          </a:p>
          <a:p>
            <a:pPr indent="-344170" lvl="1" marL="914400" rtl="0" algn="l">
              <a:spcBef>
                <a:spcPts val="0"/>
              </a:spcBef>
              <a:spcAft>
                <a:spcPts val="0"/>
              </a:spcAft>
              <a:buClr>
                <a:srgbClr val="000000"/>
              </a:buClr>
              <a:buSzPct val="100000"/>
              <a:buFont typeface="Arial"/>
              <a:buChar char="○"/>
            </a:pPr>
            <a:r>
              <a:rPr lang="en" sz="5600"/>
              <a:t>Multimodal Random Forest</a:t>
            </a:r>
            <a:endParaRPr sz="4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Research Question</a:t>
            </a:r>
            <a:endParaRPr/>
          </a:p>
        </p:txBody>
      </p:sp>
      <p:sp>
        <p:nvSpPr>
          <p:cNvPr id="96" name="Google Shape;96;p1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sz="2000"/>
              <a:t>Can mental health symptom severity be better predicted from </a:t>
            </a:r>
            <a:r>
              <a:rPr lang="en" sz="2000"/>
              <a:t>brain imaging features, </a:t>
            </a:r>
            <a:r>
              <a:rPr lang="en" sz="2000"/>
              <a:t>behavioral/clinical data, or a</a:t>
            </a:r>
            <a:r>
              <a:rPr lang="en" sz="2000"/>
              <a:t> combination</a:t>
            </a:r>
            <a:r>
              <a:rPr lang="en" sz="2000"/>
              <a:t>?</a:t>
            </a:r>
            <a:endParaRPr sz="2000"/>
          </a:p>
          <a:p>
            <a:pPr indent="0" lvl="0" marL="457200" rtl="0" algn="l">
              <a:spcBef>
                <a:spcPts val="1200"/>
              </a:spcBef>
              <a:spcAft>
                <a:spcPts val="0"/>
              </a:spcAft>
              <a:buNone/>
            </a:pPr>
            <a:r>
              <a:rPr lang="en" sz="2000"/>
              <a:t> </a:t>
            </a:r>
            <a:endParaRPr sz="2000"/>
          </a:p>
          <a:p>
            <a:pPr indent="-355600" lvl="0" marL="457200" rtl="0" algn="l">
              <a:spcBef>
                <a:spcPts val="1200"/>
              </a:spcBef>
              <a:spcAft>
                <a:spcPts val="0"/>
              </a:spcAft>
              <a:buSzPts val="2000"/>
              <a:buChar char="●"/>
            </a:pPr>
            <a:r>
              <a:rPr lang="en" sz="2000"/>
              <a:t>Does a multimodal model outperform models that use only imaging data or only behavioral data?</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Dataset</a:t>
            </a:r>
            <a:endParaRPr/>
          </a:p>
        </p:txBody>
      </p:sp>
      <p:sp>
        <p:nvSpPr>
          <p:cNvPr id="102" name="Google Shape;102;p19"/>
          <p:cNvSpPr txBox="1"/>
          <p:nvPr>
            <p:ph idx="1" type="body"/>
          </p:nvPr>
        </p:nvSpPr>
        <p:spPr>
          <a:xfrm>
            <a:off x="387900" y="1489825"/>
            <a:ext cx="8074800" cy="3078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b="1" lang="en" sz="1600"/>
              <a:t>Name</a:t>
            </a:r>
            <a:r>
              <a:rPr lang="en" sz="1600"/>
              <a:t>: The Transdiagnostic Connectome Project</a:t>
            </a:r>
            <a:endParaRPr sz="1600"/>
          </a:p>
          <a:p>
            <a:pPr indent="-330200" lvl="0" marL="457200" rtl="0" algn="l">
              <a:spcBef>
                <a:spcPts val="0"/>
              </a:spcBef>
              <a:spcAft>
                <a:spcPts val="0"/>
              </a:spcAft>
              <a:buSzPts val="1600"/>
              <a:buChar char="●"/>
            </a:pPr>
            <a:r>
              <a:rPr b="1" lang="en" sz="1600"/>
              <a:t>Source</a:t>
            </a:r>
            <a:r>
              <a:rPr lang="en" sz="1600"/>
              <a:t>: OpenNeuro</a:t>
            </a:r>
            <a:endParaRPr sz="1600"/>
          </a:p>
          <a:p>
            <a:pPr indent="-330200" lvl="0" marL="457200" rtl="0" algn="l">
              <a:spcBef>
                <a:spcPts val="0"/>
              </a:spcBef>
              <a:spcAft>
                <a:spcPts val="0"/>
              </a:spcAft>
              <a:buSzPts val="1600"/>
              <a:buChar char="●"/>
            </a:pPr>
            <a:r>
              <a:rPr b="1" lang="en" sz="1600"/>
              <a:t>Link</a:t>
            </a:r>
            <a:r>
              <a:rPr lang="en" sz="1600"/>
              <a:t>:  https://openneuro.org/datasets/ds005237/versions/1.1.3</a:t>
            </a:r>
            <a:endParaRPr sz="1600"/>
          </a:p>
          <a:p>
            <a:pPr indent="-330200" lvl="0" marL="457200" rtl="0" algn="l">
              <a:spcBef>
                <a:spcPts val="0"/>
              </a:spcBef>
              <a:spcAft>
                <a:spcPts val="0"/>
              </a:spcAft>
              <a:buSzPts val="1600"/>
              <a:buChar char="●"/>
            </a:pPr>
            <a:r>
              <a:rPr b="1" lang="en" sz="1600"/>
              <a:t>Formal Citation</a:t>
            </a:r>
            <a:r>
              <a:rPr lang="en" sz="1600"/>
              <a:t> (via OpenNeuro website):</a:t>
            </a:r>
            <a:endParaRPr sz="1600"/>
          </a:p>
          <a:p>
            <a:pPr indent="-330200" lvl="1" marL="914400" rtl="0" algn="l">
              <a:spcBef>
                <a:spcPts val="0"/>
              </a:spcBef>
              <a:spcAft>
                <a:spcPts val="0"/>
              </a:spcAft>
              <a:buSzPts val="1600"/>
              <a:buChar char="○"/>
            </a:pPr>
            <a:r>
              <a:rPr lang="en" sz="1600"/>
              <a:t>Sidhant Chopra, Carrisa V. Cocuzza, Connor Lawhead, Jocelyn A. Ricard, Loïc Labache, Lauren Patrick, Poornima Kumar, Arielle Rubenstein, Julia Moses, Lia Chen, Crystal Blankenbaker, Bryce Gillis, Laura T. Germine, Ilan Harpaz-Rote, BT Thomas Yeo, Justin T. Baker, and Avram J. Holmes (2025). Transdiagnostic Connectome Project. OpenNeuro. [Dataset] doi: doi:10.18112/openneuro.ds005237.v1.1.3</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Training &amp; Testing Considerations</a:t>
            </a:r>
            <a:endParaRPr/>
          </a:p>
        </p:txBody>
      </p:sp>
      <p:sp>
        <p:nvSpPr>
          <p:cNvPr id="108" name="Google Shape;108;p20"/>
          <p:cNvSpPr txBox="1"/>
          <p:nvPr>
            <p:ph idx="1" type="body"/>
          </p:nvPr>
        </p:nvSpPr>
        <p:spPr>
          <a:xfrm>
            <a:off x="387900" y="1489825"/>
            <a:ext cx="8368200" cy="3393900"/>
          </a:xfrm>
          <a:prstGeom prst="rect">
            <a:avLst/>
          </a:prstGeom>
        </p:spPr>
        <p:txBody>
          <a:bodyPr anchorCtr="0" anchor="t" bIns="91425" lIns="91425" spcFirstLastPara="1" rIns="91425" wrap="square" tIns="91425">
            <a:normAutofit fontScale="92500" lnSpcReduction="20000"/>
          </a:bodyPr>
          <a:lstStyle/>
          <a:p>
            <a:pPr indent="-341238" lvl="0" marL="457200" rtl="0" algn="l">
              <a:spcBef>
                <a:spcPts val="1200"/>
              </a:spcBef>
              <a:spcAft>
                <a:spcPts val="0"/>
              </a:spcAft>
              <a:buSzPct val="100000"/>
              <a:buChar char="●"/>
            </a:pPr>
            <a:r>
              <a:rPr lang="en" sz="1918"/>
              <a:t>The dataset contains 241 participants with multiple types of data per person, including MRI/fMRI data, demographics, and more than 50 behavioral and clinical assessments.</a:t>
            </a:r>
            <a:endParaRPr sz="1918"/>
          </a:p>
          <a:p>
            <a:pPr indent="-341238" lvl="0" marL="457200" rtl="0" algn="l">
              <a:spcBef>
                <a:spcPts val="0"/>
              </a:spcBef>
              <a:spcAft>
                <a:spcPts val="0"/>
              </a:spcAft>
              <a:buSzPct val="100000"/>
              <a:buChar char="●"/>
            </a:pPr>
            <a:r>
              <a:rPr lang="en" sz="1918"/>
              <a:t>Because this is a moderate sample size, using Random Forest Regression on extracted imaging features and tabular clinical data rather than training a deep learning model on raw scans is more appropriate</a:t>
            </a:r>
            <a:endParaRPr sz="1918"/>
          </a:p>
          <a:p>
            <a:pPr indent="-341238" lvl="0" marL="457200" rtl="0" algn="l">
              <a:spcBef>
                <a:spcPts val="0"/>
              </a:spcBef>
              <a:spcAft>
                <a:spcPts val="0"/>
              </a:spcAft>
              <a:buSzPct val="100000"/>
              <a:buChar char="●"/>
            </a:pPr>
            <a:r>
              <a:rPr lang="en" sz="1918"/>
              <a:t>Use 5-fold cross validation to improve reliability and model stability</a:t>
            </a:r>
            <a:endParaRPr sz="1918"/>
          </a:p>
          <a:p>
            <a:pPr indent="-322188" lvl="1" marL="914400" rtl="0" algn="l">
              <a:spcBef>
                <a:spcPts val="0"/>
              </a:spcBef>
              <a:spcAft>
                <a:spcPts val="0"/>
              </a:spcAft>
              <a:buSzPct val="100000"/>
              <a:buChar char="○"/>
            </a:pPr>
            <a:r>
              <a:rPr lang="en" sz="1593"/>
              <a:t>4 folds for training, 1 for validation</a:t>
            </a:r>
            <a:endParaRPr sz="1593"/>
          </a:p>
          <a:p>
            <a:pPr indent="-341238" lvl="0" marL="457200" rtl="0" algn="l">
              <a:spcBef>
                <a:spcPts val="0"/>
              </a:spcBef>
              <a:spcAft>
                <a:spcPts val="0"/>
              </a:spcAft>
              <a:buSzPct val="100000"/>
              <a:buChar char="●"/>
            </a:pPr>
            <a:r>
              <a:rPr lang="en" sz="1918"/>
              <a:t>Patients would be split:</a:t>
            </a:r>
            <a:endParaRPr sz="1918"/>
          </a:p>
          <a:p>
            <a:pPr indent="-323533" lvl="1" marL="914400" rtl="0" algn="l">
              <a:spcBef>
                <a:spcPts val="0"/>
              </a:spcBef>
              <a:spcAft>
                <a:spcPts val="0"/>
              </a:spcAft>
              <a:buSzPct val="100000"/>
              <a:buChar char="○"/>
            </a:pPr>
            <a:r>
              <a:rPr lang="en" sz="1616"/>
              <a:t>80% training = 192 participants</a:t>
            </a:r>
            <a:endParaRPr sz="1616"/>
          </a:p>
          <a:p>
            <a:pPr indent="-323533" lvl="2" marL="1371600" rtl="0" algn="l">
              <a:spcBef>
                <a:spcPts val="0"/>
              </a:spcBef>
              <a:spcAft>
                <a:spcPts val="0"/>
              </a:spcAft>
              <a:buSzPct val="100000"/>
              <a:buChar char="■"/>
            </a:pPr>
            <a:r>
              <a:rPr lang="en" sz="1616"/>
              <a:t>Split into 5 folds (~38-39 participants each)</a:t>
            </a:r>
            <a:endParaRPr sz="1616"/>
          </a:p>
          <a:p>
            <a:pPr indent="-323533" lvl="1" marL="914400" rtl="0" algn="l">
              <a:spcBef>
                <a:spcPts val="0"/>
              </a:spcBef>
              <a:spcAft>
                <a:spcPts val="0"/>
              </a:spcAft>
              <a:buSzPct val="100000"/>
              <a:buChar char="○"/>
            </a:pPr>
            <a:r>
              <a:rPr lang="en" sz="1616"/>
              <a:t>10% testing = 49 participants</a:t>
            </a:r>
            <a:endParaRPr sz="1616"/>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Sources of Bias</a:t>
            </a:r>
            <a:endParaRPr/>
          </a:p>
        </p:txBody>
      </p:sp>
      <p:graphicFrame>
        <p:nvGraphicFramePr>
          <p:cNvPr id="114" name="Google Shape;114;p21"/>
          <p:cNvGraphicFramePr/>
          <p:nvPr/>
        </p:nvGraphicFramePr>
        <p:xfrm>
          <a:off x="387900" y="1421325"/>
          <a:ext cx="3000000" cy="3000000"/>
        </p:xfrm>
        <a:graphic>
          <a:graphicData uri="http://schemas.openxmlformats.org/drawingml/2006/table">
            <a:tbl>
              <a:tblPr>
                <a:noFill/>
                <a:tableStyleId>{BBB24AC4-D001-47E7-8EEC-BCB30FFDCAA8}</a:tableStyleId>
              </a:tblPr>
              <a:tblGrid>
                <a:gridCol w="2789400"/>
                <a:gridCol w="2789400"/>
                <a:gridCol w="2789400"/>
              </a:tblGrid>
              <a:tr h="3237525">
                <a:tc>
                  <a:txBody>
                    <a:bodyPr/>
                    <a:lstStyle/>
                    <a:p>
                      <a:pPr indent="0" lvl="0" marL="0" rtl="0" algn="ctr">
                        <a:spcBef>
                          <a:spcPts val="0"/>
                        </a:spcBef>
                        <a:spcAft>
                          <a:spcPts val="0"/>
                        </a:spcAft>
                        <a:buNone/>
                      </a:pPr>
                      <a:r>
                        <a:rPr b="1" lang="en" sz="1500">
                          <a:solidFill>
                            <a:schemeClr val="dk1"/>
                          </a:solidFill>
                          <a:latin typeface="Crimson Text"/>
                          <a:ea typeface="Crimson Text"/>
                          <a:cs typeface="Crimson Text"/>
                          <a:sym typeface="Crimson Text"/>
                        </a:rPr>
                        <a:t>#1: Group Underrepresentation </a:t>
                      </a:r>
                      <a:endParaRPr b="1" sz="1500">
                        <a:solidFill>
                          <a:schemeClr val="dk1"/>
                        </a:solidFill>
                        <a:latin typeface="Crimson Text"/>
                        <a:ea typeface="Crimson Text"/>
                        <a:cs typeface="Crimson Text"/>
                        <a:sym typeface="Crimson Text"/>
                      </a:endParaRPr>
                    </a:p>
                    <a:p>
                      <a:pPr indent="0" lvl="0" marL="0" rtl="0" algn="l">
                        <a:spcBef>
                          <a:spcPts val="0"/>
                        </a:spcBef>
                        <a:spcAft>
                          <a:spcPts val="0"/>
                        </a:spcAft>
                        <a:buNone/>
                      </a:pPr>
                      <a:r>
                        <a:t/>
                      </a:r>
                      <a:endParaRPr b="1" sz="1300">
                        <a:solidFill>
                          <a:schemeClr val="dk1"/>
                        </a:solidFill>
                        <a:latin typeface="Crimson Text"/>
                        <a:ea typeface="Crimson Text"/>
                        <a:cs typeface="Crimson Text"/>
                        <a:sym typeface="Crimson Text"/>
                      </a:endParaRPr>
                    </a:p>
                    <a:p>
                      <a:pPr indent="0" lvl="0" marL="0" rtl="0" algn="ctr">
                        <a:spcBef>
                          <a:spcPts val="0"/>
                        </a:spcBef>
                        <a:spcAft>
                          <a:spcPts val="0"/>
                        </a:spcAft>
                        <a:buNone/>
                      </a:pPr>
                      <a:r>
                        <a:rPr lang="en">
                          <a:solidFill>
                            <a:schemeClr val="dk1"/>
                          </a:solidFill>
                          <a:latin typeface="Crimson Text"/>
                          <a:ea typeface="Crimson Text"/>
                          <a:cs typeface="Crimson Text"/>
                          <a:sym typeface="Crimson Text"/>
                        </a:rPr>
                        <a:t>The dataset contains an unequal distribution of sex, with 127 Female compared to 110 Male, and 4 listed as other. T</a:t>
                      </a:r>
                      <a:r>
                        <a:rPr lang="en">
                          <a:solidFill>
                            <a:schemeClr val="dk1"/>
                          </a:solidFill>
                          <a:latin typeface="Crimson Text"/>
                          <a:ea typeface="Crimson Text"/>
                          <a:cs typeface="Crimson Text"/>
                          <a:sym typeface="Crimson Text"/>
                        </a:rPr>
                        <a:t>he sample is somewhat female-skewed in both groups, but especially in the patient group (54.7% gen and 59.6% diagnosed). The</a:t>
                      </a:r>
                      <a:r>
                        <a:rPr lang="en">
                          <a:solidFill>
                            <a:schemeClr val="dk1"/>
                          </a:solidFill>
                          <a:latin typeface="Crimson Text"/>
                          <a:ea typeface="Crimson Text"/>
                          <a:cs typeface="Crimson Text"/>
                          <a:sym typeface="Crimson Text"/>
                        </a:rPr>
                        <a:t> skewed distribution risks training a model that </a:t>
                      </a:r>
                      <a:r>
                        <a:rPr lang="en">
                          <a:solidFill>
                            <a:schemeClr val="dk1"/>
                          </a:solidFill>
                          <a:latin typeface="Crimson Text"/>
                          <a:ea typeface="Crimson Text"/>
                          <a:cs typeface="Crimson Text"/>
                          <a:sym typeface="Crimson Text"/>
                        </a:rPr>
                        <a:t>learns patterns that are more representative of females than males</a:t>
                      </a:r>
                      <a:r>
                        <a:rPr lang="en">
                          <a:solidFill>
                            <a:schemeClr val="dk1"/>
                          </a:solidFill>
                          <a:latin typeface="Crimson Text"/>
                          <a:ea typeface="Crimson Text"/>
                          <a:cs typeface="Crimson Text"/>
                          <a:sym typeface="Crimson Text"/>
                        </a:rPr>
                        <a:t>, simply due to a lack of representation of symptomatic males or healthy females.</a:t>
                      </a:r>
                      <a:endParaRPr>
                        <a:solidFill>
                          <a:schemeClr val="dk1"/>
                        </a:solidFill>
                        <a:latin typeface="Crimson Text"/>
                        <a:ea typeface="Crimson Text"/>
                        <a:cs typeface="Crimson Text"/>
                        <a:sym typeface="Crimson Text"/>
                      </a:endParaRPr>
                    </a:p>
                  </a:txBody>
                  <a:tcPr marT="63100" marB="63100" marR="63100" marL="63100"/>
                </a:tc>
                <a:tc>
                  <a:txBody>
                    <a:bodyPr/>
                    <a:lstStyle/>
                    <a:p>
                      <a:pPr indent="0" lvl="0" marL="0" rtl="0" algn="ctr">
                        <a:spcBef>
                          <a:spcPts val="0"/>
                        </a:spcBef>
                        <a:spcAft>
                          <a:spcPts val="0"/>
                        </a:spcAft>
                        <a:buNone/>
                      </a:pPr>
                      <a:r>
                        <a:rPr b="1" lang="en" sz="1500">
                          <a:solidFill>
                            <a:schemeClr val="dk1"/>
                          </a:solidFill>
                          <a:latin typeface="Crimson Text"/>
                          <a:ea typeface="Crimson Text"/>
                          <a:cs typeface="Crimson Text"/>
                          <a:sym typeface="Crimson Text"/>
                        </a:rPr>
                        <a:t>#2: Measurement &amp; labeling bias</a:t>
                      </a:r>
                      <a:endParaRPr b="1" sz="1500">
                        <a:solidFill>
                          <a:schemeClr val="dk1"/>
                        </a:solidFill>
                        <a:latin typeface="Crimson Text"/>
                        <a:ea typeface="Crimson Text"/>
                        <a:cs typeface="Crimson Text"/>
                        <a:sym typeface="Crimson Text"/>
                      </a:endParaRPr>
                    </a:p>
                    <a:p>
                      <a:pPr indent="0" lvl="0" marL="0" rtl="0" algn="l">
                        <a:spcBef>
                          <a:spcPts val="0"/>
                        </a:spcBef>
                        <a:spcAft>
                          <a:spcPts val="0"/>
                        </a:spcAft>
                        <a:buNone/>
                      </a:pPr>
                      <a:r>
                        <a:t/>
                      </a:r>
                      <a:endParaRPr b="1" sz="1300">
                        <a:solidFill>
                          <a:schemeClr val="dk1"/>
                        </a:solidFill>
                        <a:latin typeface="Crimson Text"/>
                        <a:ea typeface="Crimson Text"/>
                        <a:cs typeface="Crimson Text"/>
                        <a:sym typeface="Crimson Text"/>
                      </a:endParaRPr>
                    </a:p>
                    <a:p>
                      <a:pPr indent="0" lvl="0" marL="0" rtl="0" algn="ctr">
                        <a:spcBef>
                          <a:spcPts val="0"/>
                        </a:spcBef>
                        <a:spcAft>
                          <a:spcPts val="0"/>
                        </a:spcAft>
                        <a:buNone/>
                      </a:pPr>
                      <a:r>
                        <a:rPr lang="en">
                          <a:solidFill>
                            <a:schemeClr val="dk1"/>
                          </a:solidFill>
                          <a:latin typeface="Crimson Text"/>
                          <a:ea typeface="Crimson Text"/>
                          <a:cs typeface="Crimson Text"/>
                          <a:sym typeface="Crimson Text"/>
                        </a:rPr>
                        <a:t>Psychiatric symptom scales are useful, but they are not perfect measurements of mental health. Self-report questionnaires can be influenced by mood, interpretation of questions, willingness to disclose symptoms, or clinician rating differences, which may introduce noise into the symptom severity labels.</a:t>
                      </a:r>
                      <a:endParaRPr>
                        <a:solidFill>
                          <a:schemeClr val="dk1"/>
                        </a:solidFill>
                        <a:latin typeface="Crimson Text"/>
                        <a:ea typeface="Crimson Text"/>
                        <a:cs typeface="Crimson Text"/>
                        <a:sym typeface="Crimson Text"/>
                      </a:endParaRPr>
                    </a:p>
                  </a:txBody>
                  <a:tcPr marT="63100" marB="63100" marR="63100" marL="63100"/>
                </a:tc>
                <a:tc>
                  <a:txBody>
                    <a:bodyPr/>
                    <a:lstStyle/>
                    <a:p>
                      <a:pPr indent="0" lvl="0" marL="0" rtl="0" algn="ctr">
                        <a:spcBef>
                          <a:spcPts val="0"/>
                        </a:spcBef>
                        <a:spcAft>
                          <a:spcPts val="0"/>
                        </a:spcAft>
                        <a:buNone/>
                      </a:pPr>
                      <a:r>
                        <a:rPr b="1" lang="en" sz="1500">
                          <a:solidFill>
                            <a:schemeClr val="dk1"/>
                          </a:solidFill>
                          <a:latin typeface="Crimson Text"/>
                          <a:ea typeface="Crimson Text"/>
                          <a:cs typeface="Crimson Text"/>
                          <a:sym typeface="Crimson Text"/>
                        </a:rPr>
                        <a:t>#3: Overfitting / Site-related bias</a:t>
                      </a:r>
                      <a:endParaRPr b="1" sz="1500">
                        <a:solidFill>
                          <a:schemeClr val="dk1"/>
                        </a:solidFill>
                        <a:latin typeface="Crimson Text"/>
                        <a:ea typeface="Crimson Text"/>
                        <a:cs typeface="Crimson Text"/>
                        <a:sym typeface="Crimson Text"/>
                      </a:endParaRPr>
                    </a:p>
                    <a:p>
                      <a:pPr indent="0" lvl="0" marL="0" rtl="0" algn="l">
                        <a:spcBef>
                          <a:spcPts val="0"/>
                        </a:spcBef>
                        <a:spcAft>
                          <a:spcPts val="0"/>
                        </a:spcAft>
                        <a:buNone/>
                      </a:pPr>
                      <a:r>
                        <a:t/>
                      </a:r>
                      <a:endParaRPr b="1" sz="1300">
                        <a:solidFill>
                          <a:schemeClr val="dk1"/>
                        </a:solidFill>
                        <a:latin typeface="Crimson Text"/>
                        <a:ea typeface="Crimson Text"/>
                        <a:cs typeface="Crimson Text"/>
                        <a:sym typeface="Crimson Text"/>
                      </a:endParaRPr>
                    </a:p>
                    <a:p>
                      <a:pPr indent="0" lvl="0" marL="0" rtl="0" algn="ctr">
                        <a:spcBef>
                          <a:spcPts val="0"/>
                        </a:spcBef>
                        <a:spcAft>
                          <a:spcPts val="0"/>
                        </a:spcAft>
                        <a:buNone/>
                      </a:pPr>
                      <a:r>
                        <a:rPr lang="en">
                          <a:solidFill>
                            <a:schemeClr val="dk1"/>
                          </a:solidFill>
                          <a:latin typeface="Crimson Text"/>
                          <a:ea typeface="Crimson Text"/>
                          <a:cs typeface="Crimson Text"/>
                          <a:sym typeface="Crimson Text"/>
                        </a:rPr>
                        <a:t>Our model uses extracted imaging features rather than raw MRI images, but these features can still be influenced by scanner differences, participant motion, and other site-specific effects. Our exploratory analysis revealed Site 2 contains nearly twice as many patients (70) as Site 1 (38). This imbalance increases the risk that the model will associate site-related characteristics rather than learning meaningful patterns. </a:t>
                      </a:r>
                      <a:endParaRPr>
                        <a:solidFill>
                          <a:schemeClr val="dk1"/>
                        </a:solidFill>
                        <a:latin typeface="Crimson Text"/>
                        <a:ea typeface="Crimson Text"/>
                        <a:cs typeface="Crimson Text"/>
                        <a:sym typeface="Crimson Text"/>
                      </a:endParaRPr>
                    </a:p>
                  </a:txBody>
                  <a:tcPr marT="63100" marB="63100" marR="63100" marL="6310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Mitigation Strategies</a:t>
            </a:r>
            <a:endParaRPr/>
          </a:p>
        </p:txBody>
      </p:sp>
      <p:sp>
        <p:nvSpPr>
          <p:cNvPr id="120" name="Google Shape;120;p22"/>
          <p:cNvSpPr txBox="1"/>
          <p:nvPr>
            <p:ph idx="1" type="body"/>
          </p:nvPr>
        </p:nvSpPr>
        <p:spPr>
          <a:xfrm>
            <a:off x="387900" y="1401800"/>
            <a:ext cx="3999900" cy="3078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a:latin typeface="Crimson Text"/>
                <a:ea typeface="Crimson Text"/>
                <a:cs typeface="Crimson Text"/>
                <a:sym typeface="Crimson Text"/>
              </a:rPr>
              <a:t>Addressing/Correcting representation imbalances</a:t>
            </a:r>
            <a:endParaRPr b="1">
              <a:latin typeface="Crimson Text"/>
              <a:ea typeface="Crimson Text"/>
              <a:cs typeface="Crimson Text"/>
              <a:sym typeface="Crimson Text"/>
            </a:endParaRPr>
          </a:p>
          <a:p>
            <a:pPr indent="-317500" lvl="0" marL="457200" rtl="0" algn="l">
              <a:lnSpc>
                <a:spcPct val="100000"/>
              </a:lnSpc>
              <a:spcBef>
                <a:spcPts val="0"/>
              </a:spcBef>
              <a:spcAft>
                <a:spcPts val="0"/>
              </a:spcAft>
              <a:buSzPts val="1400"/>
              <a:buFont typeface="Crimson Text"/>
              <a:buChar char="●"/>
            </a:pPr>
            <a:r>
              <a:rPr lang="en">
                <a:latin typeface="Crimson Text"/>
                <a:ea typeface="Crimson Text"/>
                <a:cs typeface="Crimson Text"/>
                <a:sym typeface="Crimson Text"/>
              </a:rPr>
              <a:t>Examine the dataset for demographic imbalance and missing data</a:t>
            </a:r>
            <a:endParaRPr>
              <a:latin typeface="Crimson Text"/>
              <a:ea typeface="Crimson Text"/>
              <a:cs typeface="Crimson Text"/>
              <a:sym typeface="Crimson Text"/>
            </a:endParaRPr>
          </a:p>
          <a:p>
            <a:pPr indent="-317500" lvl="0" marL="457200" rtl="0" algn="l">
              <a:lnSpc>
                <a:spcPct val="100000"/>
              </a:lnSpc>
              <a:spcBef>
                <a:spcPts val="0"/>
              </a:spcBef>
              <a:spcAft>
                <a:spcPts val="0"/>
              </a:spcAft>
              <a:buSzPts val="1400"/>
              <a:buFont typeface="Crimson Text"/>
              <a:buChar char="●"/>
            </a:pPr>
            <a:r>
              <a:rPr lang="en">
                <a:latin typeface="Crimson Text"/>
                <a:ea typeface="Crimson Text"/>
                <a:cs typeface="Crimson Text"/>
                <a:sym typeface="Crimson Text"/>
              </a:rPr>
              <a:t>Use stratified sampling when splitting data into training, validation, and testing sets to ensure the true gender ratio is even across both GenPop and Patient clinical cohorts</a:t>
            </a:r>
            <a:endParaRPr>
              <a:latin typeface="Crimson Text"/>
              <a:ea typeface="Crimson Text"/>
              <a:cs typeface="Crimson Text"/>
              <a:sym typeface="Crimson Text"/>
            </a:endParaRPr>
          </a:p>
          <a:p>
            <a:pPr indent="-317500" lvl="0" marL="457200" rtl="0" algn="l">
              <a:lnSpc>
                <a:spcPct val="100000"/>
              </a:lnSpc>
              <a:spcBef>
                <a:spcPts val="0"/>
              </a:spcBef>
              <a:spcAft>
                <a:spcPts val="0"/>
              </a:spcAft>
              <a:buSzPts val="1400"/>
              <a:buFont typeface="Crimson Text"/>
              <a:buChar char="●"/>
            </a:pPr>
            <a:r>
              <a:rPr lang="en">
                <a:latin typeface="Crimson Text"/>
                <a:ea typeface="Crimson Text"/>
                <a:cs typeface="Crimson Text"/>
                <a:sym typeface="Crimson Text"/>
              </a:rPr>
              <a:t>If some groups remain underrepresented, implement class-weighting to ensure the model penalizes errors on the underrepresented populations equally. </a:t>
            </a:r>
            <a:endParaRPr>
              <a:latin typeface="Crimson Text"/>
              <a:ea typeface="Crimson Text"/>
              <a:cs typeface="Crimson Text"/>
              <a:sym typeface="Crimson Text"/>
            </a:endParaRPr>
          </a:p>
          <a:p>
            <a:pPr indent="-317500" lvl="0" marL="457200" rtl="0" algn="l">
              <a:lnSpc>
                <a:spcPct val="100000"/>
              </a:lnSpc>
              <a:spcBef>
                <a:spcPts val="0"/>
              </a:spcBef>
              <a:spcAft>
                <a:spcPts val="0"/>
              </a:spcAft>
              <a:buSzPts val="1400"/>
              <a:buFont typeface="Crimson Text"/>
              <a:buChar char="●"/>
            </a:pPr>
            <a:r>
              <a:rPr lang="en">
                <a:latin typeface="Crimson Text"/>
                <a:ea typeface="Crimson Text"/>
                <a:cs typeface="Crimson Text"/>
                <a:sym typeface="Crimson Text"/>
              </a:rPr>
              <a:t>Evaluate final model performance separately across demographic groups to audit for fair and equitable predictions.</a:t>
            </a:r>
            <a:endParaRPr/>
          </a:p>
        </p:txBody>
      </p:sp>
      <p:sp>
        <p:nvSpPr>
          <p:cNvPr id="121" name="Google Shape;121;p22"/>
          <p:cNvSpPr txBox="1"/>
          <p:nvPr>
            <p:ph idx="2" type="body"/>
          </p:nvPr>
        </p:nvSpPr>
        <p:spPr>
          <a:xfrm>
            <a:off x="4756200" y="1401800"/>
            <a:ext cx="3999900" cy="30789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a:latin typeface="Crimson Text"/>
                <a:ea typeface="Crimson Text"/>
                <a:cs typeface="Crimson Text"/>
                <a:sym typeface="Crimson Text"/>
              </a:rPr>
              <a:t>Preprocessing, normalization, and validation</a:t>
            </a:r>
            <a:endParaRPr>
              <a:latin typeface="Crimson Text"/>
              <a:ea typeface="Crimson Text"/>
              <a:cs typeface="Crimson Text"/>
              <a:sym typeface="Crimson Text"/>
            </a:endParaRPr>
          </a:p>
          <a:p>
            <a:pPr indent="-317500" lvl="0" marL="457200" rtl="0" algn="l">
              <a:lnSpc>
                <a:spcPct val="100000"/>
              </a:lnSpc>
              <a:spcBef>
                <a:spcPts val="0"/>
              </a:spcBef>
              <a:spcAft>
                <a:spcPts val="0"/>
              </a:spcAft>
              <a:buSzPts val="1400"/>
              <a:buFont typeface="Crimson Text"/>
              <a:buChar char="●"/>
            </a:pPr>
            <a:r>
              <a:rPr lang="en">
                <a:latin typeface="Crimson Text"/>
                <a:ea typeface="Crimson Text"/>
                <a:cs typeface="Crimson Text"/>
                <a:sym typeface="Crimson Text"/>
              </a:rPr>
              <a:t>Use careful preprocessing, feature normalization, and strong validation procedures such as cross-validation and a held-out test set to reduce overfitting and improve generalizability</a:t>
            </a:r>
            <a:endParaRPr>
              <a:latin typeface="Crimson Text"/>
              <a:ea typeface="Crimson Text"/>
              <a:cs typeface="Crimson Text"/>
              <a:sym typeface="Crimson Text"/>
            </a:endParaRPr>
          </a:p>
          <a:p>
            <a:pPr indent="-317500" lvl="0" marL="457200" rtl="0" algn="l">
              <a:lnSpc>
                <a:spcPct val="100000"/>
              </a:lnSpc>
              <a:spcBef>
                <a:spcPts val="0"/>
              </a:spcBef>
              <a:spcAft>
                <a:spcPts val="0"/>
              </a:spcAft>
              <a:buSzPts val="1400"/>
              <a:buFont typeface="Crimson Text"/>
              <a:buChar char="●"/>
            </a:pPr>
            <a:r>
              <a:rPr lang="en">
                <a:latin typeface="Crimson Text"/>
                <a:ea typeface="Crimson Text"/>
                <a:cs typeface="Crimson Text"/>
                <a:sym typeface="Crimson Text"/>
              </a:rPr>
              <a:t>Compare behavioral-only, imaging-only, and multimodal models to better understand which data sources drive performance and to avoid overstating the role of brain imaging if simpler behavioral features explain most of the predictive signal.</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Citations</a:t>
            </a:r>
            <a:endParaRPr/>
          </a:p>
        </p:txBody>
      </p:sp>
      <p:sp>
        <p:nvSpPr>
          <p:cNvPr id="127" name="Google Shape;127;p23"/>
          <p:cNvSpPr txBox="1"/>
          <p:nvPr>
            <p:ph idx="1" type="body"/>
          </p:nvPr>
        </p:nvSpPr>
        <p:spPr>
          <a:xfrm>
            <a:off x="387900" y="1407800"/>
            <a:ext cx="8368200" cy="3160800"/>
          </a:xfrm>
          <a:prstGeom prst="rect">
            <a:avLst/>
          </a:prstGeom>
        </p:spPr>
        <p:txBody>
          <a:bodyPr anchorCtr="0" anchor="t" bIns="91425" lIns="91425" spcFirstLastPara="1" rIns="91425" wrap="square" tIns="91425">
            <a:noAutofit/>
          </a:bodyPr>
          <a:lstStyle/>
          <a:p>
            <a:pPr indent="-228600" lvl="0" marL="228600" rtl="0" algn="l">
              <a:lnSpc>
                <a:spcPct val="80000"/>
              </a:lnSpc>
              <a:spcBef>
                <a:spcPts val="0"/>
              </a:spcBef>
              <a:spcAft>
                <a:spcPts val="0"/>
              </a:spcAft>
              <a:buNone/>
            </a:pPr>
            <a:r>
              <a:rPr lang="en" sz="1210">
                <a:latin typeface="Crimson Text"/>
                <a:ea typeface="Crimson Text"/>
                <a:cs typeface="Crimson Text"/>
                <a:sym typeface="Crimson Text"/>
              </a:rPr>
              <a:t>Chopra, S., Cocuzza, C. V., Lawhead, C., Ricard, J. A., Labache, L., Patrick, L. M., Kumar, P., Rubenstein, A., Moses, J., Chen, L., Blankenbaker, C., Gillis, B., Germine, L. T., Harpaz-Rotem, I., Yeo, B. T. T., Baker, J. T., &amp; Holmes, A. J. (2025). </a:t>
            </a:r>
            <a:r>
              <a:rPr i="1" lang="en" sz="1210">
                <a:latin typeface="Crimson Text"/>
                <a:ea typeface="Crimson Text"/>
                <a:cs typeface="Crimson Text"/>
                <a:sym typeface="Crimson Text"/>
              </a:rPr>
              <a:t>The Transdiagnostic Connectome Project: an open dataset for studying brain-behavior relationships in psychiatry</a:t>
            </a:r>
            <a:r>
              <a:rPr lang="en" sz="1210">
                <a:latin typeface="Crimson Text"/>
                <a:ea typeface="Crimson Text"/>
                <a:cs typeface="Crimson Text"/>
                <a:sym typeface="Crimson Text"/>
              </a:rPr>
              <a:t>. Scientific Data, 12, 923.</a:t>
            </a:r>
            <a:r>
              <a:rPr lang="en" sz="1210" u="sng">
                <a:latin typeface="Crimson Text"/>
                <a:ea typeface="Crimson Text"/>
                <a:cs typeface="Crimson Text"/>
                <a:sym typeface="Crimson Text"/>
                <a:hlinkClick r:id="rId3"/>
              </a:rPr>
              <a:t> https://doi.org/10.1038/s41597-025-04895-z</a:t>
            </a:r>
            <a:endParaRPr sz="1210">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latin typeface="Crimson Text"/>
                <a:ea typeface="Crimson Text"/>
                <a:cs typeface="Crimson Text"/>
                <a:sym typeface="Crimson Text"/>
              </a:rPr>
              <a:t>Parkes, L., Satterthwaite, T. D., &amp; Bassett, D. S. (2020). </a:t>
            </a:r>
            <a:r>
              <a:rPr i="1" lang="en" sz="1210">
                <a:latin typeface="Crimson Text"/>
                <a:ea typeface="Crimson Text"/>
                <a:cs typeface="Crimson Text"/>
                <a:sym typeface="Crimson Text"/>
              </a:rPr>
              <a:t>Towards precise resting-state fMRI biomarkers in psychiatry: synthesizing developments in transdiagnostic research, dimensional models of psychopathology, and normative neurodevelopment</a:t>
            </a:r>
            <a:r>
              <a:rPr lang="en" sz="1210">
                <a:latin typeface="Crimson Text"/>
                <a:ea typeface="Crimson Text"/>
                <a:cs typeface="Crimson Text"/>
                <a:sym typeface="Crimson Text"/>
              </a:rPr>
              <a:t>. Current Opinion in Neurobiology, 65, 120–128.</a:t>
            </a:r>
            <a:endParaRPr sz="1210">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latin typeface="Crimson Text"/>
                <a:ea typeface="Crimson Text"/>
                <a:cs typeface="Crimson Text"/>
                <a:sym typeface="Crimson Text"/>
              </a:rPr>
              <a:t>Chopra, S., Cocuzza, C. V., Lawhead, C., et al. (2024). </a:t>
            </a:r>
            <a:r>
              <a:rPr i="1" lang="en" sz="1210">
                <a:latin typeface="Crimson Text"/>
                <a:ea typeface="Crimson Text"/>
                <a:cs typeface="Crimson Text"/>
                <a:sym typeface="Crimson Text"/>
              </a:rPr>
              <a:t>The Transdiagnostic Connectome Project dataset: a richly phenotyped open resource for advancing the study of brain-behavior relationships in psychiatry</a:t>
            </a:r>
            <a:r>
              <a:rPr lang="en" sz="1210">
                <a:latin typeface="Crimson Text"/>
                <a:ea typeface="Crimson Text"/>
                <a:cs typeface="Crimson Text"/>
                <a:sym typeface="Crimson Text"/>
              </a:rPr>
              <a:t>. medRxiv.</a:t>
            </a:r>
            <a:r>
              <a:rPr lang="en" sz="1210" u="sng">
                <a:latin typeface="Crimson Text"/>
                <a:ea typeface="Crimson Text"/>
                <a:cs typeface="Crimson Text"/>
                <a:sym typeface="Crimson Text"/>
                <a:hlinkClick r:id="rId4"/>
              </a:rPr>
              <a:t> https://doi.org/10.1101/2024.06.18.24309054</a:t>
            </a:r>
            <a:endParaRPr sz="1210">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latin typeface="Crimson Text"/>
                <a:ea typeface="Crimson Text"/>
                <a:cs typeface="Crimson Text"/>
                <a:sym typeface="Crimson Text"/>
              </a:rPr>
              <a:t>Woo, C.-W., Chang, L. J., Lindquist, M. A., &amp; Wager, T. D. (2017). </a:t>
            </a:r>
            <a:r>
              <a:rPr i="1" lang="en" sz="1210">
                <a:latin typeface="Crimson Text"/>
                <a:ea typeface="Crimson Text"/>
                <a:cs typeface="Crimson Text"/>
                <a:sym typeface="Crimson Text"/>
              </a:rPr>
              <a:t>Building better biomarkers: Brain models in translational neuroimaging</a:t>
            </a:r>
            <a:r>
              <a:rPr lang="en" sz="1210">
                <a:latin typeface="Crimson Text"/>
                <a:ea typeface="Crimson Text"/>
                <a:cs typeface="Crimson Text"/>
                <a:sym typeface="Crimson Text"/>
              </a:rPr>
              <a:t>. Nature Neuroscience, 20, 365–377.</a:t>
            </a:r>
            <a:endParaRPr sz="1210">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latin typeface="Crimson Text"/>
                <a:ea typeface="Crimson Text"/>
                <a:cs typeface="Crimson Text"/>
                <a:sym typeface="Crimson Text"/>
              </a:rPr>
              <a:t>Bzdok, D., &amp; Meyer-Lindenberg, A. (2018). </a:t>
            </a:r>
            <a:r>
              <a:rPr i="1" lang="en" sz="1210">
                <a:latin typeface="Crimson Text"/>
                <a:ea typeface="Crimson Text"/>
                <a:cs typeface="Crimson Text"/>
                <a:sym typeface="Crimson Text"/>
              </a:rPr>
              <a:t>Machine learning for precision psychiatry: opportunities and challenges. </a:t>
            </a:r>
            <a:r>
              <a:rPr lang="en" sz="1210">
                <a:latin typeface="Crimson Text"/>
                <a:ea typeface="Crimson Text"/>
                <a:cs typeface="Crimson Text"/>
                <a:sym typeface="Crimson Text"/>
              </a:rPr>
              <a:t>Biological Psychiatry: Cognitive Neuroscience and Neuroimaging, 3(3), 223–230.</a:t>
            </a:r>
            <a:endParaRPr sz="1210">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latin typeface="Crimson Text"/>
                <a:ea typeface="Crimson Text"/>
                <a:cs typeface="Crimson Text"/>
                <a:sym typeface="Crimson Text"/>
              </a:rPr>
              <a:t>Insel, T. R. (2014).</a:t>
            </a:r>
            <a:r>
              <a:rPr i="1" lang="en" sz="1210">
                <a:latin typeface="Crimson Text"/>
                <a:ea typeface="Crimson Text"/>
                <a:cs typeface="Crimson Text"/>
                <a:sym typeface="Crimson Text"/>
              </a:rPr>
              <a:t> The NIMH Research Domain Criteria (RDoC) Project: precision medicine for psychiatry.</a:t>
            </a:r>
            <a:r>
              <a:rPr lang="en" sz="1210">
                <a:latin typeface="Crimson Text"/>
                <a:ea typeface="Crimson Text"/>
                <a:cs typeface="Crimson Text"/>
                <a:sym typeface="Crimson Text"/>
              </a:rPr>
              <a:t> American Journal of Psychiatry, 171(4), 395–397.</a:t>
            </a:r>
            <a:endParaRPr sz="1210">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latin typeface="Crimson Text"/>
                <a:ea typeface="Crimson Text"/>
                <a:cs typeface="Crimson Text"/>
                <a:sym typeface="Crimson Text"/>
              </a:rPr>
              <a:t>Yuwon Kim. (2025). </a:t>
            </a:r>
            <a:r>
              <a:rPr i="1" lang="en" sz="1210">
                <a:latin typeface="Crimson Text"/>
                <a:ea typeface="Crimson Text"/>
                <a:cs typeface="Crimson Text"/>
                <a:sym typeface="Crimson Text"/>
              </a:rPr>
              <a:t>Beyond Missing Data: A Multimodal Approach Using VR-EEG-MRI (VEEM) Biomarkers for Detecting MCI. </a:t>
            </a:r>
            <a:r>
              <a:rPr lang="en" sz="1210">
                <a:latin typeface="Crimson Text"/>
                <a:ea typeface="Crimson Text"/>
                <a:cs typeface="Crimson Text"/>
                <a:sym typeface="Crimson Text"/>
              </a:rPr>
              <a:t>In Proceedings of the Extended Abstracts of the CHI Conference on Human Factors in Computing Systems (CHI EA '25). Association for Computing Machinery, New York, NY, USA, Article 895, 1–7. https://doi.org/10.1145/3706599.3719284</a:t>
            </a:r>
            <a:endParaRPr sz="1210">
              <a:latin typeface="Crimson Text"/>
              <a:ea typeface="Crimson Text"/>
              <a:cs typeface="Crimson Text"/>
              <a:sym typeface="Crimson Text"/>
            </a:endParaRPr>
          </a:p>
          <a:p>
            <a:pPr indent="-228600" lvl="0" marL="228600" rtl="0" algn="l">
              <a:lnSpc>
                <a:spcPct val="80000"/>
              </a:lnSpc>
              <a:spcBef>
                <a:spcPts val="0"/>
              </a:spcBef>
              <a:spcAft>
                <a:spcPts val="0"/>
              </a:spcAft>
              <a:buNone/>
            </a:pPr>
            <a:r>
              <a:rPr lang="en" sz="1210">
                <a:latin typeface="Crimson Text"/>
                <a:ea typeface="Crimson Text"/>
                <a:cs typeface="Crimson Text"/>
                <a:sym typeface="Crimson Text"/>
              </a:rPr>
              <a:t>Jinxia Wang, Liang Qiao, Haibin Lv, and Zhihan Lv. 2022. </a:t>
            </a:r>
            <a:r>
              <a:rPr i="1" lang="en" sz="1210">
                <a:latin typeface="Crimson Text"/>
                <a:ea typeface="Crimson Text"/>
                <a:cs typeface="Crimson Text"/>
                <a:sym typeface="Crimson Text"/>
              </a:rPr>
              <a:t>Deep Transfer Learning-Based Multi-Modal Digital Twins for Enhancement and Diagnostic Analysis of Brain MRI Image</a:t>
            </a:r>
            <a:r>
              <a:rPr lang="en" sz="1210">
                <a:latin typeface="Crimson Text"/>
                <a:ea typeface="Crimson Text"/>
                <a:cs typeface="Crimson Text"/>
                <a:sym typeface="Crimson Text"/>
              </a:rPr>
              <a:t>. IEEE/ACM Trans. Comput. Biol. Bioinformatics 20, 4 (July-Aug. 2023), 2407–2419. https://doi.org/10.1109/TCBB.2022.3168189</a:t>
            </a:r>
            <a:endParaRPr sz="1210"/>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