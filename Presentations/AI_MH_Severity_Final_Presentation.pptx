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aleway"/>
      <p:regular r:id="rId20"/>
      <p:bold r:id="rId21"/>
      <p:italic r:id="rId22"/>
      <p:boldItalic r:id="rId23"/>
    </p:embeddedFont>
    <p:embeddedFont>
      <p:font typeface="Familjen Grotesk"/>
      <p:regular r:id="rId24"/>
      <p:bold r:id="rId25"/>
      <p:italic r:id="rId26"/>
      <p:boldItalic r:id="rId27"/>
    </p:embeddedFont>
    <p:embeddedFont>
      <p:font typeface="Barlow"/>
      <p:regular r:id="rId28"/>
      <p:bold r:id="rId29"/>
      <p:italic r:id="rId30"/>
      <p:boldItalic r:id="rId31"/>
    </p:embeddedFont>
    <p:embeddedFont>
      <p:font typeface="Crimson Tex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FamiljenGrotesk-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amiljenGrotesk-italic.fntdata"/><Relationship Id="rId25" Type="http://schemas.openxmlformats.org/officeDocument/2006/relationships/font" Target="fonts/FamiljenGrotesk-bold.fntdata"/><Relationship Id="rId28" Type="http://schemas.openxmlformats.org/officeDocument/2006/relationships/font" Target="fonts/Barlow-regular.fntdata"/><Relationship Id="rId27" Type="http://schemas.openxmlformats.org/officeDocument/2006/relationships/font" Target="fonts/FamiljenGrotesk-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Barlow-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boldItalic.fntdata"/><Relationship Id="rId30" Type="http://schemas.openxmlformats.org/officeDocument/2006/relationships/font" Target="fonts/Barlow-italic.fntdata"/><Relationship Id="rId11" Type="http://schemas.openxmlformats.org/officeDocument/2006/relationships/slide" Target="slides/slide5.xml"/><Relationship Id="rId33" Type="http://schemas.openxmlformats.org/officeDocument/2006/relationships/font" Target="fonts/CrimsonText-bold.fntdata"/><Relationship Id="rId10" Type="http://schemas.openxmlformats.org/officeDocument/2006/relationships/slide" Target="slides/slide4.xml"/><Relationship Id="rId32" Type="http://schemas.openxmlformats.org/officeDocument/2006/relationships/font" Target="fonts/CrimsonText-regular.fntdata"/><Relationship Id="rId13" Type="http://schemas.openxmlformats.org/officeDocument/2006/relationships/slide" Target="slides/slide7.xml"/><Relationship Id="rId35" Type="http://schemas.openxmlformats.org/officeDocument/2006/relationships/font" Target="fonts/CrimsonText-boldItalic.fntdata"/><Relationship Id="rId12" Type="http://schemas.openxmlformats.org/officeDocument/2006/relationships/slide" Target="slides/slide6.xml"/><Relationship Id="rId34" Type="http://schemas.openxmlformats.org/officeDocument/2006/relationships/font" Target="fonts/CrimsonTex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59338b4c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59338b4c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59338b4c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59338b4c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59338b4c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59338b4c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659edf02d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659edf02d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9338b4c6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59338b4c6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en"/>
              <a:t>This slide summarizes how our models performed and validates that our predictors were appropriate. The graph on the left compares behavioral, imaging-only, and multimodal models across the four prediction targets. We found that behavioral data consistently achieved the highest predictive performance. Imaging alone generally performed poorly, and combining imaging with behavioral data produced little improvement. On the right is the Spearman correlation matrix, which we used to check for overly correlated predictors that could indicate feature leakage. No feature exceeded our threshold of 0.80, suggesting that our models were learning meaningful relationships rather than simply reproducing the target from nearly identical variables.</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5ed7ea8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5ed7ea8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unique part of our project was examining how different symptom domains contribute to predicting one another. Rather than only using questionnaires from the target domain, we evaluated whether adding information from anxiety, depression, stress, or anhedonia improved prediction. These graphs show the change in cross-validated R² after adding additional symptom categories. Some domains benefited substantially from information in related symptom areas, while others showed only modest improvements. This demonstrates that mental health symptoms are interconnected and that related symptom domains can provide useful predictive information.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59338b4c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59338b4c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a:t>
            </a:r>
            <a:r>
              <a:rPr lang="en"/>
              <a:t>algorithmic</a:t>
            </a:r>
            <a:r>
              <a:rPr lang="en"/>
              <a:t> approach takes into </a:t>
            </a:r>
            <a:r>
              <a:rPr lang="en"/>
              <a:t>account</a:t>
            </a:r>
            <a:r>
              <a:rPr lang="en"/>
              <a:t> the characteristics of the dataset we used for this project</a:t>
            </a:r>
            <a:endParaRPr/>
          </a:p>
          <a:p>
            <a:pPr indent="-298450" lvl="0" marL="457200" rtl="0" algn="l">
              <a:spcBef>
                <a:spcPts val="0"/>
              </a:spcBef>
              <a:spcAft>
                <a:spcPts val="0"/>
              </a:spcAft>
              <a:buSzPts val="1100"/>
              <a:buChar char="-"/>
            </a:pPr>
            <a:r>
              <a:rPr lang="en"/>
              <a:t>The inputs </a:t>
            </a:r>
            <a:r>
              <a:rPr lang="en"/>
              <a:t>consist</a:t>
            </a:r>
            <a:r>
              <a:rPr lang="en"/>
              <a:t> of behavioral data from questionnaires (all, relevant, category, non-symptom), imaging data from f-MRI scans, and multimodal data (behavioral + imaging)... Due to these inputs and the size of the dataset, we decided random forest regression was the way to go</a:t>
            </a:r>
            <a:endParaRPr/>
          </a:p>
          <a:p>
            <a:pPr indent="-298450" lvl="0" marL="457200" rtl="0" algn="l">
              <a:spcBef>
                <a:spcPts val="0"/>
              </a:spcBef>
              <a:spcAft>
                <a:spcPts val="0"/>
              </a:spcAft>
              <a:buSzPts val="1100"/>
              <a:buChar char="-"/>
            </a:pPr>
            <a:r>
              <a:rPr lang="en"/>
              <a:t>From the four predictor targets:</a:t>
            </a:r>
            <a:endParaRPr/>
          </a:p>
          <a:p>
            <a:pPr indent="-298450" lvl="1" marL="914400" rtl="0" algn="l">
              <a:spcBef>
                <a:spcPts val="0"/>
              </a:spcBef>
              <a:spcAft>
                <a:spcPts val="0"/>
              </a:spcAft>
              <a:buSzPts val="1100"/>
              <a:buChar char="-"/>
            </a:pPr>
            <a:r>
              <a:rPr lang="en"/>
              <a:t>QIDS: depression severity</a:t>
            </a:r>
            <a:endParaRPr/>
          </a:p>
          <a:p>
            <a:pPr indent="-298450" lvl="1" marL="914400" rtl="0" algn="l">
              <a:spcBef>
                <a:spcPts val="0"/>
              </a:spcBef>
              <a:spcAft>
                <a:spcPts val="0"/>
              </a:spcAft>
              <a:buSzPts val="1100"/>
              <a:buChar char="-"/>
            </a:pPr>
            <a:r>
              <a:rPr lang="en"/>
              <a:t>STAI-State: state anxiety</a:t>
            </a:r>
            <a:endParaRPr/>
          </a:p>
          <a:p>
            <a:pPr indent="-298450" lvl="1" marL="914400" rtl="0" algn="l">
              <a:spcBef>
                <a:spcPts val="0"/>
              </a:spcBef>
              <a:spcAft>
                <a:spcPts val="0"/>
              </a:spcAft>
              <a:buSzPts val="1100"/>
              <a:buChar char="-"/>
            </a:pPr>
            <a:r>
              <a:rPr lang="en"/>
              <a:t>SHAPS: anhedonia</a:t>
            </a:r>
            <a:endParaRPr/>
          </a:p>
          <a:p>
            <a:pPr indent="-298450" lvl="1" marL="914400" rtl="0" algn="l">
              <a:spcBef>
                <a:spcPts val="0"/>
              </a:spcBef>
              <a:spcAft>
                <a:spcPts val="0"/>
              </a:spcAft>
              <a:buSzPts val="1100"/>
              <a:buChar char="-"/>
            </a:pPr>
            <a:r>
              <a:rPr lang="en"/>
              <a:t>PSS: perceived stress</a:t>
            </a:r>
            <a:endParaRPr/>
          </a:p>
          <a:p>
            <a:pPr indent="-298450" lvl="0" marL="457200" rtl="0" algn="l">
              <a:spcBef>
                <a:spcPts val="0"/>
              </a:spcBef>
              <a:spcAft>
                <a:spcPts val="0"/>
              </a:spcAft>
              <a:buSzPts val="1100"/>
              <a:buChar char="-"/>
            </a:pPr>
            <a:r>
              <a:rPr lang="en"/>
              <a:t>The model pipeline compares nine feature configurations:</a:t>
            </a:r>
            <a:endParaRPr/>
          </a:p>
          <a:p>
            <a:pPr indent="-298450" lvl="1" marL="914400" rtl="0" algn="l">
              <a:spcBef>
                <a:spcPts val="0"/>
              </a:spcBef>
              <a:spcAft>
                <a:spcPts val="0"/>
              </a:spcAft>
              <a:buSzPts val="1100"/>
              <a:buChar char="-"/>
            </a:pPr>
            <a:r>
              <a:rPr lang="en"/>
              <a:t>4 of which are behavioral</a:t>
            </a:r>
            <a:endParaRPr/>
          </a:p>
          <a:p>
            <a:pPr indent="-298450" lvl="1" marL="914400" rtl="0" algn="l">
              <a:spcBef>
                <a:spcPts val="0"/>
              </a:spcBef>
              <a:spcAft>
                <a:spcPts val="0"/>
              </a:spcAft>
              <a:buSzPts val="1100"/>
              <a:buChar char="-"/>
            </a:pPr>
            <a:r>
              <a:rPr lang="en"/>
              <a:t>1 of which is imaging only</a:t>
            </a:r>
            <a:endParaRPr/>
          </a:p>
          <a:p>
            <a:pPr indent="-298450" lvl="1" marL="914400" rtl="0" algn="l">
              <a:spcBef>
                <a:spcPts val="0"/>
              </a:spcBef>
              <a:spcAft>
                <a:spcPts val="0"/>
              </a:spcAft>
              <a:buSzPts val="1100"/>
              <a:buChar char="-"/>
            </a:pPr>
            <a:r>
              <a:rPr lang="en"/>
              <a:t>and the </a:t>
            </a:r>
            <a:r>
              <a:rPr lang="en"/>
              <a:t>remaining</a:t>
            </a:r>
            <a:r>
              <a:rPr lang="en"/>
              <a:t> 4, which are multimodal</a:t>
            </a:r>
            <a:endParaRPr/>
          </a:p>
          <a:p>
            <a:pPr indent="-298450" lvl="0" marL="457200" rtl="0" algn="l">
              <a:spcBef>
                <a:spcPts val="0"/>
              </a:spcBef>
              <a:spcAft>
                <a:spcPts val="0"/>
              </a:spcAft>
              <a:buSzPts val="1100"/>
              <a:buChar char="-"/>
            </a:pPr>
            <a:r>
              <a:rPr lang="en"/>
              <a:t>Our algorithm utilizes Random Forest Regression to build decision trees and then combine their predictions to produce a final result. </a:t>
            </a:r>
            <a:endParaRPr/>
          </a:p>
          <a:p>
            <a:pPr indent="-298450" lvl="1" marL="914400" rtl="0" algn="l">
              <a:spcBef>
                <a:spcPts val="0"/>
              </a:spcBef>
              <a:spcAft>
                <a:spcPts val="0"/>
              </a:spcAft>
              <a:buSzPts val="1100"/>
              <a:buChar char="-"/>
            </a:pPr>
            <a:r>
              <a:rPr lang="en"/>
              <a:t>Not </a:t>
            </a:r>
            <a:r>
              <a:rPr lang="en"/>
              <a:t>only</a:t>
            </a:r>
            <a:r>
              <a:rPr lang="en"/>
              <a:t> does this help capture the complex relationships between behavioral and imaging variables in the dataset, but it simultaneously reduces overfitting compared to a single decision tree</a:t>
            </a:r>
            <a:endParaRPr/>
          </a:p>
          <a:p>
            <a:pPr indent="0" lvl="0" marL="45720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6600e7170_10_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f6600e7170_10_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Read the question out loud. Say the one line answer. Three points on the left, three on the right. Finish with the closing line.</a:t>
            </a:r>
            <a:endParaRPr sz="900"/>
          </a:p>
        </p:txBody>
      </p:sp>
      <p:sp>
        <p:nvSpPr>
          <p:cNvPr id="197" name="Google Shape;197;g3f6600e7170_10_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5ed7ea8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5ed7ea8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our results showed that behavioral questionnaire data was the strongest predictor of symptom severity across all four targets. While we expected imaging to add predictive value, the current imaging features provided only limited improvement over behavioral data alone. We successfully developed a complete machine learning pipeline, compared multiple feature sets and data modalities, and created an interactive dashboard to explore the results. One of the biggest lessons from this project was that success depends not only on choosing a machine learning model, but also on thoughtful preprocessing, feature engineering, and rigorous validation.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59338b4c6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59338b4c6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any machine learning system used in healthcare, our model has both potential benefits and important limitations. On the positive side, it could help researchers better understand mental health symptom relationships, support earlier identification of individuals at risk, and provide clinicians with additional information to supplement—not replace—their assessments. However, there are also important challenges. Our model is not intended to diagnose mental illness, and its predictions should never replace evaluation by a licensed professional. In addition, models trained on a specific research dataset may not generalize to other populations, and sensitive mental health and neuroimaging data must be handled responsibly. Overall, our project highlights how machine learning can support mental health research while emphasizing the importance of ethical use and human oversight.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9338b4c6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59338b4c6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59338b4c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59338b4c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3218175" y="770900"/>
            <a:ext cx="5107500" cy="21588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4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3218175" y="3469700"/>
            <a:ext cx="2537100" cy="74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flipH="1">
            <a:off x="4002974" y="2678400"/>
            <a:ext cx="3732300" cy="9402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 name="Google Shape;13;p3"/>
          <p:cNvSpPr txBox="1"/>
          <p:nvPr>
            <p:ph hasCustomPrompt="1" idx="2" type="title"/>
          </p:nvPr>
        </p:nvSpPr>
        <p:spPr>
          <a:xfrm flipH="1">
            <a:off x="4002974" y="1723225"/>
            <a:ext cx="11175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 name="Google Shape;16;p4"/>
          <p:cNvSpPr txBox="1"/>
          <p:nvPr>
            <p:ph idx="1" type="body"/>
          </p:nvPr>
        </p:nvSpPr>
        <p:spPr>
          <a:xfrm>
            <a:off x="720000" y="1053775"/>
            <a:ext cx="7704000" cy="3554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a:solidFill>
                  <a:srgbClr val="434343"/>
                </a:solidFill>
              </a:defRPr>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17" name="Google Shape;17;p4"/>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 name="Google Shape;20;p5"/>
          <p:cNvSpPr txBox="1"/>
          <p:nvPr>
            <p:ph idx="1" type="subTitle"/>
          </p:nvPr>
        </p:nvSpPr>
        <p:spPr>
          <a:xfrm>
            <a:off x="3810245" y="2186251"/>
            <a:ext cx="2724300" cy="150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 name="Google Shape;21;p5"/>
          <p:cNvSpPr txBox="1"/>
          <p:nvPr>
            <p:ph idx="2" type="subTitle"/>
          </p:nvPr>
        </p:nvSpPr>
        <p:spPr>
          <a:xfrm>
            <a:off x="720000" y="2186251"/>
            <a:ext cx="2724300" cy="150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 name="Google Shape;22;p5"/>
          <p:cNvSpPr txBox="1"/>
          <p:nvPr>
            <p:ph idx="3" type="subTitle"/>
          </p:nvPr>
        </p:nvSpPr>
        <p:spPr>
          <a:xfrm>
            <a:off x="720000" y="1602700"/>
            <a:ext cx="27243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3" name="Google Shape;23;p5"/>
          <p:cNvSpPr txBox="1"/>
          <p:nvPr>
            <p:ph idx="4" type="subTitle"/>
          </p:nvPr>
        </p:nvSpPr>
        <p:spPr>
          <a:xfrm>
            <a:off x="3810239" y="1602700"/>
            <a:ext cx="27243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4" name="Google Shape;24;p5"/>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 name="Google Shape;27;p6"/>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720000" y="445025"/>
            <a:ext cx="4237200" cy="1087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 name="Google Shape;30;p7"/>
          <p:cNvSpPr txBox="1"/>
          <p:nvPr>
            <p:ph idx="1" type="body"/>
          </p:nvPr>
        </p:nvSpPr>
        <p:spPr>
          <a:xfrm>
            <a:off x="720000" y="1863900"/>
            <a:ext cx="4009200" cy="2706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solidFill>
                  <a:srgbClr val="434343"/>
                </a:solidFill>
              </a:defRPr>
            </a:lvl1pPr>
            <a:lvl2pPr indent="-304800" lvl="1" marL="914400" rtl="0">
              <a:lnSpc>
                <a:spcPct val="115000"/>
              </a:lnSpc>
              <a:spcBef>
                <a:spcPts val="0"/>
              </a:spcBef>
              <a:spcAft>
                <a:spcPts val="0"/>
              </a:spcAft>
              <a:buSzPts val="1200"/>
              <a:buChar char="○"/>
              <a:defRPr>
                <a:solidFill>
                  <a:srgbClr val="434343"/>
                </a:solidFill>
              </a:defRPr>
            </a:lvl2pPr>
            <a:lvl3pPr indent="-304800" lvl="2" marL="1371600" rtl="0">
              <a:lnSpc>
                <a:spcPct val="115000"/>
              </a:lnSpc>
              <a:spcBef>
                <a:spcPts val="0"/>
              </a:spcBef>
              <a:spcAft>
                <a:spcPts val="0"/>
              </a:spcAft>
              <a:buSzPts val="1200"/>
              <a:buChar char="■"/>
              <a:defRPr>
                <a:solidFill>
                  <a:srgbClr val="434343"/>
                </a:solidFill>
              </a:defRPr>
            </a:lvl3pPr>
            <a:lvl4pPr indent="-304800" lvl="3" marL="1828800" rtl="0">
              <a:lnSpc>
                <a:spcPct val="115000"/>
              </a:lnSpc>
              <a:spcBef>
                <a:spcPts val="0"/>
              </a:spcBef>
              <a:spcAft>
                <a:spcPts val="0"/>
              </a:spcAft>
              <a:buSzPts val="1200"/>
              <a:buChar char="●"/>
              <a:defRPr>
                <a:solidFill>
                  <a:srgbClr val="434343"/>
                </a:solidFill>
              </a:defRPr>
            </a:lvl4pPr>
            <a:lvl5pPr indent="-304800" lvl="4" marL="2286000" rtl="0">
              <a:lnSpc>
                <a:spcPct val="115000"/>
              </a:lnSpc>
              <a:spcBef>
                <a:spcPts val="0"/>
              </a:spcBef>
              <a:spcAft>
                <a:spcPts val="0"/>
              </a:spcAft>
              <a:buSzPts val="1200"/>
              <a:buChar char="○"/>
              <a:defRPr>
                <a:solidFill>
                  <a:srgbClr val="434343"/>
                </a:solidFill>
              </a:defRPr>
            </a:lvl5pPr>
            <a:lvl6pPr indent="-304800" lvl="5" marL="2743200" rtl="0">
              <a:lnSpc>
                <a:spcPct val="115000"/>
              </a:lnSpc>
              <a:spcBef>
                <a:spcPts val="0"/>
              </a:spcBef>
              <a:spcAft>
                <a:spcPts val="0"/>
              </a:spcAft>
              <a:buSzPts val="1200"/>
              <a:buChar char="■"/>
              <a:defRPr>
                <a:solidFill>
                  <a:srgbClr val="434343"/>
                </a:solidFill>
              </a:defRPr>
            </a:lvl6pPr>
            <a:lvl7pPr indent="-304800" lvl="6" marL="3200400" rtl="0">
              <a:lnSpc>
                <a:spcPct val="115000"/>
              </a:lnSpc>
              <a:spcBef>
                <a:spcPts val="0"/>
              </a:spcBef>
              <a:spcAft>
                <a:spcPts val="0"/>
              </a:spcAft>
              <a:buSzPts val="1200"/>
              <a:buChar char="●"/>
              <a:defRPr>
                <a:solidFill>
                  <a:srgbClr val="434343"/>
                </a:solidFill>
              </a:defRPr>
            </a:lvl7pPr>
            <a:lvl8pPr indent="-304800" lvl="7" marL="3657600" rtl="0">
              <a:lnSpc>
                <a:spcPct val="115000"/>
              </a:lnSpc>
              <a:spcBef>
                <a:spcPts val="0"/>
              </a:spcBef>
              <a:spcAft>
                <a:spcPts val="0"/>
              </a:spcAft>
              <a:buSzPts val="1200"/>
              <a:buChar char="○"/>
              <a:defRPr>
                <a:solidFill>
                  <a:srgbClr val="434343"/>
                </a:solidFill>
              </a:defRPr>
            </a:lvl8pPr>
            <a:lvl9pPr indent="-304800" lvl="8" marL="4114800" rtl="0">
              <a:lnSpc>
                <a:spcPct val="115000"/>
              </a:lnSpc>
              <a:spcBef>
                <a:spcPts val="0"/>
              </a:spcBef>
              <a:spcAft>
                <a:spcPts val="0"/>
              </a:spcAft>
              <a:buSzPts val="1200"/>
              <a:buChar char="■"/>
              <a:defRPr>
                <a:solidFill>
                  <a:srgbClr val="434343"/>
                </a:solidFill>
              </a:defRPr>
            </a:lvl9pPr>
          </a:lstStyle>
          <a:p/>
        </p:txBody>
      </p:sp>
      <p:sp>
        <p:nvSpPr>
          <p:cNvPr id="31" name="Google Shape;31;p7"/>
          <p:cNvSpPr/>
          <p:nvPr>
            <p:ph idx="2" type="pic"/>
          </p:nvPr>
        </p:nvSpPr>
        <p:spPr>
          <a:xfrm>
            <a:off x="5596300" y="535000"/>
            <a:ext cx="2832600" cy="4068900"/>
          </a:xfrm>
          <a:prstGeom prst="rect">
            <a:avLst/>
          </a:prstGeom>
          <a:noFill/>
          <a:ln>
            <a:noFill/>
          </a:ln>
        </p:spPr>
      </p:sp>
      <p:sp>
        <p:nvSpPr>
          <p:cNvPr id="32" name="Google Shape;32;p7"/>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2724150" y="1307100"/>
            <a:ext cx="36957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35" name="Google Shape;35;p8"/>
          <p:cNvSpPr/>
          <p:nvPr/>
        </p:nvSpPr>
        <p:spPr>
          <a:xfrm>
            <a:off x="-2550" y="4703625"/>
            <a:ext cx="91491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txBox="1"/>
          <p:nvPr>
            <p:ph type="title"/>
          </p:nvPr>
        </p:nvSpPr>
        <p:spPr>
          <a:xfrm>
            <a:off x="2201850" y="1584874"/>
            <a:ext cx="47403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8" name="Google Shape;38;p9"/>
          <p:cNvSpPr txBox="1"/>
          <p:nvPr>
            <p:ph idx="1" type="subTitle"/>
          </p:nvPr>
        </p:nvSpPr>
        <p:spPr>
          <a:xfrm>
            <a:off x="2201925" y="2427926"/>
            <a:ext cx="4740300" cy="11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9" name="Google Shape;39;p9"/>
          <p:cNvSpPr/>
          <p:nvPr/>
        </p:nvSpPr>
        <p:spPr>
          <a:xfrm>
            <a:off x="-5050" y="4703625"/>
            <a:ext cx="91491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p:nvPr>
            <p:ph idx="2" type="pic"/>
          </p:nvPr>
        </p:nvSpPr>
        <p:spPr>
          <a:xfrm>
            <a:off x="-6875" y="0"/>
            <a:ext cx="9144000" cy="5157300"/>
          </a:xfrm>
          <a:prstGeom prst="rect">
            <a:avLst/>
          </a:prstGeom>
          <a:noFill/>
          <a:ln>
            <a:noFill/>
          </a:ln>
        </p:spPr>
      </p:sp>
      <p:sp>
        <p:nvSpPr>
          <p:cNvPr id="42" name="Google Shape;42;p10"/>
          <p:cNvSpPr txBox="1"/>
          <p:nvPr>
            <p:ph type="title"/>
          </p:nvPr>
        </p:nvSpPr>
        <p:spPr>
          <a:xfrm>
            <a:off x="720000" y="4038000"/>
            <a:ext cx="7704000" cy="5727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715178" y="914100"/>
            <a:ext cx="3981600" cy="1511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72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5" name="Google Shape;45;p11"/>
          <p:cNvSpPr txBox="1"/>
          <p:nvPr>
            <p:ph idx="1" type="subTitle"/>
          </p:nvPr>
        </p:nvSpPr>
        <p:spPr>
          <a:xfrm>
            <a:off x="715175" y="2970625"/>
            <a:ext cx="3981600" cy="117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6" name="Shape 4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7" name="Shape 47"/>
        <p:cNvGrpSpPr/>
        <p:nvPr/>
      </p:nvGrpSpPr>
      <p:grpSpPr>
        <a:xfrm>
          <a:off x="0" y="0"/>
          <a:ext cx="0" cy="0"/>
          <a:chOff x="0" y="0"/>
          <a:chExt cx="0" cy="0"/>
        </a:xfrm>
      </p:grpSpPr>
      <p:sp>
        <p:nvSpPr>
          <p:cNvPr id="48" name="Google Shape;4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9" name="Google Shape;49;p13"/>
          <p:cNvSpPr txBox="1"/>
          <p:nvPr>
            <p:ph hasCustomPrompt="1" idx="2" type="title"/>
          </p:nvPr>
        </p:nvSpPr>
        <p:spPr>
          <a:xfrm>
            <a:off x="720000" y="1557083"/>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rgbClr val="48557B"/>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 name="Google Shape;50;p13"/>
          <p:cNvSpPr txBox="1"/>
          <p:nvPr>
            <p:ph hasCustomPrompt="1" idx="3" type="title"/>
          </p:nvPr>
        </p:nvSpPr>
        <p:spPr>
          <a:xfrm>
            <a:off x="720000" y="29904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p:nvPr>
            <p:ph hasCustomPrompt="1" idx="4" type="title"/>
          </p:nvPr>
        </p:nvSpPr>
        <p:spPr>
          <a:xfrm>
            <a:off x="2885875" y="1557083"/>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rgbClr val="48557B"/>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 name="Google Shape;52;p13"/>
          <p:cNvSpPr txBox="1"/>
          <p:nvPr>
            <p:ph hasCustomPrompt="1" idx="5" type="title"/>
          </p:nvPr>
        </p:nvSpPr>
        <p:spPr>
          <a:xfrm>
            <a:off x="2885875" y="29904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3" name="Google Shape;53;p13"/>
          <p:cNvSpPr txBox="1"/>
          <p:nvPr>
            <p:ph hasCustomPrompt="1" idx="6" type="title"/>
          </p:nvPr>
        </p:nvSpPr>
        <p:spPr>
          <a:xfrm>
            <a:off x="5051750" y="1557083"/>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rgbClr val="48557B"/>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p:nvPr>
            <p:ph hasCustomPrompt="1" idx="7" type="title"/>
          </p:nvPr>
        </p:nvSpPr>
        <p:spPr>
          <a:xfrm>
            <a:off x="5051750" y="29904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p:nvPr>
            <p:ph idx="1" type="subTitle"/>
          </p:nvPr>
        </p:nvSpPr>
        <p:spPr>
          <a:xfrm>
            <a:off x="720000" y="2004675"/>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56" name="Google Shape;56;p13"/>
          <p:cNvSpPr txBox="1"/>
          <p:nvPr>
            <p:ph idx="8" type="subTitle"/>
          </p:nvPr>
        </p:nvSpPr>
        <p:spPr>
          <a:xfrm>
            <a:off x="2885875" y="2004675"/>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57" name="Google Shape;57;p13"/>
          <p:cNvSpPr txBox="1"/>
          <p:nvPr>
            <p:ph idx="9" type="subTitle"/>
          </p:nvPr>
        </p:nvSpPr>
        <p:spPr>
          <a:xfrm>
            <a:off x="5051750" y="2004675"/>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58" name="Google Shape;58;p13"/>
          <p:cNvSpPr txBox="1"/>
          <p:nvPr>
            <p:ph idx="13" type="subTitle"/>
          </p:nvPr>
        </p:nvSpPr>
        <p:spPr>
          <a:xfrm>
            <a:off x="720000" y="3438150"/>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59" name="Google Shape;59;p13"/>
          <p:cNvSpPr txBox="1"/>
          <p:nvPr>
            <p:ph idx="14" type="subTitle"/>
          </p:nvPr>
        </p:nvSpPr>
        <p:spPr>
          <a:xfrm>
            <a:off x="2885875" y="3438150"/>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60" name="Google Shape;60;p13"/>
          <p:cNvSpPr txBox="1"/>
          <p:nvPr>
            <p:ph idx="15" type="subTitle"/>
          </p:nvPr>
        </p:nvSpPr>
        <p:spPr>
          <a:xfrm>
            <a:off x="5051750" y="3438150"/>
            <a:ext cx="21660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rgbClr val="192031"/>
                </a:solidFill>
                <a:latin typeface="Familjen Grotesk"/>
                <a:ea typeface="Familjen Grotesk"/>
                <a:cs typeface="Familjen Grotesk"/>
                <a:sym typeface="Familjen Grotesk"/>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61" name="Shape 61"/>
        <p:cNvGrpSpPr/>
        <p:nvPr/>
      </p:nvGrpSpPr>
      <p:grpSpPr>
        <a:xfrm>
          <a:off x="0" y="0"/>
          <a:ext cx="0" cy="0"/>
          <a:chOff x="0" y="0"/>
          <a:chExt cx="0" cy="0"/>
        </a:xfrm>
      </p:grpSpPr>
      <p:sp>
        <p:nvSpPr>
          <p:cNvPr id="62" name="Google Shape;62;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3" name="Google Shape;63;p14"/>
          <p:cNvSpPr txBox="1"/>
          <p:nvPr>
            <p:ph idx="1" type="body"/>
          </p:nvPr>
        </p:nvSpPr>
        <p:spPr>
          <a:xfrm>
            <a:off x="720000" y="1056882"/>
            <a:ext cx="7704000" cy="1110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a:solidFill>
                  <a:srgbClr val="434343"/>
                </a:solidFill>
              </a:defRPr>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64" name="Google Shape;64;p14"/>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65" name="Shape 65"/>
        <p:cNvGrpSpPr/>
        <p:nvPr/>
      </p:nvGrpSpPr>
      <p:grpSpPr>
        <a:xfrm>
          <a:off x="0" y="0"/>
          <a:ext cx="0" cy="0"/>
          <a:chOff x="0" y="0"/>
          <a:chExt cx="0" cy="0"/>
        </a:xfrm>
      </p:grpSpPr>
      <p:sp>
        <p:nvSpPr>
          <p:cNvPr id="66" name="Google Shape;66;p15"/>
          <p:cNvSpPr txBox="1"/>
          <p:nvPr>
            <p:ph hasCustomPrompt="1" type="title"/>
          </p:nvPr>
        </p:nvSpPr>
        <p:spPr>
          <a:xfrm>
            <a:off x="4936301" y="1979039"/>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7" name="Google Shape;67;p15"/>
          <p:cNvSpPr txBox="1"/>
          <p:nvPr>
            <p:ph idx="1" type="subTitle"/>
          </p:nvPr>
        </p:nvSpPr>
        <p:spPr>
          <a:xfrm>
            <a:off x="4936301" y="2565661"/>
            <a:ext cx="3492600" cy="59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68" name="Google Shape;68;p15"/>
          <p:cNvSpPr txBox="1"/>
          <p:nvPr>
            <p:ph hasCustomPrompt="1" idx="2" type="title"/>
          </p:nvPr>
        </p:nvSpPr>
        <p:spPr>
          <a:xfrm>
            <a:off x="4936301" y="671095"/>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9" name="Google Shape;69;p15"/>
          <p:cNvSpPr txBox="1"/>
          <p:nvPr>
            <p:ph idx="3" type="subTitle"/>
          </p:nvPr>
        </p:nvSpPr>
        <p:spPr>
          <a:xfrm>
            <a:off x="4936301" y="1257717"/>
            <a:ext cx="3492600" cy="59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70" name="Google Shape;70;p15"/>
          <p:cNvSpPr txBox="1"/>
          <p:nvPr>
            <p:ph hasCustomPrompt="1" idx="4" type="title"/>
          </p:nvPr>
        </p:nvSpPr>
        <p:spPr>
          <a:xfrm>
            <a:off x="4936301" y="3286983"/>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1" name="Google Shape;71;p15"/>
          <p:cNvSpPr txBox="1"/>
          <p:nvPr>
            <p:ph idx="5" type="subTitle"/>
          </p:nvPr>
        </p:nvSpPr>
        <p:spPr>
          <a:xfrm>
            <a:off x="4936300" y="3873598"/>
            <a:ext cx="3492600" cy="59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8">
    <p:spTree>
      <p:nvGrpSpPr>
        <p:cNvPr id="72" name="Shape 72"/>
        <p:cNvGrpSpPr/>
        <p:nvPr/>
      </p:nvGrpSpPr>
      <p:grpSpPr>
        <a:xfrm>
          <a:off x="0" y="0"/>
          <a:ext cx="0" cy="0"/>
          <a:chOff x="0" y="0"/>
          <a:chExt cx="0" cy="0"/>
        </a:xfrm>
      </p:grpSpPr>
      <p:sp>
        <p:nvSpPr>
          <p:cNvPr id="73" name="Google Shape;73;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4" name="Google Shape;74;p16"/>
          <p:cNvSpPr txBox="1"/>
          <p:nvPr>
            <p:ph idx="1" type="subTitle"/>
          </p:nvPr>
        </p:nvSpPr>
        <p:spPr>
          <a:xfrm>
            <a:off x="1993068" y="1608602"/>
            <a:ext cx="6198300" cy="46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FF0000"/>
              </a:buClr>
              <a:buSzPts val="2400"/>
              <a:buFont typeface="Raleway"/>
              <a:buNone/>
              <a:defRPr b="1" sz="1800">
                <a:latin typeface="Raleway"/>
                <a:ea typeface="Raleway"/>
                <a:cs typeface="Raleway"/>
                <a:sym typeface="Raleway"/>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p:txBody>
      </p:sp>
      <p:sp>
        <p:nvSpPr>
          <p:cNvPr id="75" name="Google Shape;75;p16"/>
          <p:cNvSpPr txBox="1"/>
          <p:nvPr>
            <p:ph idx="2" type="subTitle"/>
          </p:nvPr>
        </p:nvSpPr>
        <p:spPr>
          <a:xfrm>
            <a:off x="1993068" y="2752101"/>
            <a:ext cx="6198300" cy="46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FF0000"/>
              </a:buClr>
              <a:buSzPts val="2400"/>
              <a:buFont typeface="Raleway"/>
              <a:buNone/>
              <a:defRPr b="1" sz="1800">
                <a:latin typeface="Raleway"/>
                <a:ea typeface="Raleway"/>
                <a:cs typeface="Raleway"/>
                <a:sym typeface="Raleway"/>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p:txBody>
      </p:sp>
      <p:sp>
        <p:nvSpPr>
          <p:cNvPr id="76" name="Google Shape;76;p16"/>
          <p:cNvSpPr txBox="1"/>
          <p:nvPr>
            <p:ph idx="3" type="subTitle"/>
          </p:nvPr>
        </p:nvSpPr>
        <p:spPr>
          <a:xfrm>
            <a:off x="1993068" y="3895600"/>
            <a:ext cx="6198300" cy="46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FF0000"/>
              </a:buClr>
              <a:buSzPts val="2400"/>
              <a:buFont typeface="Raleway"/>
              <a:buNone/>
              <a:defRPr b="1" sz="1800">
                <a:latin typeface="Raleway"/>
                <a:ea typeface="Raleway"/>
                <a:cs typeface="Raleway"/>
                <a:sym typeface="Raleway"/>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p:txBody>
      </p:sp>
      <p:sp>
        <p:nvSpPr>
          <p:cNvPr id="77" name="Google Shape;77;p16"/>
          <p:cNvSpPr txBox="1"/>
          <p:nvPr>
            <p:ph idx="4" type="subTitle"/>
          </p:nvPr>
        </p:nvSpPr>
        <p:spPr>
          <a:xfrm>
            <a:off x="1985625" y="1211225"/>
            <a:ext cx="61983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 name="Google Shape;78;p16"/>
          <p:cNvSpPr txBox="1"/>
          <p:nvPr>
            <p:ph idx="5" type="subTitle"/>
          </p:nvPr>
        </p:nvSpPr>
        <p:spPr>
          <a:xfrm>
            <a:off x="1985625" y="2354729"/>
            <a:ext cx="61983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16"/>
          <p:cNvSpPr txBox="1"/>
          <p:nvPr>
            <p:ph idx="6" type="subTitle"/>
          </p:nvPr>
        </p:nvSpPr>
        <p:spPr>
          <a:xfrm>
            <a:off x="1985625" y="3498232"/>
            <a:ext cx="61983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16"/>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
    <p:spTree>
      <p:nvGrpSpPr>
        <p:cNvPr id="81" name="Shape 81"/>
        <p:cNvGrpSpPr/>
        <p:nvPr/>
      </p:nvGrpSpPr>
      <p:grpSpPr>
        <a:xfrm>
          <a:off x="0" y="0"/>
          <a:ext cx="0" cy="0"/>
          <a:chOff x="0" y="0"/>
          <a:chExt cx="0" cy="0"/>
        </a:xfrm>
      </p:grpSpPr>
      <p:sp>
        <p:nvSpPr>
          <p:cNvPr id="82" name="Google Shape;8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3" name="Google Shape;83;p17"/>
          <p:cNvSpPr txBox="1"/>
          <p:nvPr>
            <p:ph idx="1" type="subTitle"/>
          </p:nvPr>
        </p:nvSpPr>
        <p:spPr>
          <a:xfrm>
            <a:off x="937625" y="2184114"/>
            <a:ext cx="2175300" cy="166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4" name="Google Shape;84;p17"/>
          <p:cNvSpPr txBox="1"/>
          <p:nvPr>
            <p:ph idx="2" type="subTitle"/>
          </p:nvPr>
        </p:nvSpPr>
        <p:spPr>
          <a:xfrm>
            <a:off x="3484347" y="2184114"/>
            <a:ext cx="2175300" cy="166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5" name="Google Shape;85;p17"/>
          <p:cNvSpPr txBox="1"/>
          <p:nvPr>
            <p:ph idx="3" type="subTitle"/>
          </p:nvPr>
        </p:nvSpPr>
        <p:spPr>
          <a:xfrm>
            <a:off x="6031075" y="2184114"/>
            <a:ext cx="2175300" cy="166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6" name="Google Shape;86;p17"/>
          <p:cNvSpPr txBox="1"/>
          <p:nvPr>
            <p:ph idx="4" type="subTitle"/>
          </p:nvPr>
        </p:nvSpPr>
        <p:spPr>
          <a:xfrm>
            <a:off x="937625" y="1730489"/>
            <a:ext cx="2175300" cy="430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87" name="Google Shape;87;p17"/>
          <p:cNvSpPr txBox="1"/>
          <p:nvPr>
            <p:ph idx="5" type="subTitle"/>
          </p:nvPr>
        </p:nvSpPr>
        <p:spPr>
          <a:xfrm>
            <a:off x="3484350" y="1730489"/>
            <a:ext cx="2175300" cy="430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88" name="Google Shape;88;p17"/>
          <p:cNvSpPr txBox="1"/>
          <p:nvPr>
            <p:ph idx="6" type="subTitle"/>
          </p:nvPr>
        </p:nvSpPr>
        <p:spPr>
          <a:xfrm>
            <a:off x="6031075" y="1730489"/>
            <a:ext cx="2175300" cy="430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89" name="Google Shape;89;p17"/>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0" name="Shape 90"/>
        <p:cNvGrpSpPr/>
        <p:nvPr/>
      </p:nvGrpSpPr>
      <p:grpSpPr>
        <a:xfrm>
          <a:off x="0" y="0"/>
          <a:ext cx="0" cy="0"/>
          <a:chOff x="0" y="0"/>
          <a:chExt cx="0" cy="0"/>
        </a:xfrm>
      </p:grpSpPr>
      <p:sp>
        <p:nvSpPr>
          <p:cNvPr id="91" name="Google Shape;9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 name="Google Shape;92;p18"/>
          <p:cNvSpPr txBox="1"/>
          <p:nvPr>
            <p:ph idx="1" type="subTitle"/>
          </p:nvPr>
        </p:nvSpPr>
        <p:spPr>
          <a:xfrm>
            <a:off x="720000" y="1306475"/>
            <a:ext cx="31176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93" name="Google Shape;93;p18"/>
          <p:cNvSpPr txBox="1"/>
          <p:nvPr>
            <p:ph idx="2" type="subTitle"/>
          </p:nvPr>
        </p:nvSpPr>
        <p:spPr>
          <a:xfrm>
            <a:off x="720000" y="1756175"/>
            <a:ext cx="3117600" cy="897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4" name="Google Shape;94;p18"/>
          <p:cNvSpPr txBox="1"/>
          <p:nvPr>
            <p:ph idx="3" type="subTitle"/>
          </p:nvPr>
        </p:nvSpPr>
        <p:spPr>
          <a:xfrm>
            <a:off x="4031384" y="1756175"/>
            <a:ext cx="3117600" cy="897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5" name="Google Shape;95;p18"/>
          <p:cNvSpPr txBox="1"/>
          <p:nvPr>
            <p:ph idx="4" type="subTitle"/>
          </p:nvPr>
        </p:nvSpPr>
        <p:spPr>
          <a:xfrm>
            <a:off x="720000" y="3371900"/>
            <a:ext cx="3117600" cy="897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8"/>
          <p:cNvSpPr txBox="1"/>
          <p:nvPr>
            <p:ph idx="5" type="subTitle"/>
          </p:nvPr>
        </p:nvSpPr>
        <p:spPr>
          <a:xfrm>
            <a:off x="4031384" y="3371900"/>
            <a:ext cx="3117600" cy="897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7" name="Google Shape;97;p18"/>
          <p:cNvSpPr txBox="1"/>
          <p:nvPr>
            <p:ph idx="6" type="subTitle"/>
          </p:nvPr>
        </p:nvSpPr>
        <p:spPr>
          <a:xfrm>
            <a:off x="720000" y="2922200"/>
            <a:ext cx="31176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98" name="Google Shape;98;p18"/>
          <p:cNvSpPr txBox="1"/>
          <p:nvPr>
            <p:ph idx="7" type="subTitle"/>
          </p:nvPr>
        </p:nvSpPr>
        <p:spPr>
          <a:xfrm>
            <a:off x="4031378" y="1306475"/>
            <a:ext cx="31176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99" name="Google Shape;99;p18"/>
          <p:cNvSpPr txBox="1"/>
          <p:nvPr>
            <p:ph idx="8" type="subTitle"/>
          </p:nvPr>
        </p:nvSpPr>
        <p:spPr>
          <a:xfrm>
            <a:off x="4031378" y="2922200"/>
            <a:ext cx="31176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00" name="Google Shape;100;p18"/>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1" name="Shape 101"/>
        <p:cNvGrpSpPr/>
        <p:nvPr/>
      </p:nvGrpSpPr>
      <p:grpSpPr>
        <a:xfrm>
          <a:off x="0" y="0"/>
          <a:ext cx="0" cy="0"/>
          <a:chOff x="0" y="0"/>
          <a:chExt cx="0" cy="0"/>
        </a:xfrm>
      </p:grpSpPr>
      <p:sp>
        <p:nvSpPr>
          <p:cNvPr id="102" name="Google Shape;10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 name="Google Shape;103;p19"/>
          <p:cNvSpPr txBox="1"/>
          <p:nvPr>
            <p:ph idx="1" type="subTitle"/>
          </p:nvPr>
        </p:nvSpPr>
        <p:spPr>
          <a:xfrm>
            <a:off x="720000" y="1749944"/>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19"/>
          <p:cNvSpPr txBox="1"/>
          <p:nvPr>
            <p:ph idx="2" type="subTitle"/>
          </p:nvPr>
        </p:nvSpPr>
        <p:spPr>
          <a:xfrm>
            <a:off x="3502950" y="1749943"/>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 name="Google Shape;105;p19"/>
          <p:cNvSpPr txBox="1"/>
          <p:nvPr>
            <p:ph idx="3" type="subTitle"/>
          </p:nvPr>
        </p:nvSpPr>
        <p:spPr>
          <a:xfrm>
            <a:off x="720000" y="3364249"/>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6" name="Google Shape;106;p19"/>
          <p:cNvSpPr txBox="1"/>
          <p:nvPr>
            <p:ph idx="4" type="subTitle"/>
          </p:nvPr>
        </p:nvSpPr>
        <p:spPr>
          <a:xfrm>
            <a:off x="3502950" y="3364246"/>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19"/>
          <p:cNvSpPr txBox="1"/>
          <p:nvPr>
            <p:ph idx="5" type="subTitle"/>
          </p:nvPr>
        </p:nvSpPr>
        <p:spPr>
          <a:xfrm>
            <a:off x="6285900" y="1749943"/>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8" name="Google Shape;108;p19"/>
          <p:cNvSpPr txBox="1"/>
          <p:nvPr>
            <p:ph idx="6" type="subTitle"/>
          </p:nvPr>
        </p:nvSpPr>
        <p:spPr>
          <a:xfrm>
            <a:off x="6285900" y="3364246"/>
            <a:ext cx="2138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19"/>
          <p:cNvSpPr txBox="1"/>
          <p:nvPr>
            <p:ph idx="7" type="subTitle"/>
          </p:nvPr>
        </p:nvSpPr>
        <p:spPr>
          <a:xfrm>
            <a:off x="720000" y="1456811"/>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0" name="Google Shape;110;p19"/>
          <p:cNvSpPr txBox="1"/>
          <p:nvPr>
            <p:ph idx="8" type="subTitle"/>
          </p:nvPr>
        </p:nvSpPr>
        <p:spPr>
          <a:xfrm>
            <a:off x="3502950" y="1456811"/>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1" name="Google Shape;111;p19"/>
          <p:cNvSpPr txBox="1"/>
          <p:nvPr>
            <p:ph idx="9" type="subTitle"/>
          </p:nvPr>
        </p:nvSpPr>
        <p:spPr>
          <a:xfrm>
            <a:off x="6287838" y="1456811"/>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2" name="Google Shape;112;p19"/>
          <p:cNvSpPr txBox="1"/>
          <p:nvPr>
            <p:ph idx="13" type="subTitle"/>
          </p:nvPr>
        </p:nvSpPr>
        <p:spPr>
          <a:xfrm>
            <a:off x="720000" y="3069531"/>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3" name="Google Shape;113;p19"/>
          <p:cNvSpPr txBox="1"/>
          <p:nvPr>
            <p:ph idx="14" type="subTitle"/>
          </p:nvPr>
        </p:nvSpPr>
        <p:spPr>
          <a:xfrm>
            <a:off x="3502950" y="3069529"/>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4" name="Google Shape;114;p19"/>
          <p:cNvSpPr txBox="1"/>
          <p:nvPr>
            <p:ph idx="15" type="subTitle"/>
          </p:nvPr>
        </p:nvSpPr>
        <p:spPr>
          <a:xfrm>
            <a:off x="6287700" y="3069534"/>
            <a:ext cx="2136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Familjen Grotesk"/>
                <a:ea typeface="Familjen Grotesk"/>
                <a:cs typeface="Familjen Grotesk"/>
                <a:sym typeface="Familjen Grotesk"/>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15" name="Google Shape;115;p19"/>
          <p:cNvSpPr/>
          <p:nvPr/>
        </p:nvSpPr>
        <p:spPr>
          <a:xfrm>
            <a:off x="-5050" y="4703625"/>
            <a:ext cx="9144000" cy="48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16" name="Shape 116"/>
        <p:cNvGrpSpPr/>
        <p:nvPr/>
      </p:nvGrpSpPr>
      <p:grpSpPr>
        <a:xfrm>
          <a:off x="0" y="0"/>
          <a:ext cx="0" cy="0"/>
          <a:chOff x="0" y="0"/>
          <a:chExt cx="0" cy="0"/>
        </a:xfrm>
      </p:grpSpPr>
      <p:sp>
        <p:nvSpPr>
          <p:cNvPr id="117" name="Google Shape;117;p20"/>
          <p:cNvSpPr txBox="1"/>
          <p:nvPr>
            <p:ph type="ctrTitle"/>
          </p:nvPr>
        </p:nvSpPr>
        <p:spPr>
          <a:xfrm>
            <a:off x="1382675" y="885550"/>
            <a:ext cx="3513600" cy="99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8" name="Google Shape;118;p20"/>
          <p:cNvSpPr txBox="1"/>
          <p:nvPr>
            <p:ph idx="1" type="subTitle"/>
          </p:nvPr>
        </p:nvSpPr>
        <p:spPr>
          <a:xfrm>
            <a:off x="1382675" y="1840075"/>
            <a:ext cx="3513600" cy="99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9" name="Google Shape;119;p20"/>
          <p:cNvSpPr txBox="1"/>
          <p:nvPr/>
        </p:nvSpPr>
        <p:spPr>
          <a:xfrm>
            <a:off x="715100" y="3496925"/>
            <a:ext cx="4201500" cy="615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en" sz="1000">
                <a:solidFill>
                  <a:schemeClr val="dk1"/>
                </a:solidFill>
                <a:latin typeface="Barlow"/>
                <a:ea typeface="Barlow"/>
                <a:cs typeface="Barlow"/>
                <a:sym typeface="Barlow"/>
              </a:rPr>
              <a:t>CREDITS:</a:t>
            </a:r>
            <a:r>
              <a:rPr lang="en" sz="1000">
                <a:solidFill>
                  <a:schemeClr val="dk1"/>
                </a:solidFill>
                <a:latin typeface="Barlow"/>
                <a:ea typeface="Barlow"/>
                <a:cs typeface="Barlow"/>
                <a:sym typeface="Barlow"/>
              </a:rPr>
              <a:t> This presentation template was created by </a:t>
            </a:r>
            <a:r>
              <a:rPr b="1" lang="en" sz="1000" u="sng">
                <a:solidFill>
                  <a:schemeClr val="dk1"/>
                </a:solidFill>
                <a:latin typeface="Barlow"/>
                <a:ea typeface="Barlow"/>
                <a:cs typeface="Barlow"/>
                <a:sym typeface="Barlow"/>
                <a:hlinkClick r:id="rId2">
                  <a:extLst>
                    <a:ext uri="{A12FA001-AC4F-418D-AE19-62706E023703}">
                      <ahyp:hlinkClr val="tx"/>
                    </a:ext>
                  </a:extLst>
                </a:hlinkClick>
              </a:rPr>
              <a:t>Slidesgo</a:t>
            </a:r>
            <a:r>
              <a:rPr b="1" lang="en" sz="1000" u="sng">
                <a:solidFill>
                  <a:schemeClr val="dk1"/>
                </a:solidFill>
                <a:latin typeface="Barlow"/>
                <a:ea typeface="Barlow"/>
                <a:cs typeface="Barlow"/>
                <a:sym typeface="Barlow"/>
              </a:rPr>
              <a:t>,</a:t>
            </a:r>
            <a:r>
              <a:rPr b="1" lang="en" sz="1000">
                <a:solidFill>
                  <a:schemeClr val="dk1"/>
                </a:solidFill>
                <a:latin typeface="Barlow"/>
                <a:ea typeface="Barlow"/>
                <a:cs typeface="Barlow"/>
                <a:sym typeface="Barlow"/>
              </a:rPr>
              <a:t> </a:t>
            </a:r>
            <a:r>
              <a:rPr lang="en" sz="1000">
                <a:solidFill>
                  <a:schemeClr val="dk1"/>
                </a:solidFill>
                <a:latin typeface="Barlow"/>
                <a:ea typeface="Barlow"/>
                <a:cs typeface="Barlow"/>
                <a:sym typeface="Barlow"/>
              </a:rPr>
              <a:t>and includes </a:t>
            </a:r>
            <a:r>
              <a:rPr lang="en" sz="1000">
                <a:solidFill>
                  <a:schemeClr val="dk1"/>
                </a:solidFill>
                <a:latin typeface="Barlow"/>
                <a:ea typeface="Barlow"/>
                <a:cs typeface="Barlow"/>
                <a:sym typeface="Barlow"/>
              </a:rPr>
              <a:t>icons by </a:t>
            </a:r>
            <a:r>
              <a:rPr b="1" lang="en" sz="1000" u="sng">
                <a:solidFill>
                  <a:schemeClr val="dk1"/>
                </a:solidFill>
                <a:latin typeface="Barlow"/>
                <a:ea typeface="Barlow"/>
                <a:cs typeface="Barlow"/>
                <a:sym typeface="Barlow"/>
                <a:hlinkClick r:id="rId3">
                  <a:extLst>
                    <a:ext uri="{A12FA001-AC4F-418D-AE19-62706E023703}">
                      <ahyp:hlinkClr val="tx"/>
                    </a:ext>
                  </a:extLst>
                </a:hlinkClick>
              </a:rPr>
              <a:t>Flaticon</a:t>
            </a:r>
            <a:r>
              <a:rPr b="1" lang="en" sz="1000">
                <a:solidFill>
                  <a:schemeClr val="dk1"/>
                </a:solidFill>
                <a:latin typeface="Barlow"/>
                <a:ea typeface="Barlow"/>
                <a:cs typeface="Barlow"/>
                <a:sym typeface="Barlow"/>
              </a:rPr>
              <a:t> </a:t>
            </a:r>
            <a:r>
              <a:rPr lang="en" sz="1000">
                <a:solidFill>
                  <a:schemeClr val="dk1"/>
                </a:solidFill>
                <a:latin typeface="Barlow"/>
                <a:ea typeface="Barlow"/>
                <a:cs typeface="Barlow"/>
                <a:sym typeface="Barlow"/>
              </a:rPr>
              <a:t>and infographics &amp; images by </a:t>
            </a:r>
            <a:r>
              <a:rPr b="1" lang="en" sz="1000" u="sng">
                <a:solidFill>
                  <a:schemeClr val="dk1"/>
                </a:solidFill>
                <a:latin typeface="Barlow"/>
                <a:ea typeface="Barlow"/>
                <a:cs typeface="Barlow"/>
                <a:sym typeface="Barlow"/>
                <a:hlinkClick r:id="rId4">
                  <a:extLst>
                    <a:ext uri="{A12FA001-AC4F-418D-AE19-62706E023703}">
                      <ahyp:hlinkClr val="tx"/>
                    </a:ext>
                  </a:extLst>
                </a:hlinkClick>
              </a:rPr>
              <a:t>Freepik</a:t>
            </a:r>
            <a:endParaRPr b="1" sz="1000" u="sng">
              <a:solidFill>
                <a:schemeClr val="dk1"/>
              </a:solidFill>
              <a:highlight>
                <a:srgbClr val="DFDEFC"/>
              </a:highlight>
              <a:latin typeface="Barlow"/>
              <a:ea typeface="Barlow"/>
              <a:cs typeface="Barlow"/>
              <a:sym typeface="Barlow"/>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20" name="Shape 120"/>
        <p:cNvGrpSpPr/>
        <p:nvPr/>
      </p:nvGrpSpPr>
      <p:grpSpPr>
        <a:xfrm>
          <a:off x="0" y="0"/>
          <a:ext cx="0" cy="0"/>
          <a:chOff x="0" y="0"/>
          <a:chExt cx="0" cy="0"/>
        </a:xfrm>
      </p:grpSpPr>
      <p:sp>
        <p:nvSpPr>
          <p:cNvPr id="121" name="Google Shape;121;p21"/>
          <p:cNvSpPr/>
          <p:nvPr/>
        </p:nvSpPr>
        <p:spPr>
          <a:xfrm>
            <a:off x="-5050" y="-23700"/>
            <a:ext cx="516900" cy="519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22" name="Shape 122"/>
        <p:cNvGrpSpPr/>
        <p:nvPr/>
      </p:nvGrpSpPr>
      <p:grpSpPr>
        <a:xfrm>
          <a:off x="0" y="0"/>
          <a:ext cx="0" cy="0"/>
          <a:chOff x="0" y="0"/>
          <a:chExt cx="0" cy="0"/>
        </a:xfrm>
      </p:grpSpPr>
      <p:grpSp>
        <p:nvGrpSpPr>
          <p:cNvPr id="123" name="Google Shape;123;p22"/>
          <p:cNvGrpSpPr/>
          <p:nvPr/>
        </p:nvGrpSpPr>
        <p:grpSpPr>
          <a:xfrm>
            <a:off x="-5050" y="-23700"/>
            <a:ext cx="9149050" cy="5190900"/>
            <a:chOff x="-5050" y="-23700"/>
            <a:chExt cx="9149050" cy="5190900"/>
          </a:xfrm>
        </p:grpSpPr>
        <p:sp>
          <p:nvSpPr>
            <p:cNvPr id="124" name="Google Shape;124;p22"/>
            <p:cNvSpPr/>
            <p:nvPr/>
          </p:nvSpPr>
          <p:spPr>
            <a:xfrm>
              <a:off x="-5050" y="-23700"/>
              <a:ext cx="516900" cy="519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25" name="Google Shape;125;p22"/>
            <p:cNvSpPr/>
            <p:nvPr/>
          </p:nvSpPr>
          <p:spPr>
            <a:xfrm>
              <a:off x="8627100" y="-23700"/>
              <a:ext cx="516900" cy="519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26" name="Shape 126"/>
        <p:cNvGrpSpPr/>
        <p:nvPr/>
      </p:nvGrpSpPr>
      <p:grpSpPr>
        <a:xfrm>
          <a:off x="0" y="0"/>
          <a:ext cx="0" cy="0"/>
          <a:chOff x="0" y="0"/>
          <a:chExt cx="0" cy="0"/>
        </a:xfrm>
      </p:grpSpPr>
      <p:sp>
        <p:nvSpPr>
          <p:cNvPr id="127" name="Google Shape;127;p23"/>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solidFill>
                  <a:schemeClr val="lt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9" name="Shape 1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Familjen Grotesk"/>
              <a:buNone/>
              <a:defRPr sz="3000">
                <a:solidFill>
                  <a:schemeClr val="dk1"/>
                </a:solidFill>
                <a:latin typeface="Familjen Grotesk"/>
                <a:ea typeface="Familjen Grotesk"/>
                <a:cs typeface="Familjen Grotesk"/>
                <a:sym typeface="Familjen Grotesk"/>
              </a:defRPr>
            </a:lvl1pPr>
            <a:lvl2pPr lvl="1"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2pPr>
            <a:lvl3pPr lvl="2"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3pPr>
            <a:lvl4pPr lvl="3"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4pPr>
            <a:lvl5pPr lvl="4"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5pPr>
            <a:lvl6pPr lvl="5"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6pPr>
            <a:lvl7pPr lvl="6"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7pPr>
            <a:lvl8pPr lvl="7"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8pPr>
            <a:lvl9pPr lvl="8" rtl="0">
              <a:spcBef>
                <a:spcPts val="0"/>
              </a:spcBef>
              <a:spcAft>
                <a:spcPts val="0"/>
              </a:spcAft>
              <a:buClr>
                <a:schemeClr val="dk1"/>
              </a:buClr>
              <a:buSzPts val="3500"/>
              <a:buFont typeface="Familjen Grotesk"/>
              <a:buNone/>
              <a:defRPr sz="3500">
                <a:solidFill>
                  <a:schemeClr val="dk1"/>
                </a:solidFill>
                <a:latin typeface="Familjen Grotesk"/>
                <a:ea typeface="Familjen Grotesk"/>
                <a:cs typeface="Familjen Grotesk"/>
                <a:sym typeface="Familjen Grotesk"/>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indent="-304800" lvl="1" marL="9144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indent="-304800" lvl="2" marL="13716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indent="-304800" lvl="3" marL="1828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indent="-304800" lvl="4" marL="22860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indent="-304800" lvl="5" marL="27432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indent="-304800" lvl="6" marL="32004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indent="-304800" lvl="7" marL="36576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indent="-304800" lvl="8" marL="411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A8iwEe9VLrC6XQO8Hfn6AV_oEwslEH2m/view"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hyperlink" Target="https://drive.google.com/file/d/1_191KaxpXM5JC6EWafG76qRQ9gOASDC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jewettm530/MH_Severity_Behavioral_and_Scan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oi.org/10.1038/s41597-025-04895-z" TargetMode="External"/><Relationship Id="rId4" Type="http://schemas.openxmlformats.org/officeDocument/2006/relationships/hyperlink" Target="https://doi.org/10.1101/2024.06.18.2430905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p:nvPr/>
        </p:nvSpPr>
        <p:spPr>
          <a:xfrm>
            <a:off x="0" y="3191700"/>
            <a:ext cx="9144000" cy="1951800"/>
          </a:xfrm>
          <a:prstGeom prst="rect">
            <a:avLst/>
          </a:prstGeom>
          <a:solidFill>
            <a:srgbClr val="D2E0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35" name="Google Shape;135;p26"/>
          <p:cNvSpPr txBox="1"/>
          <p:nvPr>
            <p:ph type="ctrTitle"/>
          </p:nvPr>
        </p:nvSpPr>
        <p:spPr>
          <a:xfrm>
            <a:off x="2910300" y="290400"/>
            <a:ext cx="6233700" cy="290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Predicting Mental Health Symptom Severity Using Behavioral and Neuroimaging Data</a:t>
            </a:r>
            <a:endParaRPr sz="4500"/>
          </a:p>
        </p:txBody>
      </p:sp>
      <p:sp>
        <p:nvSpPr>
          <p:cNvPr id="136" name="Google Shape;136;p26"/>
          <p:cNvSpPr txBox="1"/>
          <p:nvPr>
            <p:ph idx="1" type="subTitle"/>
          </p:nvPr>
        </p:nvSpPr>
        <p:spPr>
          <a:xfrm>
            <a:off x="2910300" y="3469700"/>
            <a:ext cx="6233700" cy="143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Shreya Sureshbabu Banumathi, Ayomide Olushola Arulogun, Albin Rahman, Abdelrahman Mohamed, Madeline Jewett, Soham Sinha</a:t>
            </a:r>
            <a:endParaRPr sz="1800">
              <a:solidFill>
                <a:schemeClr val="dk2"/>
              </a:solidFill>
            </a:endParaRPr>
          </a:p>
        </p:txBody>
      </p:sp>
      <p:pic>
        <p:nvPicPr>
          <p:cNvPr id="137" name="Google Shape;137;p26"/>
          <p:cNvPicPr preferRelativeResize="0"/>
          <p:nvPr/>
        </p:nvPicPr>
        <p:blipFill>
          <a:blip r:embed="rId3">
            <a:alphaModFix/>
          </a:blip>
          <a:stretch>
            <a:fillRect/>
          </a:stretch>
        </p:blipFill>
        <p:spPr>
          <a:xfrm flipH="1">
            <a:off x="414425" y="367900"/>
            <a:ext cx="2393249" cy="4407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p:nvPr/>
        </p:nvSpPr>
        <p:spPr>
          <a:xfrm>
            <a:off x="0" y="2571739"/>
            <a:ext cx="9144000" cy="2418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43" name="Google Shape;143;p27"/>
          <p:cNvSpPr/>
          <p:nvPr/>
        </p:nvSpPr>
        <p:spPr>
          <a:xfrm>
            <a:off x="0" y="3705851"/>
            <a:ext cx="9144000" cy="1458000"/>
          </a:xfrm>
          <a:prstGeom prst="rect">
            <a:avLst/>
          </a:prstGeom>
          <a:solidFill>
            <a:srgbClr val="C9D6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44" name="Google Shape;144;p27"/>
          <p:cNvSpPr txBox="1"/>
          <p:nvPr>
            <p:ph type="title"/>
          </p:nvPr>
        </p:nvSpPr>
        <p:spPr>
          <a:xfrm>
            <a:off x="519475" y="4199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2031"/>
                </a:solidFill>
              </a:rPr>
              <a:t>Table of contents</a:t>
            </a:r>
            <a:endParaRPr>
              <a:solidFill>
                <a:srgbClr val="192031"/>
              </a:solidFill>
            </a:endParaRPr>
          </a:p>
        </p:txBody>
      </p:sp>
      <p:sp>
        <p:nvSpPr>
          <p:cNvPr id="145" name="Google Shape;145;p27"/>
          <p:cNvSpPr txBox="1"/>
          <p:nvPr>
            <p:ph idx="2" type="title"/>
          </p:nvPr>
        </p:nvSpPr>
        <p:spPr>
          <a:xfrm>
            <a:off x="142964" y="1419250"/>
            <a:ext cx="2837400" cy="341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a:p>
            <a:pPr indent="0" lvl="0" marL="0" rtl="0" algn="ctr">
              <a:spcBef>
                <a:spcPts val="0"/>
              </a:spcBef>
              <a:spcAft>
                <a:spcPts val="0"/>
              </a:spcAft>
              <a:buNone/>
            </a:pPr>
            <a:r>
              <a:rPr lang="en" sz="2400"/>
              <a:t>Description</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a:t>02</a:t>
            </a:r>
            <a:endParaRPr/>
          </a:p>
          <a:p>
            <a:pPr indent="0" lvl="0" marL="0" rtl="0" algn="ctr">
              <a:spcBef>
                <a:spcPts val="0"/>
              </a:spcBef>
              <a:spcAft>
                <a:spcPts val="0"/>
              </a:spcAft>
              <a:buNone/>
            </a:pPr>
            <a:r>
              <a:rPr lang="en" sz="2400"/>
              <a:t>Demo + Video</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a:t>03 </a:t>
            </a:r>
            <a:endParaRPr/>
          </a:p>
          <a:p>
            <a:pPr indent="0" lvl="0" marL="0" rtl="0" algn="ctr">
              <a:spcBef>
                <a:spcPts val="0"/>
              </a:spcBef>
              <a:spcAft>
                <a:spcPts val="0"/>
              </a:spcAft>
              <a:buNone/>
            </a:pPr>
            <a:r>
              <a:rPr lang="en" sz="2400"/>
              <a:t>Data Visualizations</a:t>
            </a:r>
            <a:endParaRPr sz="2400"/>
          </a:p>
        </p:txBody>
      </p:sp>
      <p:pic>
        <p:nvPicPr>
          <p:cNvPr id="146" name="Google Shape;146;p27"/>
          <p:cNvPicPr preferRelativeResize="0"/>
          <p:nvPr/>
        </p:nvPicPr>
        <p:blipFill>
          <a:blip r:embed="rId3">
            <a:alphaModFix/>
          </a:blip>
          <a:stretch>
            <a:fillRect/>
          </a:stretch>
        </p:blipFill>
        <p:spPr>
          <a:xfrm>
            <a:off x="7824175" y="74800"/>
            <a:ext cx="1250877" cy="1156225"/>
          </a:xfrm>
          <a:prstGeom prst="rect">
            <a:avLst/>
          </a:prstGeom>
          <a:noFill/>
          <a:ln>
            <a:noFill/>
          </a:ln>
        </p:spPr>
      </p:pic>
      <p:sp>
        <p:nvSpPr>
          <p:cNvPr id="147" name="Google Shape;147;p27"/>
          <p:cNvSpPr txBox="1"/>
          <p:nvPr/>
        </p:nvSpPr>
        <p:spPr>
          <a:xfrm>
            <a:off x="2785351" y="1419242"/>
            <a:ext cx="2759700" cy="341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04</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Algorithm</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05</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Essential Question</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06</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Key Takeaways</a:t>
            </a:r>
            <a:endParaRPr sz="2400">
              <a:solidFill>
                <a:srgbClr val="48557B"/>
              </a:solidFill>
              <a:latin typeface="Familjen Grotesk"/>
              <a:ea typeface="Familjen Grotesk"/>
              <a:cs typeface="Familjen Grotesk"/>
              <a:sym typeface="Familjen Grotesk"/>
            </a:endParaRPr>
          </a:p>
        </p:txBody>
      </p:sp>
      <p:sp>
        <p:nvSpPr>
          <p:cNvPr id="148" name="Google Shape;148;p27"/>
          <p:cNvSpPr txBox="1"/>
          <p:nvPr/>
        </p:nvSpPr>
        <p:spPr>
          <a:xfrm>
            <a:off x="5350036" y="1419242"/>
            <a:ext cx="3651000" cy="341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07</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Positive + Negative Impact</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08</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GitHub Link + Next Steps</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t/>
            </a:r>
            <a:endParaRPr sz="24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3000">
                <a:solidFill>
                  <a:srgbClr val="48557B"/>
                </a:solidFill>
                <a:latin typeface="Familjen Grotesk"/>
                <a:ea typeface="Familjen Grotesk"/>
                <a:cs typeface="Familjen Grotesk"/>
                <a:sym typeface="Familjen Grotesk"/>
              </a:rPr>
              <a:t>09</a:t>
            </a:r>
            <a:endParaRPr sz="3000">
              <a:solidFill>
                <a:srgbClr val="48557B"/>
              </a:solidFill>
              <a:latin typeface="Familjen Grotesk"/>
              <a:ea typeface="Familjen Grotesk"/>
              <a:cs typeface="Familjen Grotesk"/>
              <a:sym typeface="Familjen Grotesk"/>
            </a:endParaRPr>
          </a:p>
          <a:p>
            <a:pPr indent="0" lvl="0" marL="0" rtl="0" algn="ctr">
              <a:spcBef>
                <a:spcPts val="0"/>
              </a:spcBef>
              <a:spcAft>
                <a:spcPts val="0"/>
              </a:spcAft>
              <a:buNone/>
            </a:pPr>
            <a:r>
              <a:rPr lang="en" sz="2400">
                <a:solidFill>
                  <a:srgbClr val="48557B"/>
                </a:solidFill>
                <a:latin typeface="Familjen Grotesk"/>
                <a:ea typeface="Familjen Grotesk"/>
                <a:cs typeface="Familjen Grotesk"/>
                <a:sym typeface="Familjen Grotesk"/>
              </a:rPr>
              <a:t>Citations</a:t>
            </a:r>
            <a:endParaRPr sz="2400">
              <a:solidFill>
                <a:srgbClr val="48557B"/>
              </a:solidFill>
              <a:latin typeface="Familjen Grotesk"/>
              <a:ea typeface="Familjen Grotesk"/>
              <a:cs typeface="Familjen Grotesk"/>
              <a:sym typeface="Familjen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176200" y="48486"/>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Description</a:t>
            </a:r>
            <a:endParaRPr/>
          </a:p>
        </p:txBody>
      </p:sp>
      <p:pic>
        <p:nvPicPr>
          <p:cNvPr id="154" name="Google Shape;154;p28"/>
          <p:cNvPicPr preferRelativeResize="0"/>
          <p:nvPr/>
        </p:nvPicPr>
        <p:blipFill>
          <a:blip r:embed="rId3">
            <a:alphaModFix/>
          </a:blip>
          <a:stretch>
            <a:fillRect/>
          </a:stretch>
        </p:blipFill>
        <p:spPr>
          <a:xfrm>
            <a:off x="8076375" y="4376051"/>
            <a:ext cx="963077" cy="767448"/>
          </a:xfrm>
          <a:prstGeom prst="rect">
            <a:avLst/>
          </a:prstGeom>
          <a:noFill/>
          <a:ln>
            <a:noFill/>
          </a:ln>
        </p:spPr>
      </p:pic>
      <p:sp>
        <p:nvSpPr>
          <p:cNvPr id="155" name="Google Shape;155;p28"/>
          <p:cNvSpPr txBox="1"/>
          <p:nvPr>
            <p:ph idx="1" type="body"/>
          </p:nvPr>
        </p:nvSpPr>
        <p:spPr>
          <a:xfrm>
            <a:off x="104550" y="544500"/>
            <a:ext cx="8934900" cy="4054500"/>
          </a:xfrm>
          <a:prstGeom prst="rect">
            <a:avLst/>
          </a:prstGeom>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rgbClr val="1D1C1D"/>
              </a:buClr>
              <a:buSzPts val="1500"/>
              <a:buFont typeface="Crimson Text"/>
              <a:buChar char="●"/>
            </a:pPr>
            <a:r>
              <a:rPr lang="en" sz="1300">
                <a:solidFill>
                  <a:srgbClr val="1D1C1D"/>
                </a:solidFill>
                <a:latin typeface="Crimson Text"/>
                <a:ea typeface="Crimson Text"/>
                <a:cs typeface="Crimson Text"/>
                <a:sym typeface="Crimson Text"/>
              </a:rPr>
              <a:t>This project aims to predict continuous symptom severity using behavioral + imaging data through the random forest regression. </a:t>
            </a:r>
            <a:endParaRPr sz="1300"/>
          </a:p>
          <a:p>
            <a:pPr indent="-311150" lvl="1" marL="914400" rtl="0" algn="l">
              <a:lnSpc>
                <a:spcPct val="100000"/>
              </a:lnSpc>
              <a:spcBef>
                <a:spcPts val="0"/>
              </a:spcBef>
              <a:spcAft>
                <a:spcPts val="0"/>
              </a:spcAft>
              <a:buSzPts val="1300"/>
              <a:buChar char="○"/>
            </a:pPr>
            <a:r>
              <a:rPr lang="en" sz="1300">
                <a:solidFill>
                  <a:srgbClr val="1D1C1D"/>
                </a:solidFill>
                <a:latin typeface="Crimson Text"/>
                <a:ea typeface="Crimson Text"/>
                <a:cs typeface="Crimson Text"/>
                <a:sym typeface="Crimson Text"/>
              </a:rPr>
              <a:t>Metrics: </a:t>
            </a:r>
            <a:r>
              <a:rPr lang="en" sz="1300">
                <a:solidFill>
                  <a:srgbClr val="1D1C1D"/>
                </a:solidFill>
                <a:latin typeface="Crimson Text"/>
                <a:ea typeface="Crimson Text"/>
                <a:cs typeface="Crimson Text"/>
                <a:sym typeface="Crimson Text"/>
              </a:rPr>
              <a:t> </a:t>
            </a:r>
            <a:r>
              <a:rPr b="1" lang="en" sz="1300">
                <a:solidFill>
                  <a:srgbClr val="1D1C1D"/>
                </a:solidFill>
                <a:latin typeface="Crimson Text"/>
                <a:ea typeface="Crimson Text"/>
                <a:cs typeface="Crimson Text"/>
                <a:sym typeface="Crimson Text"/>
              </a:rPr>
              <a:t>QIDS </a:t>
            </a:r>
            <a:r>
              <a:rPr lang="en" sz="1300">
                <a:solidFill>
                  <a:srgbClr val="1D1C1D"/>
                </a:solidFill>
                <a:latin typeface="Crimson Text"/>
                <a:ea typeface="Crimson Text"/>
                <a:cs typeface="Crimson Text"/>
                <a:sym typeface="Crimson Text"/>
              </a:rPr>
              <a:t>(depression), </a:t>
            </a:r>
            <a:r>
              <a:rPr b="1" lang="en" sz="1300">
                <a:solidFill>
                  <a:srgbClr val="1D1C1D"/>
                </a:solidFill>
                <a:latin typeface="Crimson Text"/>
                <a:ea typeface="Crimson Text"/>
                <a:cs typeface="Crimson Text"/>
                <a:sym typeface="Crimson Text"/>
              </a:rPr>
              <a:t>STAI-State </a:t>
            </a:r>
            <a:r>
              <a:rPr lang="en" sz="1300">
                <a:solidFill>
                  <a:srgbClr val="1D1C1D"/>
                </a:solidFill>
                <a:latin typeface="Crimson Text"/>
                <a:ea typeface="Crimson Text"/>
                <a:cs typeface="Crimson Text"/>
                <a:sym typeface="Crimson Text"/>
              </a:rPr>
              <a:t>(state anxiety), </a:t>
            </a:r>
            <a:r>
              <a:rPr b="1" lang="en" sz="1300">
                <a:solidFill>
                  <a:srgbClr val="1D1C1D"/>
                </a:solidFill>
                <a:latin typeface="Crimson Text"/>
                <a:ea typeface="Crimson Text"/>
                <a:cs typeface="Crimson Text"/>
                <a:sym typeface="Crimson Text"/>
              </a:rPr>
              <a:t>SHAPS </a:t>
            </a:r>
            <a:r>
              <a:rPr lang="en" sz="1300">
                <a:solidFill>
                  <a:srgbClr val="1D1C1D"/>
                </a:solidFill>
                <a:latin typeface="Crimson Text"/>
                <a:ea typeface="Crimson Text"/>
                <a:cs typeface="Crimson Text"/>
                <a:sym typeface="Crimson Text"/>
              </a:rPr>
              <a:t>(anhedonia), and </a:t>
            </a:r>
            <a:r>
              <a:rPr b="1" lang="en" sz="1300">
                <a:solidFill>
                  <a:srgbClr val="1D1C1D"/>
                </a:solidFill>
                <a:latin typeface="Crimson Text"/>
                <a:ea typeface="Crimson Text"/>
                <a:cs typeface="Crimson Text"/>
                <a:sym typeface="Crimson Text"/>
              </a:rPr>
              <a:t>PSS </a:t>
            </a:r>
            <a:r>
              <a:rPr lang="en" sz="1300">
                <a:solidFill>
                  <a:srgbClr val="1D1C1D"/>
                </a:solidFill>
                <a:latin typeface="Crimson Text"/>
                <a:ea typeface="Crimson Text"/>
                <a:cs typeface="Crimson Text"/>
                <a:sym typeface="Crimson Text"/>
              </a:rPr>
              <a:t>(perceived stress).</a:t>
            </a:r>
            <a:endParaRPr sz="1300"/>
          </a:p>
          <a:p>
            <a:pPr indent="-311150" lvl="1" marL="914400" rtl="0" algn="l">
              <a:lnSpc>
                <a:spcPct val="100000"/>
              </a:lnSpc>
              <a:spcBef>
                <a:spcPts val="0"/>
              </a:spcBef>
              <a:spcAft>
                <a:spcPts val="0"/>
              </a:spcAft>
              <a:buSzPts val="1300"/>
              <a:buChar char="○"/>
            </a:pPr>
            <a:r>
              <a:rPr lang="en" sz="1300">
                <a:solidFill>
                  <a:srgbClr val="1D1C1D"/>
                </a:solidFill>
                <a:latin typeface="Crimson Text"/>
                <a:ea typeface="Crimson Text"/>
                <a:cs typeface="Crimson Text"/>
                <a:sym typeface="Crimson Text"/>
              </a:rPr>
              <a:t>C</a:t>
            </a:r>
            <a:r>
              <a:rPr lang="en" sz="1300">
                <a:solidFill>
                  <a:srgbClr val="1D1C1D"/>
                </a:solidFill>
                <a:latin typeface="Crimson Text"/>
                <a:ea typeface="Crimson Text"/>
                <a:cs typeface="Crimson Text"/>
                <a:sym typeface="Crimson Text"/>
              </a:rPr>
              <a:t>ompares 4 behavioral, imaging, and 4 multimodal models to determine which best predicts symptom severity. </a:t>
            </a:r>
            <a:endParaRPr sz="1300">
              <a:solidFill>
                <a:srgbClr val="1D1C1D"/>
              </a:solidFill>
              <a:latin typeface="Crimson Text"/>
              <a:ea typeface="Crimson Text"/>
              <a:cs typeface="Crimson Text"/>
              <a:sym typeface="Crimson Text"/>
            </a:endParaRPr>
          </a:p>
          <a:p>
            <a:pPr indent="-323850" lvl="0" marL="457200" rtl="0" algn="l">
              <a:lnSpc>
                <a:spcPct val="100000"/>
              </a:lnSpc>
              <a:spcBef>
                <a:spcPts val="1000"/>
              </a:spcBef>
              <a:spcAft>
                <a:spcPts val="0"/>
              </a:spcAft>
              <a:buClr>
                <a:srgbClr val="1D1C1D"/>
              </a:buClr>
              <a:buSzPts val="1500"/>
              <a:buFont typeface="Crimson Text"/>
              <a:buChar char="●"/>
            </a:pPr>
            <a:r>
              <a:rPr b="1" lang="en" sz="1300">
                <a:solidFill>
                  <a:srgbClr val="1D1C1D"/>
                </a:solidFill>
                <a:latin typeface="Crimson Text"/>
                <a:ea typeface="Crimson Text"/>
                <a:cs typeface="Crimson Text"/>
                <a:sym typeface="Crimson Text"/>
              </a:rPr>
              <a:t>Goal: </a:t>
            </a:r>
            <a:r>
              <a:rPr lang="en" sz="1300">
                <a:solidFill>
                  <a:srgbClr val="1D1C1D"/>
                </a:solidFill>
                <a:latin typeface="Crimson Text"/>
                <a:ea typeface="Crimson Text"/>
                <a:cs typeface="Crimson Text"/>
                <a:sym typeface="Crimson Text"/>
              </a:rPr>
              <a:t>determine which data modality provides the strongest predictive performance</a:t>
            </a:r>
            <a:endParaRPr sz="1300">
              <a:solidFill>
                <a:srgbClr val="1D1C1D"/>
              </a:solidFill>
              <a:latin typeface="Crimson Text"/>
              <a:ea typeface="Crimson Text"/>
              <a:cs typeface="Crimson Text"/>
              <a:sym typeface="Crimson Text"/>
            </a:endParaRPr>
          </a:p>
          <a:p>
            <a:pPr indent="-323850" lvl="0" marL="457200" rtl="0" algn="l">
              <a:lnSpc>
                <a:spcPct val="100000"/>
              </a:lnSpc>
              <a:spcBef>
                <a:spcPts val="1000"/>
              </a:spcBef>
              <a:spcAft>
                <a:spcPts val="0"/>
              </a:spcAft>
              <a:buClr>
                <a:srgbClr val="1D1C1D"/>
              </a:buClr>
              <a:buSzPts val="1500"/>
              <a:buFont typeface="Crimson Text"/>
              <a:buChar char="●"/>
            </a:pPr>
            <a:r>
              <a:rPr b="1" lang="en" sz="1300">
                <a:solidFill>
                  <a:srgbClr val="1D1C1D"/>
                </a:solidFill>
                <a:latin typeface="Crimson Text"/>
                <a:ea typeface="Crimson Text"/>
                <a:cs typeface="Crimson Text"/>
                <a:sym typeface="Crimson Text"/>
              </a:rPr>
              <a:t>Project Timeline:</a:t>
            </a:r>
            <a:endParaRPr b="1"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Selected multimodal mental health dataset (behavioral + fMRI).</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Built 28 Random Forest Regression models across four symptom targets.</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Compared behavioral, imaging, and multimodal feature sets.</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Discovered and addressed target leakage by removing symptom-scale predictors.</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Expanded to 36 models with a new non-symptom feature set.</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Validated that behavioral characteristics remained strong predictors even without overlapping symptom questionnaires.</a:t>
            </a:r>
            <a:endParaRPr sz="1300">
              <a:solidFill>
                <a:srgbClr val="1D1C1D"/>
              </a:solidFill>
              <a:latin typeface="Crimson Text"/>
              <a:ea typeface="Crimson Text"/>
              <a:cs typeface="Crimson Text"/>
              <a:sym typeface="Crimson Text"/>
            </a:endParaRPr>
          </a:p>
          <a:p>
            <a:pPr indent="-323850" lvl="0" marL="457200" rtl="0" algn="l">
              <a:lnSpc>
                <a:spcPct val="100000"/>
              </a:lnSpc>
              <a:spcBef>
                <a:spcPts val="1000"/>
              </a:spcBef>
              <a:spcAft>
                <a:spcPts val="0"/>
              </a:spcAft>
              <a:buClr>
                <a:srgbClr val="1D1C1D"/>
              </a:buClr>
              <a:buSzPts val="1500"/>
              <a:buFont typeface="Crimson Text"/>
              <a:buChar char="●"/>
            </a:pPr>
            <a:r>
              <a:rPr b="1" lang="en" sz="1300">
                <a:solidFill>
                  <a:srgbClr val="1D1C1D"/>
                </a:solidFill>
                <a:latin typeface="Crimson Text"/>
                <a:ea typeface="Crimson Text"/>
                <a:cs typeface="Crimson Text"/>
                <a:sym typeface="Crimson Text"/>
              </a:rPr>
              <a:t>Challenge:</a:t>
            </a:r>
            <a:r>
              <a:rPr lang="en" sz="1300">
                <a:solidFill>
                  <a:srgbClr val="1D1C1D"/>
                </a:solidFill>
                <a:latin typeface="Crimson Text"/>
                <a:ea typeface="Crimson Text"/>
                <a:cs typeface="Crimson Text"/>
                <a:sym typeface="Crimson Text"/>
              </a:rPr>
              <a:t> Some behavioral questionnaires measured same mental health symptoms as prediction target →  target leakage + performance inflation</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b="1" lang="en" sz="1300">
                <a:solidFill>
                  <a:srgbClr val="1D1C1D"/>
                </a:solidFill>
                <a:latin typeface="Crimson Text"/>
                <a:ea typeface="Crimson Text"/>
                <a:cs typeface="Crimson Text"/>
                <a:sym typeface="Crimson Text"/>
              </a:rPr>
              <a:t>Solution:</a:t>
            </a:r>
            <a:r>
              <a:rPr lang="en" sz="1300">
                <a:solidFill>
                  <a:srgbClr val="1D1C1D"/>
                </a:solidFill>
                <a:latin typeface="Crimson Text"/>
                <a:ea typeface="Crimson Text"/>
                <a:cs typeface="Crimson Text"/>
                <a:sym typeface="Crimson Text"/>
              </a:rPr>
              <a:t> Added non-symptom behavioral feature set by removing symptom questionnaires from the predictors. </a:t>
            </a:r>
            <a:endParaRPr sz="1300">
              <a:solidFill>
                <a:srgbClr val="1D1C1D"/>
              </a:solidFill>
              <a:latin typeface="Crimson Text"/>
              <a:ea typeface="Crimson Text"/>
              <a:cs typeface="Crimson Text"/>
              <a:sym typeface="Crimson Text"/>
            </a:endParaRPr>
          </a:p>
          <a:p>
            <a:pPr indent="-311150" lvl="1" marL="914400" rtl="0" algn="l">
              <a:lnSpc>
                <a:spcPct val="100000"/>
              </a:lnSpc>
              <a:spcBef>
                <a:spcPts val="0"/>
              </a:spcBef>
              <a:spcAft>
                <a:spcPts val="0"/>
              </a:spcAft>
              <a:buClr>
                <a:srgbClr val="1D1C1D"/>
              </a:buClr>
              <a:buSzPts val="1300"/>
              <a:buFont typeface="Crimson Text"/>
              <a:buChar char="○"/>
            </a:pPr>
            <a:r>
              <a:rPr lang="en" sz="1300">
                <a:solidFill>
                  <a:srgbClr val="1D1C1D"/>
                </a:solidFill>
                <a:latin typeface="Crimson Text"/>
                <a:ea typeface="Crimson Text"/>
                <a:cs typeface="Crimson Text"/>
                <a:sym typeface="Crimson Text"/>
              </a:rPr>
              <a:t>The models continued to perform well, showing that personality, cognitive, and lifestyle factors provide meaningful predictive information independent of symptom scales.</a:t>
            </a:r>
            <a:endParaRPr sz="1300">
              <a:solidFill>
                <a:srgbClr val="1D1C1D"/>
              </a:solidFill>
              <a:latin typeface="Crimson Text"/>
              <a:ea typeface="Crimson Text"/>
              <a:cs typeface="Crimson Text"/>
              <a:sym typeface="Crimson Tex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51230" y="4600449"/>
            <a:ext cx="118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a:t>
            </a:r>
            <a:endParaRPr/>
          </a:p>
        </p:txBody>
      </p:sp>
      <p:pic>
        <p:nvPicPr>
          <p:cNvPr id="161" name="Google Shape;161;p29"/>
          <p:cNvPicPr preferRelativeResize="0"/>
          <p:nvPr/>
        </p:nvPicPr>
        <p:blipFill>
          <a:blip r:embed="rId3">
            <a:alphaModFix/>
          </a:blip>
          <a:stretch>
            <a:fillRect/>
          </a:stretch>
        </p:blipFill>
        <p:spPr>
          <a:xfrm>
            <a:off x="5248250" y="199125"/>
            <a:ext cx="3789852" cy="2315250"/>
          </a:xfrm>
          <a:prstGeom prst="rect">
            <a:avLst/>
          </a:prstGeom>
          <a:noFill/>
          <a:ln>
            <a:noFill/>
          </a:ln>
        </p:spPr>
      </p:pic>
      <p:pic>
        <p:nvPicPr>
          <p:cNvPr id="162" name="Google Shape;162;p29"/>
          <p:cNvPicPr preferRelativeResize="0"/>
          <p:nvPr/>
        </p:nvPicPr>
        <p:blipFill>
          <a:blip r:embed="rId4">
            <a:alphaModFix/>
          </a:blip>
          <a:stretch>
            <a:fillRect/>
          </a:stretch>
        </p:blipFill>
        <p:spPr>
          <a:xfrm>
            <a:off x="133200" y="199125"/>
            <a:ext cx="5165056" cy="2315250"/>
          </a:xfrm>
          <a:prstGeom prst="rect">
            <a:avLst/>
          </a:prstGeom>
          <a:noFill/>
          <a:ln>
            <a:noFill/>
          </a:ln>
        </p:spPr>
      </p:pic>
      <p:pic>
        <p:nvPicPr>
          <p:cNvPr id="163" name="Google Shape;163;p29"/>
          <p:cNvPicPr preferRelativeResize="0"/>
          <p:nvPr/>
        </p:nvPicPr>
        <p:blipFill>
          <a:blip r:embed="rId5">
            <a:alphaModFix/>
          </a:blip>
          <a:stretch>
            <a:fillRect/>
          </a:stretch>
        </p:blipFill>
        <p:spPr>
          <a:xfrm>
            <a:off x="152400" y="2571750"/>
            <a:ext cx="4419600" cy="1920101"/>
          </a:xfrm>
          <a:prstGeom prst="rect">
            <a:avLst/>
          </a:prstGeom>
          <a:noFill/>
          <a:ln>
            <a:noFill/>
          </a:ln>
        </p:spPr>
      </p:pic>
      <p:pic>
        <p:nvPicPr>
          <p:cNvPr id="164" name="Google Shape;164;p29"/>
          <p:cNvPicPr preferRelativeResize="0"/>
          <p:nvPr/>
        </p:nvPicPr>
        <p:blipFill>
          <a:blip r:embed="rId6">
            <a:alphaModFix/>
          </a:blip>
          <a:stretch>
            <a:fillRect/>
          </a:stretch>
        </p:blipFill>
        <p:spPr>
          <a:xfrm>
            <a:off x="4643081" y="2666775"/>
            <a:ext cx="4313639" cy="177546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0" title="screen-capture.webm">
            <a:hlinkClick r:id="rId3"/>
          </p:cNvPr>
          <p:cNvPicPr preferRelativeResize="0"/>
          <p:nvPr/>
        </p:nvPicPr>
        <p:blipFill>
          <a:blip r:embed="rId4">
            <a:alphaModFix/>
          </a:blip>
          <a:stretch>
            <a:fillRect/>
          </a:stretch>
        </p:blipFill>
        <p:spPr>
          <a:xfrm>
            <a:off x="0" y="0"/>
            <a:ext cx="9144000" cy="51435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115800" y="127050"/>
            <a:ext cx="89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700"/>
              <a:t>How Well Did Models Predict Mental Health Symptoms?</a:t>
            </a:r>
            <a:endParaRPr sz="2700"/>
          </a:p>
        </p:txBody>
      </p:sp>
      <p:sp>
        <p:nvSpPr>
          <p:cNvPr id="175" name="Google Shape;175;p31"/>
          <p:cNvSpPr txBox="1"/>
          <p:nvPr>
            <p:ph idx="1" type="body"/>
          </p:nvPr>
        </p:nvSpPr>
        <p:spPr>
          <a:xfrm>
            <a:off x="139500" y="4695300"/>
            <a:ext cx="8865000" cy="44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i="1" lang="en" sz="1100">
                <a:solidFill>
                  <a:srgbClr val="000000"/>
                </a:solidFill>
                <a:latin typeface="Arial"/>
                <a:ea typeface="Arial"/>
                <a:cs typeface="Arial"/>
                <a:sym typeface="Arial"/>
              </a:rPr>
              <a:t>Key Takeaway:</a:t>
            </a:r>
            <a:r>
              <a:rPr i="1" lang="en" sz="1100">
                <a:solidFill>
                  <a:srgbClr val="000000"/>
                </a:solidFill>
                <a:latin typeface="Arial"/>
                <a:ea typeface="Arial"/>
                <a:cs typeface="Arial"/>
                <a:sym typeface="Arial"/>
              </a:rPr>
              <a:t> Behavioral questionnaire data consistently outperformed imaging features, while no behavioral feature showed evidence of excessive correlation (ρ ≥ 0.80) with its prediction target.</a:t>
            </a:r>
            <a:endParaRPr i="1"/>
          </a:p>
        </p:txBody>
      </p:sp>
      <p:pic>
        <p:nvPicPr>
          <p:cNvPr id="176" name="Google Shape;176;p31" title="model_performance_by_modality.png"/>
          <p:cNvPicPr preferRelativeResize="0"/>
          <p:nvPr/>
        </p:nvPicPr>
        <p:blipFill>
          <a:blip r:embed="rId3">
            <a:alphaModFix/>
          </a:blip>
          <a:stretch>
            <a:fillRect/>
          </a:stretch>
        </p:blipFill>
        <p:spPr>
          <a:xfrm>
            <a:off x="15250" y="1074800"/>
            <a:ext cx="5080023" cy="2993924"/>
          </a:xfrm>
          <a:prstGeom prst="rect">
            <a:avLst/>
          </a:prstGeom>
          <a:noFill/>
          <a:ln>
            <a:noFill/>
          </a:ln>
        </p:spPr>
      </p:pic>
      <p:pic>
        <p:nvPicPr>
          <p:cNvPr id="177" name="Google Shape;177;p31"/>
          <p:cNvPicPr preferRelativeResize="0"/>
          <p:nvPr/>
        </p:nvPicPr>
        <p:blipFill>
          <a:blip r:embed="rId4">
            <a:alphaModFix/>
          </a:blip>
          <a:stretch>
            <a:fillRect/>
          </a:stretch>
        </p:blipFill>
        <p:spPr>
          <a:xfrm>
            <a:off x="5095121" y="976775"/>
            <a:ext cx="3966024" cy="3185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0" y="5080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How do cross-category symptom domains influence prediction? </a:t>
            </a:r>
            <a:endParaRPr sz="2600"/>
          </a:p>
        </p:txBody>
      </p:sp>
      <p:pic>
        <p:nvPicPr>
          <p:cNvPr id="183" name="Google Shape;183;p32" title="stai_cross_category_contributions.png"/>
          <p:cNvPicPr preferRelativeResize="0"/>
          <p:nvPr/>
        </p:nvPicPr>
        <p:blipFill rotWithShape="1">
          <a:blip r:embed="rId3">
            <a:alphaModFix/>
          </a:blip>
          <a:srcRect b="5847" l="0" r="0" t="0"/>
          <a:stretch/>
        </p:blipFill>
        <p:spPr>
          <a:xfrm>
            <a:off x="4691025" y="647312"/>
            <a:ext cx="3996073" cy="2009864"/>
          </a:xfrm>
          <a:prstGeom prst="rect">
            <a:avLst/>
          </a:prstGeom>
          <a:noFill/>
          <a:ln cap="flat" cmpd="sng" w="10100">
            <a:solidFill>
              <a:schemeClr val="dk2"/>
            </a:solidFill>
            <a:prstDash val="solid"/>
            <a:round/>
            <a:headEnd len="sm" w="sm" type="none"/>
            <a:tailEnd len="sm" w="sm" type="none"/>
          </a:ln>
        </p:spPr>
      </p:pic>
      <p:pic>
        <p:nvPicPr>
          <p:cNvPr id="184" name="Google Shape;184;p32" title="pss_cross_category_contributions.png"/>
          <p:cNvPicPr preferRelativeResize="0"/>
          <p:nvPr/>
        </p:nvPicPr>
        <p:blipFill rotWithShape="1">
          <a:blip r:embed="rId4">
            <a:alphaModFix/>
          </a:blip>
          <a:srcRect b="5060" l="0" r="0" t="0"/>
          <a:stretch/>
        </p:blipFill>
        <p:spPr>
          <a:xfrm>
            <a:off x="468753" y="2640859"/>
            <a:ext cx="3996073" cy="2035947"/>
          </a:xfrm>
          <a:prstGeom prst="rect">
            <a:avLst/>
          </a:prstGeom>
          <a:noFill/>
          <a:ln cap="flat" cmpd="sng" w="10100">
            <a:solidFill>
              <a:schemeClr val="dk2"/>
            </a:solidFill>
            <a:prstDash val="solid"/>
            <a:round/>
            <a:headEnd len="sm" w="sm" type="none"/>
            <a:tailEnd len="sm" w="sm" type="none"/>
          </a:ln>
        </p:spPr>
      </p:pic>
      <p:pic>
        <p:nvPicPr>
          <p:cNvPr id="185" name="Google Shape;185;p32" title="qids_cross_category_contributions.png"/>
          <p:cNvPicPr preferRelativeResize="0"/>
          <p:nvPr/>
        </p:nvPicPr>
        <p:blipFill rotWithShape="1">
          <a:blip r:embed="rId5">
            <a:alphaModFix/>
          </a:blip>
          <a:srcRect b="6015" l="0" r="0" t="0"/>
          <a:stretch/>
        </p:blipFill>
        <p:spPr>
          <a:xfrm>
            <a:off x="468766" y="635406"/>
            <a:ext cx="3996047" cy="2009886"/>
          </a:xfrm>
          <a:prstGeom prst="rect">
            <a:avLst/>
          </a:prstGeom>
          <a:noFill/>
          <a:ln cap="flat" cmpd="sng" w="10100">
            <a:solidFill>
              <a:schemeClr val="dk2"/>
            </a:solidFill>
            <a:prstDash val="solid"/>
            <a:round/>
            <a:headEnd len="sm" w="sm" type="none"/>
            <a:tailEnd len="sm" w="sm" type="none"/>
          </a:ln>
        </p:spPr>
      </p:pic>
      <p:pic>
        <p:nvPicPr>
          <p:cNvPr id="186" name="Google Shape;186;p32" title="shaps_cross_category_contributions.png"/>
          <p:cNvPicPr preferRelativeResize="0"/>
          <p:nvPr/>
        </p:nvPicPr>
        <p:blipFill rotWithShape="1">
          <a:blip r:embed="rId6">
            <a:alphaModFix/>
          </a:blip>
          <a:srcRect b="5123" l="0" r="0" t="0"/>
          <a:stretch/>
        </p:blipFill>
        <p:spPr>
          <a:xfrm>
            <a:off x="4691025" y="2657187"/>
            <a:ext cx="3996073" cy="2027059"/>
          </a:xfrm>
          <a:prstGeom prst="rect">
            <a:avLst/>
          </a:prstGeom>
          <a:noFill/>
          <a:ln cap="flat" cmpd="sng" w="10100">
            <a:solidFill>
              <a:schemeClr val="dk2"/>
            </a:solidFill>
            <a:prstDash val="solid"/>
            <a:round/>
            <a:headEnd len="sm" w="sm" type="none"/>
            <a:tailEnd len="sm" w="sm" type="none"/>
          </a:ln>
        </p:spPr>
      </p:pic>
      <p:sp>
        <p:nvSpPr>
          <p:cNvPr id="187" name="Google Shape;187;p32"/>
          <p:cNvSpPr txBox="1"/>
          <p:nvPr/>
        </p:nvSpPr>
        <p:spPr>
          <a:xfrm>
            <a:off x="95250" y="4684250"/>
            <a:ext cx="90489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chemeClr val="dk1"/>
                </a:solidFill>
                <a:latin typeface="Barlow"/>
                <a:ea typeface="Barlow"/>
                <a:cs typeface="Barlow"/>
                <a:sym typeface="Barlow"/>
              </a:rPr>
              <a:t>*Positive values indicate improvement over baseline</a:t>
            </a:r>
            <a:endParaRPr i="1" sz="1000">
              <a:solidFill>
                <a:schemeClr val="dk1"/>
              </a:solidFill>
              <a:latin typeface="Barlow"/>
              <a:ea typeface="Barlow"/>
              <a:cs typeface="Barlow"/>
              <a:sym typeface="Barlow"/>
            </a:endParaRPr>
          </a:p>
          <a:p>
            <a:pPr indent="0" lvl="0" marL="0" rtl="0" algn="l">
              <a:spcBef>
                <a:spcPts val="0"/>
              </a:spcBef>
              <a:spcAft>
                <a:spcPts val="0"/>
              </a:spcAft>
              <a:buNone/>
            </a:pPr>
            <a:r>
              <a:rPr b="1" i="1" lang="en" sz="1100"/>
              <a:t>Key Takeaway:</a:t>
            </a:r>
            <a:r>
              <a:rPr i="1" lang="en" sz="1100"/>
              <a:t> Related symptom domains often improved prediction, but the amount of improvement differed across mental health outcomes.</a:t>
            </a:r>
            <a:endParaRPr i="1" sz="1100"/>
          </a:p>
          <a:p>
            <a:pPr indent="0" lvl="0" marL="0" rtl="0" algn="l">
              <a:spcBef>
                <a:spcPts val="0"/>
              </a:spcBef>
              <a:spcAft>
                <a:spcPts val="0"/>
              </a:spcAft>
              <a:buNone/>
            </a:pPr>
            <a:r>
              <a:t/>
            </a:r>
            <a:endParaRPr i="1" sz="1000">
              <a:solidFill>
                <a:schemeClr val="dk1"/>
              </a:solidFill>
              <a:latin typeface="Barlow"/>
              <a:ea typeface="Barlow"/>
              <a:cs typeface="Barlow"/>
              <a:sym typeface="Barlo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a:t>
            </a:r>
            <a:endParaRPr/>
          </a:p>
        </p:txBody>
      </p:sp>
      <p:sp>
        <p:nvSpPr>
          <p:cNvPr id="193" name="Google Shape;193;p33"/>
          <p:cNvSpPr txBox="1"/>
          <p:nvPr>
            <p:ph idx="1" type="body"/>
          </p:nvPr>
        </p:nvSpPr>
        <p:spPr>
          <a:xfrm>
            <a:off x="720000" y="1053775"/>
            <a:ext cx="7704000" cy="355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1D1C1D"/>
                </a:solidFill>
                <a:latin typeface="Crimson Text"/>
                <a:ea typeface="Crimson Text"/>
                <a:cs typeface="Crimson Text"/>
                <a:sym typeface="Crimson Text"/>
              </a:rPr>
              <a:t>Supervised Random Forest Regression</a:t>
            </a:r>
            <a:r>
              <a:rPr lang="en" sz="1700">
                <a:solidFill>
                  <a:srgbClr val="1D1C1D"/>
                </a:solidFill>
                <a:latin typeface="Crimson Text"/>
                <a:ea typeface="Crimson Text"/>
                <a:cs typeface="Crimson Text"/>
                <a:sym typeface="Crimson Text"/>
              </a:rPr>
              <a:t> </a:t>
            </a:r>
            <a:endParaRPr sz="1700">
              <a:solidFill>
                <a:srgbClr val="1D1C1D"/>
              </a:solidFill>
              <a:latin typeface="Crimson Text"/>
              <a:ea typeface="Crimson Text"/>
              <a:cs typeface="Crimson Text"/>
              <a:sym typeface="Crimson Text"/>
            </a:endParaRPr>
          </a:p>
          <a:p>
            <a:pPr indent="-336550" lvl="0" marL="457200" rtl="0" algn="l">
              <a:lnSpc>
                <a:spcPct val="100000"/>
              </a:lnSpc>
              <a:spcBef>
                <a:spcPts val="0"/>
              </a:spcBef>
              <a:spcAft>
                <a:spcPts val="0"/>
              </a:spcAft>
              <a:buClr>
                <a:srgbClr val="1D1C1D"/>
              </a:buClr>
              <a:buSzPts val="1700"/>
              <a:buFont typeface="Crimson Text"/>
              <a:buChar char="●"/>
            </a:pPr>
            <a:r>
              <a:rPr lang="en" sz="1700">
                <a:solidFill>
                  <a:srgbClr val="1D1C1D"/>
                </a:solidFill>
                <a:latin typeface="Crimson Text"/>
                <a:ea typeface="Crimson Text"/>
                <a:cs typeface="Crimson Text"/>
                <a:sym typeface="Crimson Text"/>
              </a:rPr>
              <a:t>Inputs: behavioral data from questionnaires (all, relevant, category, non-symptom), imaging data from f-MRI scans, and multimodal data (behavioral + imaging). </a:t>
            </a:r>
            <a:endParaRPr sz="1700">
              <a:solidFill>
                <a:srgbClr val="1D1C1D"/>
              </a:solidFill>
              <a:latin typeface="Crimson Text"/>
              <a:ea typeface="Crimson Text"/>
              <a:cs typeface="Crimson Text"/>
              <a:sym typeface="Crimson Text"/>
            </a:endParaRPr>
          </a:p>
          <a:p>
            <a:pPr indent="-336550" lvl="0" marL="457200" rtl="0" algn="l">
              <a:lnSpc>
                <a:spcPct val="100000"/>
              </a:lnSpc>
              <a:spcBef>
                <a:spcPts val="0"/>
              </a:spcBef>
              <a:spcAft>
                <a:spcPts val="0"/>
              </a:spcAft>
              <a:buClr>
                <a:srgbClr val="1D1C1D"/>
              </a:buClr>
              <a:buSzPts val="1700"/>
              <a:buFont typeface="Crimson Text"/>
              <a:buChar char="●"/>
            </a:pPr>
            <a:r>
              <a:rPr lang="en" sz="1700">
                <a:solidFill>
                  <a:srgbClr val="1D1C1D"/>
                </a:solidFill>
                <a:latin typeface="Crimson Text"/>
                <a:ea typeface="Crimson Text"/>
                <a:cs typeface="Crimson Text"/>
                <a:sym typeface="Crimson Text"/>
              </a:rPr>
              <a:t>These predictors were used for QIDS, STAI-State, PSS, and SHAPS which represent depression, anxiety, stress, and anhedonia respectively. </a:t>
            </a:r>
            <a:endParaRPr sz="1700">
              <a:solidFill>
                <a:srgbClr val="1D1C1D"/>
              </a:solidFill>
              <a:latin typeface="Crimson Text"/>
              <a:ea typeface="Crimson Text"/>
              <a:cs typeface="Crimson Text"/>
              <a:sym typeface="Crimson Text"/>
            </a:endParaRPr>
          </a:p>
          <a:p>
            <a:pPr indent="0" lvl="0" marL="0" rtl="0" algn="l">
              <a:spcBef>
                <a:spcPts val="0"/>
              </a:spcBef>
              <a:spcAft>
                <a:spcPts val="0"/>
              </a:spcAft>
              <a:buNone/>
            </a:pPr>
            <a:r>
              <a:t/>
            </a:r>
            <a:endParaRPr sz="1700">
              <a:solidFill>
                <a:srgbClr val="1D1C1D"/>
              </a:solidFill>
              <a:latin typeface="Crimson Text"/>
              <a:ea typeface="Crimson Text"/>
              <a:cs typeface="Crimson Text"/>
              <a:sym typeface="Crimson Text"/>
            </a:endParaRPr>
          </a:p>
          <a:p>
            <a:pPr indent="-336550" lvl="0" marL="457200" rtl="0" algn="l">
              <a:spcBef>
                <a:spcPts val="0"/>
              </a:spcBef>
              <a:spcAft>
                <a:spcPts val="0"/>
              </a:spcAft>
              <a:buClr>
                <a:srgbClr val="1D1C1D"/>
              </a:buClr>
              <a:buSzPts val="1700"/>
              <a:buFont typeface="Crimson Text"/>
              <a:buChar char="●"/>
            </a:pPr>
            <a:r>
              <a:rPr lang="en" sz="1700">
                <a:solidFill>
                  <a:srgbClr val="1D1C1D"/>
                </a:solidFill>
                <a:latin typeface="Crimson Text"/>
                <a:ea typeface="Crimson Text"/>
                <a:cs typeface="Crimson Text"/>
                <a:sym typeface="Crimson Text"/>
              </a:rPr>
              <a:t>Random Forest Regression builds many decision trees and combines their predictions to produce a final result. </a:t>
            </a:r>
            <a:endParaRPr sz="1700">
              <a:solidFill>
                <a:srgbClr val="1D1C1D"/>
              </a:solidFill>
              <a:latin typeface="Crimson Text"/>
              <a:ea typeface="Crimson Text"/>
              <a:cs typeface="Crimson Text"/>
              <a:sym typeface="Crimson Text"/>
            </a:endParaRPr>
          </a:p>
          <a:p>
            <a:pPr indent="-336550" lvl="1" marL="914400" rtl="0" algn="l">
              <a:spcBef>
                <a:spcPts val="0"/>
              </a:spcBef>
              <a:spcAft>
                <a:spcPts val="0"/>
              </a:spcAft>
              <a:buClr>
                <a:srgbClr val="1D1C1D"/>
              </a:buClr>
              <a:buSzPts val="1700"/>
              <a:buFont typeface="Crimson Text"/>
              <a:buChar char="○"/>
            </a:pPr>
            <a:r>
              <a:rPr lang="en" sz="1700">
                <a:solidFill>
                  <a:srgbClr val="1D1C1D"/>
                </a:solidFill>
                <a:latin typeface="Crimson Text"/>
                <a:ea typeface="Crimson Text"/>
                <a:cs typeface="Crimson Text"/>
                <a:sym typeface="Crimson Text"/>
              </a:rPr>
              <a:t>This helps capture complex relationships between behavioral and imaging variables while reducing overfitting compared to a single decision tree.</a:t>
            </a:r>
            <a:endParaRPr sz="1700">
              <a:solidFill>
                <a:srgbClr val="1D1C1D"/>
              </a:solidFill>
              <a:latin typeface="Crimson Text"/>
              <a:ea typeface="Crimson Text"/>
              <a:cs typeface="Crimson Text"/>
              <a:sym typeface="Crimson Text"/>
            </a:endParaRPr>
          </a:p>
          <a:p>
            <a:pPr indent="0" lvl="0" marL="0" rtl="0" algn="l">
              <a:lnSpc>
                <a:spcPct val="100000"/>
              </a:lnSpc>
              <a:spcBef>
                <a:spcPts val="0"/>
              </a:spcBef>
              <a:spcAft>
                <a:spcPts val="0"/>
              </a:spcAft>
              <a:buNone/>
            </a:pPr>
            <a:r>
              <a:t/>
            </a:r>
            <a:endParaRPr sz="1700">
              <a:solidFill>
                <a:srgbClr val="1D1C1D"/>
              </a:solidFill>
              <a:latin typeface="Crimson Text"/>
              <a:ea typeface="Crimson Text"/>
              <a:cs typeface="Crimson Text"/>
              <a:sym typeface="Crimson Text"/>
            </a:endParaRPr>
          </a:p>
          <a:p>
            <a:pPr indent="0" lvl="0" marL="0" rtl="0" algn="l">
              <a:spcBef>
                <a:spcPts val="0"/>
              </a:spcBef>
              <a:spcAft>
                <a:spcPts val="0"/>
              </a:spcAft>
              <a:buNone/>
            </a:pPr>
            <a:r>
              <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34"/>
          <p:cNvSpPr/>
          <p:nvPr/>
        </p:nvSpPr>
        <p:spPr>
          <a:xfrm>
            <a:off x="0" y="0"/>
            <a:ext cx="9144000" cy="5143500"/>
          </a:xfrm>
          <a:prstGeom prst="rect">
            <a:avLst/>
          </a:prstGeom>
          <a:noFill/>
          <a:ln cap="flat" cmpd="sng" w="15225">
            <a:solidFill>
              <a:srgbClr val="C9D6E4"/>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00" name="Google Shape;200;p34"/>
          <p:cNvSpPr/>
          <p:nvPr/>
        </p:nvSpPr>
        <p:spPr>
          <a:xfrm>
            <a:off x="569595" y="464820"/>
            <a:ext cx="8805292" cy="409575"/>
          </a:xfrm>
          <a:prstGeom prst="rect">
            <a:avLst/>
          </a:prstGeom>
          <a:noFill/>
          <a:ln>
            <a:noFill/>
          </a:ln>
        </p:spPr>
        <p:txBody>
          <a:bodyPr anchorCtr="0" anchor="t" bIns="12700" lIns="12700" spcFirstLastPara="1" rIns="12700" wrap="square" tIns="12700">
            <a:noAutofit/>
          </a:bodyPr>
          <a:lstStyle/>
          <a:p>
            <a:pPr indent="0" lvl="0" marL="0" marR="0" rtl="0" algn="l">
              <a:lnSpc>
                <a:spcPct val="86864"/>
              </a:lnSpc>
              <a:spcBef>
                <a:spcPts val="0"/>
              </a:spcBef>
              <a:spcAft>
                <a:spcPts val="0"/>
              </a:spcAft>
              <a:buClr>
                <a:srgbClr val="3D3D3D"/>
              </a:buClr>
              <a:buSzPts val="3100"/>
              <a:buFont typeface="Arial"/>
              <a:buNone/>
            </a:pPr>
            <a:r>
              <a:rPr i="0" lang="en" sz="3100" u="none" cap="none" strike="noStrike">
                <a:solidFill>
                  <a:srgbClr val="3D3D3D"/>
                </a:solidFill>
                <a:latin typeface="Familjen Grotesk"/>
                <a:ea typeface="Familjen Grotesk"/>
                <a:cs typeface="Familjen Grotesk"/>
                <a:sym typeface="Familjen Grotesk"/>
              </a:rPr>
              <a:t>Essential Question</a:t>
            </a:r>
            <a:endParaRPr i="0" sz="3100" u="none" cap="none" strike="noStrike">
              <a:solidFill>
                <a:schemeClr val="dk1"/>
              </a:solidFill>
              <a:latin typeface="Familjen Grotesk"/>
              <a:ea typeface="Familjen Grotesk"/>
              <a:cs typeface="Familjen Grotesk"/>
              <a:sym typeface="Familjen Grotesk"/>
            </a:endParaRPr>
          </a:p>
        </p:txBody>
      </p:sp>
      <p:sp>
        <p:nvSpPr>
          <p:cNvPr id="201" name="Google Shape;201;p34"/>
          <p:cNvSpPr/>
          <p:nvPr/>
        </p:nvSpPr>
        <p:spPr>
          <a:xfrm>
            <a:off x="569600" y="1064900"/>
            <a:ext cx="7612500" cy="525900"/>
          </a:xfrm>
          <a:prstGeom prst="rect">
            <a:avLst/>
          </a:prstGeom>
          <a:noFill/>
          <a:ln>
            <a:noFill/>
          </a:ln>
        </p:spPr>
        <p:txBody>
          <a:bodyPr anchorCtr="0" anchor="t" bIns="12700" lIns="12700" spcFirstLastPara="1" rIns="12700" wrap="square" tIns="12700">
            <a:noAutofit/>
          </a:bodyPr>
          <a:lstStyle/>
          <a:p>
            <a:pPr indent="0" lvl="0" marL="0" marR="0" rtl="0" algn="l">
              <a:lnSpc>
                <a:spcPct val="123148"/>
              </a:lnSpc>
              <a:spcBef>
                <a:spcPts val="0"/>
              </a:spcBef>
              <a:spcAft>
                <a:spcPts val="0"/>
              </a:spcAft>
              <a:buClr>
                <a:srgbClr val="333333"/>
              </a:buClr>
              <a:buSzPts val="1400"/>
              <a:buFont typeface="Georgia"/>
              <a:buNone/>
            </a:pPr>
            <a:r>
              <a:rPr i="1" lang="en" sz="1600" u="none" cap="none" strike="noStrike">
                <a:solidFill>
                  <a:srgbClr val="333333"/>
                </a:solidFill>
                <a:latin typeface="Crimson Text"/>
                <a:ea typeface="Crimson Text"/>
                <a:cs typeface="Crimson Text"/>
                <a:sym typeface="Crimson Text"/>
              </a:rPr>
              <a:t>How can the process of creating AI/ML solutions amplify or mitigate bias in the case our group is using?</a:t>
            </a:r>
            <a:endParaRPr i="0" sz="1600" u="none" cap="none" strike="noStrike">
              <a:solidFill>
                <a:schemeClr val="dk1"/>
              </a:solidFill>
              <a:latin typeface="Crimson Text"/>
              <a:ea typeface="Crimson Text"/>
              <a:cs typeface="Crimson Text"/>
              <a:sym typeface="Crimson Text"/>
            </a:endParaRPr>
          </a:p>
        </p:txBody>
      </p:sp>
      <p:sp>
        <p:nvSpPr>
          <p:cNvPr id="202" name="Google Shape;202;p34"/>
          <p:cNvSpPr/>
          <p:nvPr/>
        </p:nvSpPr>
        <p:spPr>
          <a:xfrm>
            <a:off x="569595" y="1781175"/>
            <a:ext cx="7334250" cy="250508"/>
          </a:xfrm>
          <a:prstGeom prst="rect">
            <a:avLst/>
          </a:prstGeom>
          <a:noFill/>
          <a:ln>
            <a:noFill/>
          </a:ln>
        </p:spPr>
        <p:txBody>
          <a:bodyPr anchorCtr="0" anchor="t" bIns="12700" lIns="12700" spcFirstLastPara="1" rIns="12700" wrap="square" tIns="12700">
            <a:noAutofit/>
          </a:bodyPr>
          <a:lstStyle/>
          <a:p>
            <a:pPr indent="0" lvl="0" marL="0" marR="0" rtl="0" algn="l">
              <a:lnSpc>
                <a:spcPct val="116827"/>
              </a:lnSpc>
              <a:spcBef>
                <a:spcPts val="0"/>
              </a:spcBef>
              <a:spcAft>
                <a:spcPts val="0"/>
              </a:spcAft>
              <a:buClr>
                <a:srgbClr val="49557B"/>
              </a:buClr>
              <a:buSzPts val="1400"/>
              <a:buFont typeface="Arial"/>
              <a:buNone/>
            </a:pPr>
            <a:r>
              <a:rPr i="0" lang="en" sz="1700" u="none" cap="none" strike="noStrike">
                <a:solidFill>
                  <a:srgbClr val="49557B"/>
                </a:solidFill>
                <a:latin typeface="Crimson Text"/>
                <a:ea typeface="Crimson Text"/>
                <a:cs typeface="Crimson Text"/>
                <a:sym typeface="Crimson Text"/>
              </a:rPr>
              <a:t>Bias enters at every step of the process. Our choices decide which way it goes.</a:t>
            </a:r>
            <a:endParaRPr i="0" sz="1700" u="none" cap="none" strike="noStrike">
              <a:solidFill>
                <a:schemeClr val="dk1"/>
              </a:solidFill>
              <a:latin typeface="Crimson Text"/>
              <a:ea typeface="Crimson Text"/>
              <a:cs typeface="Crimson Text"/>
              <a:sym typeface="Crimson Text"/>
            </a:endParaRPr>
          </a:p>
        </p:txBody>
      </p:sp>
      <p:sp>
        <p:nvSpPr>
          <p:cNvPr id="203" name="Google Shape;203;p34"/>
          <p:cNvSpPr/>
          <p:nvPr/>
        </p:nvSpPr>
        <p:spPr>
          <a:xfrm>
            <a:off x="569595" y="2260283"/>
            <a:ext cx="4151186"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EE6067"/>
              </a:buClr>
              <a:buSzPts val="1200"/>
              <a:buFont typeface="Arial"/>
              <a:buNone/>
            </a:pPr>
            <a:r>
              <a:rPr b="1" i="0" lang="en" sz="1800" u="none" cap="none" strike="noStrike">
                <a:solidFill>
                  <a:srgbClr val="EE6067"/>
                </a:solidFill>
                <a:latin typeface="Crimson Text"/>
                <a:ea typeface="Crimson Text"/>
                <a:cs typeface="Crimson Text"/>
                <a:sym typeface="Crimson Text"/>
              </a:rPr>
              <a:t>What amplifies bias</a:t>
            </a:r>
            <a:endParaRPr b="1" i="0" sz="1800" u="none" cap="none" strike="noStrike">
              <a:solidFill>
                <a:schemeClr val="dk1"/>
              </a:solidFill>
              <a:latin typeface="Crimson Text"/>
              <a:ea typeface="Crimson Text"/>
              <a:cs typeface="Crimson Text"/>
              <a:sym typeface="Crimson Text"/>
            </a:endParaRPr>
          </a:p>
        </p:txBody>
      </p:sp>
      <p:sp>
        <p:nvSpPr>
          <p:cNvPr id="204" name="Google Shape;204;p34"/>
          <p:cNvSpPr/>
          <p:nvPr/>
        </p:nvSpPr>
        <p:spPr>
          <a:xfrm>
            <a:off x="569595" y="2672715"/>
            <a:ext cx="42863" cy="42863"/>
          </a:xfrm>
          <a:prstGeom prst="ellipse">
            <a:avLst/>
          </a:prstGeom>
          <a:solidFill>
            <a:srgbClr val="EE606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05" name="Google Shape;205;p34"/>
          <p:cNvSpPr/>
          <p:nvPr/>
        </p:nvSpPr>
        <p:spPr>
          <a:xfrm>
            <a:off x="698174" y="2555550"/>
            <a:ext cx="27063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Only 241 people, all from one study</a:t>
            </a:r>
            <a:endParaRPr i="0" sz="1300" u="none" cap="none" strike="noStrike">
              <a:solidFill>
                <a:schemeClr val="dk1"/>
              </a:solidFill>
              <a:latin typeface="Crimson Text"/>
              <a:ea typeface="Crimson Text"/>
              <a:cs typeface="Crimson Text"/>
              <a:sym typeface="Crimson Text"/>
            </a:endParaRPr>
          </a:p>
        </p:txBody>
      </p:sp>
      <p:sp>
        <p:nvSpPr>
          <p:cNvPr id="206" name="Google Shape;206;p34"/>
          <p:cNvSpPr/>
          <p:nvPr/>
        </p:nvSpPr>
        <p:spPr>
          <a:xfrm>
            <a:off x="569595" y="2990850"/>
            <a:ext cx="42863" cy="42863"/>
          </a:xfrm>
          <a:prstGeom prst="ellipse">
            <a:avLst/>
          </a:prstGeom>
          <a:solidFill>
            <a:srgbClr val="EE606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07" name="Google Shape;207;p34"/>
          <p:cNvSpPr/>
          <p:nvPr/>
        </p:nvSpPr>
        <p:spPr>
          <a:xfrm>
            <a:off x="698174" y="2873700"/>
            <a:ext cx="26058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Self report scales carry their own bias</a:t>
            </a:r>
            <a:endParaRPr i="0" sz="1300" u="none" cap="none" strike="noStrike">
              <a:solidFill>
                <a:schemeClr val="dk1"/>
              </a:solidFill>
              <a:latin typeface="Crimson Text"/>
              <a:ea typeface="Crimson Text"/>
              <a:cs typeface="Crimson Text"/>
              <a:sym typeface="Crimson Text"/>
            </a:endParaRPr>
          </a:p>
        </p:txBody>
      </p:sp>
      <p:sp>
        <p:nvSpPr>
          <p:cNvPr id="208" name="Google Shape;208;p34"/>
          <p:cNvSpPr/>
          <p:nvPr/>
        </p:nvSpPr>
        <p:spPr>
          <a:xfrm>
            <a:off x="569595" y="3308985"/>
            <a:ext cx="42863" cy="42863"/>
          </a:xfrm>
          <a:prstGeom prst="ellipse">
            <a:avLst/>
          </a:prstGeom>
          <a:solidFill>
            <a:srgbClr val="EE606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09" name="Google Shape;209;p34"/>
          <p:cNvSpPr/>
          <p:nvPr/>
        </p:nvSpPr>
        <p:spPr>
          <a:xfrm>
            <a:off x="698174" y="3191825"/>
            <a:ext cx="25431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Leaky features can fake a good score</a:t>
            </a:r>
            <a:endParaRPr i="0" sz="1300" u="none" cap="none" strike="noStrike">
              <a:solidFill>
                <a:schemeClr val="dk1"/>
              </a:solidFill>
              <a:latin typeface="Crimson Text"/>
              <a:ea typeface="Crimson Text"/>
              <a:cs typeface="Crimson Text"/>
              <a:sym typeface="Crimson Text"/>
            </a:endParaRPr>
          </a:p>
        </p:txBody>
      </p:sp>
      <p:sp>
        <p:nvSpPr>
          <p:cNvPr id="210" name="Google Shape;210;p34"/>
          <p:cNvSpPr/>
          <p:nvPr/>
        </p:nvSpPr>
        <p:spPr>
          <a:xfrm>
            <a:off x="4800600" y="2260283"/>
            <a:ext cx="4151186"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57B"/>
              </a:buClr>
              <a:buSzPts val="1200"/>
              <a:buFont typeface="Arial"/>
              <a:buNone/>
            </a:pPr>
            <a:r>
              <a:rPr b="1" i="0" lang="en" sz="1800" u="none" cap="none" strike="noStrike">
                <a:solidFill>
                  <a:srgbClr val="49557B"/>
                </a:solidFill>
                <a:latin typeface="Crimson Text"/>
                <a:ea typeface="Crimson Text"/>
                <a:cs typeface="Crimson Text"/>
                <a:sym typeface="Crimson Text"/>
              </a:rPr>
              <a:t>What reduces bias</a:t>
            </a:r>
            <a:endParaRPr b="1" i="0" sz="1800" u="none" cap="none" strike="noStrike">
              <a:solidFill>
                <a:schemeClr val="dk1"/>
              </a:solidFill>
              <a:latin typeface="Crimson Text"/>
              <a:ea typeface="Crimson Text"/>
              <a:cs typeface="Crimson Text"/>
              <a:sym typeface="Crimson Text"/>
            </a:endParaRPr>
          </a:p>
        </p:txBody>
      </p:sp>
      <p:sp>
        <p:nvSpPr>
          <p:cNvPr id="211" name="Google Shape;211;p34"/>
          <p:cNvSpPr/>
          <p:nvPr/>
        </p:nvSpPr>
        <p:spPr>
          <a:xfrm>
            <a:off x="4800600" y="2672715"/>
            <a:ext cx="42863" cy="42863"/>
          </a:xfrm>
          <a:prstGeom prst="ellipse">
            <a:avLst/>
          </a:prstGeom>
          <a:solidFill>
            <a:srgbClr val="4955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12" name="Google Shape;212;p34"/>
          <p:cNvSpPr/>
          <p:nvPr/>
        </p:nvSpPr>
        <p:spPr>
          <a:xfrm>
            <a:off x="4929203" y="2555550"/>
            <a:ext cx="31290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Removed symptom scales to stop leakage</a:t>
            </a:r>
            <a:endParaRPr i="0" sz="1300" u="none" cap="none" strike="noStrike">
              <a:solidFill>
                <a:schemeClr val="dk1"/>
              </a:solidFill>
              <a:latin typeface="Crimson Text"/>
              <a:ea typeface="Crimson Text"/>
              <a:cs typeface="Crimson Text"/>
              <a:sym typeface="Crimson Text"/>
            </a:endParaRPr>
          </a:p>
        </p:txBody>
      </p:sp>
      <p:sp>
        <p:nvSpPr>
          <p:cNvPr id="213" name="Google Shape;213;p34"/>
          <p:cNvSpPr/>
          <p:nvPr/>
        </p:nvSpPr>
        <p:spPr>
          <a:xfrm>
            <a:off x="4800600" y="2990850"/>
            <a:ext cx="42863" cy="42863"/>
          </a:xfrm>
          <a:prstGeom prst="ellipse">
            <a:avLst/>
          </a:prstGeom>
          <a:solidFill>
            <a:srgbClr val="4955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14" name="Google Shape;214;p34"/>
          <p:cNvSpPr/>
          <p:nvPr/>
        </p:nvSpPr>
        <p:spPr>
          <a:xfrm>
            <a:off x="4929202" y="2873700"/>
            <a:ext cx="26058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Compared </a:t>
            </a:r>
            <a:r>
              <a:rPr lang="en" sz="1300">
                <a:solidFill>
                  <a:srgbClr val="333333"/>
                </a:solidFill>
                <a:latin typeface="Crimson Text"/>
                <a:ea typeface="Crimson Text"/>
                <a:cs typeface="Crimson Text"/>
                <a:sym typeface="Crimson Text"/>
              </a:rPr>
              <a:t>36</a:t>
            </a:r>
            <a:r>
              <a:rPr i="0" lang="en" sz="1300" u="none" cap="none" strike="noStrike">
                <a:solidFill>
                  <a:srgbClr val="333333"/>
                </a:solidFill>
                <a:latin typeface="Crimson Text"/>
                <a:ea typeface="Crimson Text"/>
                <a:cs typeface="Crimson Text"/>
                <a:sym typeface="Crimson Text"/>
              </a:rPr>
              <a:t> models, not just one</a:t>
            </a:r>
            <a:endParaRPr i="0" sz="1300" u="none" cap="none" strike="noStrike">
              <a:solidFill>
                <a:schemeClr val="dk1"/>
              </a:solidFill>
              <a:latin typeface="Crimson Text"/>
              <a:ea typeface="Crimson Text"/>
              <a:cs typeface="Crimson Text"/>
              <a:sym typeface="Crimson Text"/>
            </a:endParaRPr>
          </a:p>
        </p:txBody>
      </p:sp>
      <p:sp>
        <p:nvSpPr>
          <p:cNvPr id="215" name="Google Shape;215;p34"/>
          <p:cNvSpPr/>
          <p:nvPr/>
        </p:nvSpPr>
        <p:spPr>
          <a:xfrm>
            <a:off x="4800600" y="3308985"/>
            <a:ext cx="42863" cy="42863"/>
          </a:xfrm>
          <a:prstGeom prst="ellipse">
            <a:avLst/>
          </a:prstGeom>
          <a:solidFill>
            <a:srgbClr val="4955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16" name="Google Shape;216;p34"/>
          <p:cNvSpPr/>
          <p:nvPr/>
        </p:nvSpPr>
        <p:spPr>
          <a:xfrm>
            <a:off x="4929202" y="3191825"/>
            <a:ext cx="2900400" cy="23250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300" u="none" cap="none" strike="noStrike">
                <a:solidFill>
                  <a:srgbClr val="333333"/>
                </a:solidFill>
                <a:latin typeface="Crimson Text"/>
                <a:ea typeface="Crimson Text"/>
                <a:cs typeface="Crimson Text"/>
                <a:sym typeface="Crimson Text"/>
              </a:rPr>
              <a:t>Shared our weak results and all our code</a:t>
            </a:r>
            <a:endParaRPr i="0" sz="1300" u="none" cap="none" strike="noStrike">
              <a:solidFill>
                <a:schemeClr val="dk1"/>
              </a:solidFill>
              <a:latin typeface="Crimson Text"/>
              <a:ea typeface="Crimson Text"/>
              <a:cs typeface="Crimson Text"/>
              <a:sym typeface="Crimson Text"/>
            </a:endParaRPr>
          </a:p>
        </p:txBody>
      </p:sp>
      <p:sp>
        <p:nvSpPr>
          <p:cNvPr id="217" name="Google Shape;217;p34"/>
          <p:cNvSpPr/>
          <p:nvPr/>
        </p:nvSpPr>
        <p:spPr>
          <a:xfrm>
            <a:off x="569595" y="3614738"/>
            <a:ext cx="7143750" cy="4763"/>
          </a:xfrm>
          <a:prstGeom prst="rect">
            <a:avLst/>
          </a:prstGeom>
          <a:solidFill>
            <a:srgbClr val="DCDCD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218" name="Google Shape;218;p34"/>
          <p:cNvSpPr/>
          <p:nvPr/>
        </p:nvSpPr>
        <p:spPr>
          <a:xfrm>
            <a:off x="569595" y="3742373"/>
            <a:ext cx="7358063" cy="232410"/>
          </a:xfrm>
          <a:prstGeom prst="rect">
            <a:avLst/>
          </a:prstGeom>
          <a:noFill/>
          <a:ln>
            <a:noFill/>
          </a:ln>
        </p:spPr>
        <p:txBody>
          <a:bodyPr anchorCtr="0" anchor="t" bIns="12700" lIns="12700" spcFirstLastPara="1" rIns="12700" wrap="square" tIns="12700">
            <a:noAutofit/>
          </a:bodyPr>
          <a:lstStyle/>
          <a:p>
            <a:pPr indent="0" lvl="0" marL="0" marR="0" rtl="0" algn="l">
              <a:lnSpc>
                <a:spcPct val="121739"/>
              </a:lnSpc>
              <a:spcBef>
                <a:spcPts val="0"/>
              </a:spcBef>
              <a:spcAft>
                <a:spcPts val="0"/>
              </a:spcAft>
              <a:buClr>
                <a:srgbClr val="333333"/>
              </a:buClr>
              <a:buSzPts val="1200"/>
              <a:buFont typeface="Georgia"/>
              <a:buNone/>
            </a:pPr>
            <a:r>
              <a:rPr i="0" lang="en" sz="1200" u="none" cap="none" strike="noStrike">
                <a:solidFill>
                  <a:srgbClr val="333333"/>
                </a:solidFill>
                <a:latin typeface="Crimson Text"/>
                <a:ea typeface="Crimson Text"/>
                <a:cs typeface="Crimson Text"/>
                <a:sym typeface="Crimson Text"/>
              </a:rPr>
              <a:t>We cannot remove bias, only make it visible. That is why this stays a research tool and never a diagnosis.</a:t>
            </a:r>
            <a:endParaRPr i="0" sz="1200" u="none" cap="none" strike="noStrike">
              <a:solidFill>
                <a:schemeClr val="dk1"/>
              </a:solidFill>
              <a:latin typeface="Crimson Text"/>
              <a:ea typeface="Crimson Text"/>
              <a:cs typeface="Crimson Text"/>
              <a:sym typeface="Crimson Text"/>
            </a:endParaRPr>
          </a:p>
        </p:txBody>
      </p:sp>
      <p:sp>
        <p:nvSpPr>
          <p:cNvPr id="219" name="Google Shape;219;p34"/>
          <p:cNvSpPr/>
          <p:nvPr/>
        </p:nvSpPr>
        <p:spPr>
          <a:xfrm>
            <a:off x="7620" y="4678680"/>
            <a:ext cx="9128760" cy="457200"/>
          </a:xfrm>
          <a:prstGeom prst="rect">
            <a:avLst/>
          </a:prstGeom>
          <a:solidFill>
            <a:srgbClr val="D2E0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587500" y="2874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Takeaways</a:t>
            </a:r>
            <a:endParaRPr/>
          </a:p>
        </p:txBody>
      </p:sp>
      <p:sp>
        <p:nvSpPr>
          <p:cNvPr id="225" name="Google Shape;225;p35"/>
          <p:cNvSpPr txBox="1"/>
          <p:nvPr>
            <p:ph idx="1" type="subTitle"/>
          </p:nvPr>
        </p:nvSpPr>
        <p:spPr>
          <a:xfrm>
            <a:off x="3078300" y="2054450"/>
            <a:ext cx="2987400" cy="1504500"/>
          </a:xfrm>
          <a:prstGeom prst="rect">
            <a:avLst/>
          </a:prstGeom>
        </p:spPr>
        <p:txBody>
          <a:bodyPr anchorCtr="0" anchor="t" bIns="91425" lIns="91425" spcFirstLastPara="1" rIns="91425" wrap="square" tIns="91425">
            <a:noAutofit/>
          </a:bodyPr>
          <a:lstStyle/>
          <a:p>
            <a:pPr indent="-133350" lvl="0" marL="114300" rtl="0" algn="l">
              <a:lnSpc>
                <a:spcPct val="115000"/>
              </a:lnSpc>
              <a:spcBef>
                <a:spcPts val="1200"/>
              </a:spcBef>
              <a:spcAft>
                <a:spcPts val="0"/>
              </a:spcAft>
              <a:buClr>
                <a:srgbClr val="000000"/>
              </a:buClr>
              <a:buSzPts val="1200"/>
              <a:buFont typeface="Barlow"/>
              <a:buChar char="●"/>
            </a:pPr>
            <a:r>
              <a:rPr lang="en">
                <a:solidFill>
                  <a:srgbClr val="000000"/>
                </a:solidFill>
              </a:rPr>
              <a:t>Developed an end-to-end machine learning pipeline</a:t>
            </a:r>
            <a:endParaRPr>
              <a:solidFill>
                <a:srgbClr val="000000"/>
              </a:solidFill>
            </a:endParaRPr>
          </a:p>
          <a:p>
            <a:pPr indent="-133350" lvl="0" marL="114300" rtl="0" algn="l">
              <a:lnSpc>
                <a:spcPct val="115000"/>
              </a:lnSpc>
              <a:spcBef>
                <a:spcPts val="0"/>
              </a:spcBef>
              <a:spcAft>
                <a:spcPts val="0"/>
              </a:spcAft>
              <a:buClr>
                <a:srgbClr val="000000"/>
              </a:buClr>
              <a:buSzPts val="1200"/>
              <a:buFont typeface="Barlow"/>
              <a:buChar char="●"/>
            </a:pPr>
            <a:r>
              <a:rPr lang="en">
                <a:solidFill>
                  <a:srgbClr val="000000"/>
                </a:solidFill>
              </a:rPr>
              <a:t>Compared behavioral, imaging-only, and multimodal models</a:t>
            </a:r>
            <a:endParaRPr>
              <a:solidFill>
                <a:srgbClr val="000000"/>
              </a:solidFill>
            </a:endParaRPr>
          </a:p>
          <a:p>
            <a:pPr indent="-133350" lvl="0" marL="114300" rtl="0" algn="l">
              <a:lnSpc>
                <a:spcPct val="115000"/>
              </a:lnSpc>
              <a:spcBef>
                <a:spcPts val="0"/>
              </a:spcBef>
              <a:spcAft>
                <a:spcPts val="0"/>
              </a:spcAft>
              <a:buClr>
                <a:srgbClr val="000000"/>
              </a:buClr>
              <a:buSzPts val="1200"/>
              <a:buFont typeface="Barlow"/>
              <a:buChar char="●"/>
            </a:pPr>
            <a:r>
              <a:rPr lang="en">
                <a:solidFill>
                  <a:srgbClr val="000000"/>
                </a:solidFill>
              </a:rPr>
              <a:t>Built an interactive Streamlit dashboard for exploring model results</a:t>
            </a:r>
            <a:endParaRPr/>
          </a:p>
        </p:txBody>
      </p:sp>
      <p:sp>
        <p:nvSpPr>
          <p:cNvPr id="226" name="Google Shape;226;p35"/>
          <p:cNvSpPr txBox="1"/>
          <p:nvPr>
            <p:ph idx="2" type="subTitle"/>
          </p:nvPr>
        </p:nvSpPr>
        <p:spPr>
          <a:xfrm>
            <a:off x="71800" y="1907169"/>
            <a:ext cx="2987400" cy="1504500"/>
          </a:xfrm>
          <a:prstGeom prst="rect">
            <a:avLst/>
          </a:prstGeom>
        </p:spPr>
        <p:txBody>
          <a:bodyPr anchorCtr="0" anchor="t" bIns="91425" lIns="91425" spcFirstLastPara="1" rIns="91425" wrap="square" tIns="91425">
            <a:noAutofit/>
          </a:bodyPr>
          <a:lstStyle/>
          <a:p>
            <a:pPr indent="-133350" lvl="0" marL="114300" rtl="0" algn="ctr">
              <a:lnSpc>
                <a:spcPct val="115000"/>
              </a:lnSpc>
              <a:spcBef>
                <a:spcPts val="1200"/>
              </a:spcBef>
              <a:spcAft>
                <a:spcPts val="0"/>
              </a:spcAft>
              <a:buClr>
                <a:srgbClr val="000000"/>
              </a:buClr>
              <a:buSzPts val="1200"/>
              <a:buFont typeface="Barlow"/>
              <a:buChar char="●"/>
            </a:pPr>
            <a:r>
              <a:rPr lang="en">
                <a:solidFill>
                  <a:srgbClr val="000000"/>
                </a:solidFill>
              </a:rPr>
              <a:t>Behavioral features consistently outperformed imaging features</a:t>
            </a:r>
            <a:endParaRPr>
              <a:solidFill>
                <a:srgbClr val="000000"/>
              </a:solidFill>
            </a:endParaRPr>
          </a:p>
          <a:p>
            <a:pPr indent="-133350" lvl="0" marL="114300" rtl="0" algn="ctr">
              <a:lnSpc>
                <a:spcPct val="115000"/>
              </a:lnSpc>
              <a:spcBef>
                <a:spcPts val="0"/>
              </a:spcBef>
              <a:spcAft>
                <a:spcPts val="0"/>
              </a:spcAft>
              <a:buClr>
                <a:srgbClr val="000000"/>
              </a:buClr>
              <a:buSzPts val="1200"/>
              <a:buFont typeface="Barlow"/>
              <a:buChar char="●"/>
            </a:pPr>
            <a:r>
              <a:rPr lang="en">
                <a:solidFill>
                  <a:srgbClr val="000000"/>
                </a:solidFill>
              </a:rPr>
              <a:t>Multimodal models provided little improvement over behavioral data alone</a:t>
            </a:r>
            <a:endParaRPr>
              <a:solidFill>
                <a:srgbClr val="000000"/>
              </a:solidFill>
            </a:endParaRPr>
          </a:p>
          <a:p>
            <a:pPr indent="-133350" lvl="0" marL="114300" rtl="0" algn="ctr">
              <a:lnSpc>
                <a:spcPct val="115000"/>
              </a:lnSpc>
              <a:spcBef>
                <a:spcPts val="0"/>
              </a:spcBef>
              <a:spcAft>
                <a:spcPts val="0"/>
              </a:spcAft>
              <a:buClr>
                <a:srgbClr val="000000"/>
              </a:buClr>
              <a:buSzPts val="1200"/>
              <a:buFont typeface="Barlow"/>
              <a:buChar char="●"/>
            </a:pPr>
            <a:r>
              <a:rPr lang="en">
                <a:solidFill>
                  <a:srgbClr val="000000"/>
                </a:solidFill>
              </a:rPr>
              <a:t>Cross-category symptom information improved prediction for some outcomes</a:t>
            </a:r>
            <a:endParaRPr>
              <a:solidFill>
                <a:srgbClr val="000000"/>
              </a:solidFill>
            </a:endParaRPr>
          </a:p>
          <a:p>
            <a:pPr indent="-127000" lvl="0" marL="114300" rtl="0" algn="ctr">
              <a:lnSpc>
                <a:spcPct val="115000"/>
              </a:lnSpc>
              <a:spcBef>
                <a:spcPts val="0"/>
              </a:spcBef>
              <a:spcAft>
                <a:spcPts val="0"/>
              </a:spcAft>
              <a:buClr>
                <a:srgbClr val="000000"/>
              </a:buClr>
              <a:buSzPts val="1100"/>
              <a:buFont typeface="Arial"/>
              <a:buChar char="●"/>
            </a:pPr>
            <a:r>
              <a:rPr lang="en">
                <a:solidFill>
                  <a:srgbClr val="000000"/>
                </a:solidFill>
              </a:rPr>
              <a:t>Removing behavioral symptom questionnaires that could introduce target leakage outperformed imaging features</a:t>
            </a:r>
            <a:endParaRPr>
              <a:solidFill>
                <a:srgbClr val="000000"/>
              </a:solidFill>
            </a:endParaRPr>
          </a:p>
          <a:p>
            <a:pPr indent="-57150" lvl="0" marL="114300" rtl="0" algn="ctr">
              <a:spcBef>
                <a:spcPts val="1200"/>
              </a:spcBef>
              <a:spcAft>
                <a:spcPts val="0"/>
              </a:spcAft>
              <a:buNone/>
            </a:pPr>
            <a:r>
              <a:t/>
            </a:r>
            <a:endParaRPr/>
          </a:p>
        </p:txBody>
      </p:sp>
      <p:sp>
        <p:nvSpPr>
          <p:cNvPr id="227" name="Google Shape;227;p35"/>
          <p:cNvSpPr txBox="1"/>
          <p:nvPr>
            <p:ph idx="3" type="subTitle"/>
          </p:nvPr>
        </p:nvSpPr>
        <p:spPr>
          <a:xfrm>
            <a:off x="203338" y="1616120"/>
            <a:ext cx="27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1400">
                <a:solidFill>
                  <a:srgbClr val="333333"/>
                </a:solidFill>
                <a:latin typeface="Arial"/>
                <a:ea typeface="Arial"/>
                <a:cs typeface="Arial"/>
                <a:sym typeface="Arial"/>
              </a:rPr>
              <a:t>Major Findings</a:t>
            </a:r>
            <a:endParaRPr>
              <a:solidFill>
                <a:srgbClr val="333333"/>
              </a:solidFill>
            </a:endParaRPr>
          </a:p>
        </p:txBody>
      </p:sp>
      <p:sp>
        <p:nvSpPr>
          <p:cNvPr id="228" name="Google Shape;228;p35"/>
          <p:cNvSpPr txBox="1"/>
          <p:nvPr>
            <p:ph idx="4" type="subTitle"/>
          </p:nvPr>
        </p:nvSpPr>
        <p:spPr>
          <a:xfrm>
            <a:off x="3268200" y="1616120"/>
            <a:ext cx="26076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1400">
                <a:solidFill>
                  <a:srgbClr val="333333"/>
                </a:solidFill>
                <a:latin typeface="Arial"/>
                <a:ea typeface="Arial"/>
                <a:cs typeface="Arial"/>
                <a:sym typeface="Arial"/>
              </a:rPr>
              <a:t>Project Outcomes</a:t>
            </a:r>
            <a:endParaRPr>
              <a:solidFill>
                <a:srgbClr val="333333"/>
              </a:solidFill>
            </a:endParaRPr>
          </a:p>
        </p:txBody>
      </p:sp>
      <p:sp>
        <p:nvSpPr>
          <p:cNvPr id="229" name="Google Shape;229;p35"/>
          <p:cNvSpPr txBox="1"/>
          <p:nvPr>
            <p:ph idx="1" type="subTitle"/>
          </p:nvPr>
        </p:nvSpPr>
        <p:spPr>
          <a:xfrm>
            <a:off x="6084798" y="2054432"/>
            <a:ext cx="2987400" cy="1504500"/>
          </a:xfrm>
          <a:prstGeom prst="rect">
            <a:avLst/>
          </a:prstGeom>
        </p:spPr>
        <p:txBody>
          <a:bodyPr anchorCtr="0" anchor="t" bIns="91425" lIns="91425" spcFirstLastPara="1" rIns="91425" wrap="square" tIns="91425">
            <a:noAutofit/>
          </a:bodyPr>
          <a:lstStyle/>
          <a:p>
            <a:pPr indent="-133350" lvl="0" marL="57150" rtl="0" algn="l">
              <a:lnSpc>
                <a:spcPct val="115000"/>
              </a:lnSpc>
              <a:spcBef>
                <a:spcPts val="1200"/>
              </a:spcBef>
              <a:spcAft>
                <a:spcPts val="0"/>
              </a:spcAft>
              <a:buClr>
                <a:srgbClr val="000000"/>
              </a:buClr>
              <a:buSzPts val="1200"/>
              <a:buFont typeface="Barlow"/>
              <a:buChar char="●"/>
            </a:pPr>
            <a:r>
              <a:rPr lang="en">
                <a:solidFill>
                  <a:srgbClr val="000000"/>
                </a:solidFill>
              </a:rPr>
              <a:t>P</a:t>
            </a:r>
            <a:r>
              <a:rPr lang="en">
                <a:solidFill>
                  <a:srgbClr val="000000"/>
                </a:solidFill>
              </a:rPr>
              <a:t>reprocessing and feature engineering greatly affects model performance</a:t>
            </a:r>
            <a:endParaRPr>
              <a:solidFill>
                <a:srgbClr val="000000"/>
              </a:solidFill>
            </a:endParaRPr>
          </a:p>
          <a:p>
            <a:pPr indent="-133350" lvl="0" marL="57150" rtl="0" algn="l">
              <a:lnSpc>
                <a:spcPct val="115000"/>
              </a:lnSpc>
              <a:spcBef>
                <a:spcPts val="0"/>
              </a:spcBef>
              <a:spcAft>
                <a:spcPts val="0"/>
              </a:spcAft>
              <a:buClr>
                <a:srgbClr val="000000"/>
              </a:buClr>
              <a:buSzPts val="1200"/>
              <a:buFont typeface="Barlow"/>
              <a:buChar char="●"/>
            </a:pPr>
            <a:r>
              <a:rPr lang="en">
                <a:solidFill>
                  <a:srgbClr val="000000"/>
                </a:solidFill>
              </a:rPr>
              <a:t>More features do not necessarily produce better predictions</a:t>
            </a:r>
            <a:endParaRPr>
              <a:solidFill>
                <a:srgbClr val="000000"/>
              </a:solidFill>
            </a:endParaRPr>
          </a:p>
          <a:p>
            <a:pPr indent="-133350" lvl="0" marL="57150" rtl="0" algn="l">
              <a:lnSpc>
                <a:spcPct val="115000"/>
              </a:lnSpc>
              <a:spcBef>
                <a:spcPts val="0"/>
              </a:spcBef>
              <a:spcAft>
                <a:spcPts val="0"/>
              </a:spcAft>
              <a:buClr>
                <a:srgbClr val="000000"/>
              </a:buClr>
              <a:buSzPts val="1200"/>
              <a:buFont typeface="Barlow"/>
              <a:buChar char="●"/>
            </a:pPr>
            <a:r>
              <a:rPr lang="en">
                <a:solidFill>
                  <a:srgbClr val="000000"/>
                </a:solidFill>
              </a:rPr>
              <a:t>Thorough validation is essential for trustworthy machine learning models</a:t>
            </a:r>
            <a:endParaRPr/>
          </a:p>
        </p:txBody>
      </p:sp>
      <p:sp>
        <p:nvSpPr>
          <p:cNvPr id="230" name="Google Shape;230;p35"/>
          <p:cNvSpPr txBox="1"/>
          <p:nvPr>
            <p:ph idx="4" type="subTitle"/>
          </p:nvPr>
        </p:nvSpPr>
        <p:spPr>
          <a:xfrm>
            <a:off x="6216350" y="1616120"/>
            <a:ext cx="27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1400">
                <a:solidFill>
                  <a:srgbClr val="333333"/>
                </a:solidFill>
                <a:latin typeface="Arial"/>
                <a:ea typeface="Arial"/>
                <a:cs typeface="Arial"/>
                <a:sym typeface="Arial"/>
              </a:rPr>
              <a:t>Lessons learned</a:t>
            </a:r>
            <a:endParaRPr>
              <a:solidFill>
                <a:srgbClr val="333333"/>
              </a:solidFill>
            </a:endParaRPr>
          </a:p>
        </p:txBody>
      </p:sp>
      <p:grpSp>
        <p:nvGrpSpPr>
          <p:cNvPr id="231" name="Google Shape;231;p35"/>
          <p:cNvGrpSpPr/>
          <p:nvPr/>
        </p:nvGrpSpPr>
        <p:grpSpPr>
          <a:xfrm>
            <a:off x="7310013" y="1259381"/>
            <a:ext cx="536822" cy="521223"/>
            <a:chOff x="5965264" y="4045683"/>
            <a:chExt cx="551208" cy="535192"/>
          </a:xfrm>
        </p:grpSpPr>
        <p:sp>
          <p:nvSpPr>
            <p:cNvPr id="232" name="Google Shape;232;p35"/>
            <p:cNvSpPr/>
            <p:nvPr/>
          </p:nvSpPr>
          <p:spPr>
            <a:xfrm>
              <a:off x="6014244" y="4094195"/>
              <a:ext cx="113195" cy="109930"/>
            </a:xfrm>
            <a:custGeom>
              <a:rect b="b" l="l" r="r" t="t"/>
              <a:pathLst>
                <a:path extrusionOk="0" h="707" w="728">
                  <a:moveTo>
                    <a:pt x="104" y="404"/>
                  </a:moveTo>
                  <a:lnTo>
                    <a:pt x="104" y="303"/>
                  </a:lnTo>
                  <a:lnTo>
                    <a:pt x="312" y="303"/>
                  </a:lnTo>
                  <a:lnTo>
                    <a:pt x="312" y="101"/>
                  </a:lnTo>
                  <a:lnTo>
                    <a:pt x="416" y="101"/>
                  </a:lnTo>
                  <a:lnTo>
                    <a:pt x="416" y="303"/>
                  </a:lnTo>
                  <a:lnTo>
                    <a:pt x="624" y="303"/>
                  </a:lnTo>
                  <a:lnTo>
                    <a:pt x="624" y="404"/>
                  </a:lnTo>
                  <a:lnTo>
                    <a:pt x="416" y="404"/>
                  </a:lnTo>
                  <a:lnTo>
                    <a:pt x="416" y="606"/>
                  </a:lnTo>
                  <a:lnTo>
                    <a:pt x="312" y="606"/>
                  </a:lnTo>
                  <a:lnTo>
                    <a:pt x="312" y="404"/>
                  </a:lnTo>
                  <a:lnTo>
                    <a:pt x="104" y="404"/>
                  </a:lnTo>
                  <a:moveTo>
                    <a:pt x="520" y="707"/>
                  </a:moveTo>
                  <a:lnTo>
                    <a:pt x="520" y="505"/>
                  </a:lnTo>
                  <a:lnTo>
                    <a:pt x="728" y="505"/>
                  </a:lnTo>
                  <a:lnTo>
                    <a:pt x="728" y="202"/>
                  </a:lnTo>
                  <a:lnTo>
                    <a:pt x="520" y="202"/>
                  </a:lnTo>
                  <a:lnTo>
                    <a:pt x="520" y="0"/>
                  </a:lnTo>
                  <a:lnTo>
                    <a:pt x="208" y="0"/>
                  </a:lnTo>
                  <a:lnTo>
                    <a:pt x="208" y="202"/>
                  </a:lnTo>
                  <a:lnTo>
                    <a:pt x="0" y="202"/>
                  </a:lnTo>
                  <a:lnTo>
                    <a:pt x="0" y="505"/>
                  </a:lnTo>
                  <a:lnTo>
                    <a:pt x="208" y="505"/>
                  </a:lnTo>
                  <a:lnTo>
                    <a:pt x="208" y="707"/>
                  </a:lnTo>
                  <a:lnTo>
                    <a:pt x="520" y="707"/>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3" name="Google Shape;233;p35"/>
            <p:cNvSpPr/>
            <p:nvPr/>
          </p:nvSpPr>
          <p:spPr>
            <a:xfrm>
              <a:off x="6408875" y="4476387"/>
              <a:ext cx="107597" cy="104488"/>
            </a:xfrm>
            <a:custGeom>
              <a:rect b="b" l="l" r="r" t="t"/>
              <a:pathLst>
                <a:path extrusionOk="0" h="672" w="692">
                  <a:moveTo>
                    <a:pt x="346" y="454"/>
                  </a:moveTo>
                  <a:cubicBezTo>
                    <a:pt x="316" y="406"/>
                    <a:pt x="274" y="365"/>
                    <a:pt x="224" y="336"/>
                  </a:cubicBezTo>
                  <a:cubicBezTo>
                    <a:pt x="274" y="307"/>
                    <a:pt x="316" y="266"/>
                    <a:pt x="346" y="217"/>
                  </a:cubicBezTo>
                  <a:cubicBezTo>
                    <a:pt x="376" y="266"/>
                    <a:pt x="418" y="307"/>
                    <a:pt x="468" y="336"/>
                  </a:cubicBezTo>
                  <a:cubicBezTo>
                    <a:pt x="418" y="365"/>
                    <a:pt x="376" y="406"/>
                    <a:pt x="346" y="454"/>
                  </a:cubicBezTo>
                  <a:moveTo>
                    <a:pt x="654" y="285"/>
                  </a:moveTo>
                  <a:cubicBezTo>
                    <a:pt x="513" y="285"/>
                    <a:pt x="398" y="174"/>
                    <a:pt x="398" y="36"/>
                  </a:cubicBezTo>
                  <a:lnTo>
                    <a:pt x="398" y="0"/>
                  </a:lnTo>
                  <a:lnTo>
                    <a:pt x="294" y="0"/>
                  </a:lnTo>
                  <a:lnTo>
                    <a:pt x="294" y="36"/>
                  </a:lnTo>
                  <a:cubicBezTo>
                    <a:pt x="294" y="174"/>
                    <a:pt x="179" y="285"/>
                    <a:pt x="38" y="285"/>
                  </a:cubicBezTo>
                  <a:lnTo>
                    <a:pt x="0" y="285"/>
                  </a:lnTo>
                  <a:lnTo>
                    <a:pt x="0" y="386"/>
                  </a:lnTo>
                  <a:lnTo>
                    <a:pt x="38" y="386"/>
                  </a:lnTo>
                  <a:cubicBezTo>
                    <a:pt x="179" y="386"/>
                    <a:pt x="294" y="498"/>
                    <a:pt x="294" y="635"/>
                  </a:cubicBezTo>
                  <a:lnTo>
                    <a:pt x="294" y="672"/>
                  </a:lnTo>
                  <a:lnTo>
                    <a:pt x="398" y="672"/>
                  </a:lnTo>
                  <a:lnTo>
                    <a:pt x="398" y="635"/>
                  </a:lnTo>
                  <a:cubicBezTo>
                    <a:pt x="398" y="498"/>
                    <a:pt x="513" y="386"/>
                    <a:pt x="654" y="386"/>
                  </a:cubicBezTo>
                  <a:lnTo>
                    <a:pt x="692" y="386"/>
                  </a:lnTo>
                  <a:lnTo>
                    <a:pt x="692" y="285"/>
                  </a:lnTo>
                  <a:lnTo>
                    <a:pt x="654" y="285"/>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4" name="Google Shape;234;p35"/>
            <p:cNvSpPr/>
            <p:nvPr/>
          </p:nvSpPr>
          <p:spPr>
            <a:xfrm>
              <a:off x="5965264" y="4476387"/>
              <a:ext cx="107597" cy="104488"/>
            </a:xfrm>
            <a:custGeom>
              <a:rect b="b" l="l" r="r" t="t"/>
              <a:pathLst>
                <a:path extrusionOk="0" h="672" w="692">
                  <a:moveTo>
                    <a:pt x="346" y="454"/>
                  </a:moveTo>
                  <a:cubicBezTo>
                    <a:pt x="316" y="406"/>
                    <a:pt x="274" y="365"/>
                    <a:pt x="224" y="336"/>
                  </a:cubicBezTo>
                  <a:cubicBezTo>
                    <a:pt x="274" y="307"/>
                    <a:pt x="316" y="266"/>
                    <a:pt x="346" y="217"/>
                  </a:cubicBezTo>
                  <a:cubicBezTo>
                    <a:pt x="376" y="266"/>
                    <a:pt x="418" y="307"/>
                    <a:pt x="468" y="336"/>
                  </a:cubicBezTo>
                  <a:cubicBezTo>
                    <a:pt x="418" y="365"/>
                    <a:pt x="376" y="406"/>
                    <a:pt x="346" y="454"/>
                  </a:cubicBezTo>
                  <a:moveTo>
                    <a:pt x="398" y="36"/>
                  </a:moveTo>
                  <a:lnTo>
                    <a:pt x="398" y="0"/>
                  </a:lnTo>
                  <a:lnTo>
                    <a:pt x="294" y="0"/>
                  </a:lnTo>
                  <a:lnTo>
                    <a:pt x="294" y="36"/>
                  </a:lnTo>
                  <a:cubicBezTo>
                    <a:pt x="294" y="174"/>
                    <a:pt x="179" y="285"/>
                    <a:pt x="38" y="285"/>
                  </a:cubicBezTo>
                  <a:lnTo>
                    <a:pt x="0" y="285"/>
                  </a:lnTo>
                  <a:lnTo>
                    <a:pt x="0" y="386"/>
                  </a:lnTo>
                  <a:lnTo>
                    <a:pt x="38" y="386"/>
                  </a:lnTo>
                  <a:cubicBezTo>
                    <a:pt x="179" y="386"/>
                    <a:pt x="294" y="498"/>
                    <a:pt x="294" y="635"/>
                  </a:cubicBezTo>
                  <a:lnTo>
                    <a:pt x="294" y="672"/>
                  </a:lnTo>
                  <a:lnTo>
                    <a:pt x="398" y="672"/>
                  </a:lnTo>
                  <a:lnTo>
                    <a:pt x="398" y="635"/>
                  </a:lnTo>
                  <a:cubicBezTo>
                    <a:pt x="398" y="498"/>
                    <a:pt x="513" y="386"/>
                    <a:pt x="654" y="386"/>
                  </a:cubicBezTo>
                  <a:lnTo>
                    <a:pt x="692" y="386"/>
                  </a:lnTo>
                  <a:lnTo>
                    <a:pt x="692" y="285"/>
                  </a:lnTo>
                  <a:lnTo>
                    <a:pt x="654" y="285"/>
                  </a:lnTo>
                  <a:cubicBezTo>
                    <a:pt x="513" y="285"/>
                    <a:pt x="398" y="174"/>
                    <a:pt x="398" y="36"/>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5" name="Google Shape;235;p35"/>
            <p:cNvSpPr/>
            <p:nvPr/>
          </p:nvSpPr>
          <p:spPr>
            <a:xfrm>
              <a:off x="6281219" y="4253260"/>
              <a:ext cx="76500" cy="141649"/>
            </a:xfrm>
            <a:custGeom>
              <a:rect b="b" l="l" r="r" t="t"/>
              <a:pathLst>
                <a:path extrusionOk="0" h="911" w="492">
                  <a:moveTo>
                    <a:pt x="163" y="911"/>
                  </a:moveTo>
                  <a:lnTo>
                    <a:pt x="254" y="863"/>
                  </a:lnTo>
                  <a:cubicBezTo>
                    <a:pt x="175" y="722"/>
                    <a:pt x="204" y="546"/>
                    <a:pt x="326" y="436"/>
                  </a:cubicBezTo>
                  <a:cubicBezTo>
                    <a:pt x="372" y="394"/>
                    <a:pt x="430" y="364"/>
                    <a:pt x="492" y="350"/>
                  </a:cubicBezTo>
                  <a:lnTo>
                    <a:pt x="469" y="252"/>
                  </a:lnTo>
                  <a:cubicBezTo>
                    <a:pt x="389" y="270"/>
                    <a:pt x="315" y="308"/>
                    <a:pt x="255" y="362"/>
                  </a:cubicBezTo>
                  <a:cubicBezTo>
                    <a:pt x="233" y="382"/>
                    <a:pt x="213" y="404"/>
                    <a:pt x="196" y="427"/>
                  </a:cubicBezTo>
                  <a:cubicBezTo>
                    <a:pt x="138" y="380"/>
                    <a:pt x="104" y="310"/>
                    <a:pt x="104" y="235"/>
                  </a:cubicBezTo>
                  <a:cubicBezTo>
                    <a:pt x="104" y="173"/>
                    <a:pt x="128" y="113"/>
                    <a:pt x="170" y="67"/>
                  </a:cubicBezTo>
                  <a:lnTo>
                    <a:pt x="93" y="0"/>
                  </a:lnTo>
                  <a:cubicBezTo>
                    <a:pt x="33" y="64"/>
                    <a:pt x="0" y="148"/>
                    <a:pt x="0" y="235"/>
                  </a:cubicBezTo>
                  <a:cubicBezTo>
                    <a:pt x="0" y="346"/>
                    <a:pt x="54" y="450"/>
                    <a:pt x="144" y="516"/>
                  </a:cubicBezTo>
                  <a:cubicBezTo>
                    <a:pt x="89" y="641"/>
                    <a:pt x="93" y="786"/>
                    <a:pt x="163" y="911"/>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6" name="Google Shape;236;p35"/>
            <p:cNvSpPr/>
            <p:nvPr/>
          </p:nvSpPr>
          <p:spPr>
            <a:xfrm>
              <a:off x="6351966" y="4253727"/>
              <a:ext cx="81164" cy="120192"/>
            </a:xfrm>
            <a:custGeom>
              <a:rect b="b" l="l" r="r" t="t"/>
              <a:pathLst>
                <a:path extrusionOk="0" h="773" w="522">
                  <a:moveTo>
                    <a:pt x="236" y="180"/>
                  </a:moveTo>
                  <a:cubicBezTo>
                    <a:pt x="260" y="227"/>
                    <a:pt x="272" y="280"/>
                    <a:pt x="272" y="333"/>
                  </a:cubicBezTo>
                  <a:cubicBezTo>
                    <a:pt x="272" y="494"/>
                    <a:pt x="160" y="635"/>
                    <a:pt x="0" y="675"/>
                  </a:cubicBezTo>
                  <a:lnTo>
                    <a:pt x="26" y="773"/>
                  </a:lnTo>
                  <a:cubicBezTo>
                    <a:pt x="232" y="721"/>
                    <a:pt x="376" y="540"/>
                    <a:pt x="376" y="333"/>
                  </a:cubicBezTo>
                  <a:cubicBezTo>
                    <a:pt x="376" y="278"/>
                    <a:pt x="366" y="224"/>
                    <a:pt x="346" y="173"/>
                  </a:cubicBezTo>
                  <a:cubicBezTo>
                    <a:pt x="416" y="157"/>
                    <a:pt x="477" y="118"/>
                    <a:pt x="522" y="61"/>
                  </a:cubicBezTo>
                  <a:lnTo>
                    <a:pt x="439" y="0"/>
                  </a:lnTo>
                  <a:cubicBezTo>
                    <a:pt x="399" y="51"/>
                    <a:pt x="338" y="81"/>
                    <a:pt x="272" y="81"/>
                  </a:cubicBezTo>
                  <a:cubicBezTo>
                    <a:pt x="206" y="81"/>
                    <a:pt x="146" y="51"/>
                    <a:pt x="106" y="0"/>
                  </a:cubicBezTo>
                  <a:lnTo>
                    <a:pt x="23" y="61"/>
                  </a:lnTo>
                  <a:cubicBezTo>
                    <a:pt x="75" y="128"/>
                    <a:pt x="152" y="170"/>
                    <a:pt x="236" y="180"/>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7" name="Google Shape;237;p35"/>
            <p:cNvSpPr/>
            <p:nvPr/>
          </p:nvSpPr>
          <p:spPr>
            <a:xfrm>
              <a:off x="6071153" y="4270209"/>
              <a:ext cx="58463" cy="103710"/>
            </a:xfrm>
            <a:custGeom>
              <a:rect b="b" l="l" r="r" t="t"/>
              <a:pathLst>
                <a:path extrusionOk="0" h="667" w="376">
                  <a:moveTo>
                    <a:pt x="104" y="227"/>
                  </a:moveTo>
                  <a:cubicBezTo>
                    <a:pt x="104" y="165"/>
                    <a:pt x="121" y="104"/>
                    <a:pt x="152" y="50"/>
                  </a:cubicBezTo>
                  <a:lnTo>
                    <a:pt x="63" y="0"/>
                  </a:lnTo>
                  <a:cubicBezTo>
                    <a:pt x="21" y="69"/>
                    <a:pt x="0" y="147"/>
                    <a:pt x="0" y="227"/>
                  </a:cubicBezTo>
                  <a:cubicBezTo>
                    <a:pt x="0" y="434"/>
                    <a:pt x="144" y="615"/>
                    <a:pt x="350" y="667"/>
                  </a:cubicBezTo>
                  <a:lnTo>
                    <a:pt x="376" y="569"/>
                  </a:lnTo>
                  <a:cubicBezTo>
                    <a:pt x="216" y="529"/>
                    <a:pt x="104" y="388"/>
                    <a:pt x="104" y="227"/>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8" name="Google Shape;238;p35"/>
            <p:cNvSpPr/>
            <p:nvPr/>
          </p:nvSpPr>
          <p:spPr>
            <a:xfrm>
              <a:off x="6123863" y="4253260"/>
              <a:ext cx="76500" cy="141649"/>
            </a:xfrm>
            <a:custGeom>
              <a:rect b="b" l="l" r="r" t="t"/>
              <a:pathLst>
                <a:path extrusionOk="0" h="911" w="492">
                  <a:moveTo>
                    <a:pt x="492" y="235"/>
                  </a:moveTo>
                  <a:cubicBezTo>
                    <a:pt x="492" y="148"/>
                    <a:pt x="459" y="64"/>
                    <a:pt x="399" y="0"/>
                  </a:cubicBezTo>
                  <a:lnTo>
                    <a:pt x="322" y="67"/>
                  </a:lnTo>
                  <a:cubicBezTo>
                    <a:pt x="365" y="113"/>
                    <a:pt x="388" y="173"/>
                    <a:pt x="388" y="235"/>
                  </a:cubicBezTo>
                  <a:cubicBezTo>
                    <a:pt x="388" y="310"/>
                    <a:pt x="354" y="380"/>
                    <a:pt x="296" y="427"/>
                  </a:cubicBezTo>
                  <a:cubicBezTo>
                    <a:pt x="231" y="340"/>
                    <a:pt x="132" y="276"/>
                    <a:pt x="23" y="252"/>
                  </a:cubicBezTo>
                  <a:lnTo>
                    <a:pt x="0" y="350"/>
                  </a:lnTo>
                  <a:cubicBezTo>
                    <a:pt x="229" y="397"/>
                    <a:pt x="355" y="666"/>
                    <a:pt x="238" y="863"/>
                  </a:cubicBezTo>
                  <a:lnTo>
                    <a:pt x="329" y="911"/>
                  </a:lnTo>
                  <a:cubicBezTo>
                    <a:pt x="399" y="786"/>
                    <a:pt x="403" y="641"/>
                    <a:pt x="349" y="516"/>
                  </a:cubicBezTo>
                  <a:cubicBezTo>
                    <a:pt x="438" y="450"/>
                    <a:pt x="492" y="346"/>
                    <a:pt x="492" y="235"/>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39" name="Google Shape;239;p35"/>
            <p:cNvSpPr/>
            <p:nvPr/>
          </p:nvSpPr>
          <p:spPr>
            <a:xfrm>
              <a:off x="5965420" y="4045683"/>
              <a:ext cx="533478" cy="535188"/>
            </a:xfrm>
            <a:custGeom>
              <a:rect b="b" l="l" r="r" t="t"/>
              <a:pathLst>
                <a:path extrusionOk="0" h="3442" w="3431">
                  <a:moveTo>
                    <a:pt x="1823" y="2147"/>
                  </a:moveTo>
                  <a:lnTo>
                    <a:pt x="1823" y="1873"/>
                  </a:lnTo>
                  <a:lnTo>
                    <a:pt x="1719" y="1873"/>
                  </a:lnTo>
                  <a:lnTo>
                    <a:pt x="1719" y="2147"/>
                  </a:lnTo>
                  <a:cubicBezTo>
                    <a:pt x="1700" y="2475"/>
                    <a:pt x="1251" y="2598"/>
                    <a:pt x="1059" y="2328"/>
                  </a:cubicBezTo>
                  <a:lnTo>
                    <a:pt x="1017" y="2270"/>
                  </a:lnTo>
                  <a:cubicBezTo>
                    <a:pt x="942" y="2389"/>
                    <a:pt x="830" y="2475"/>
                    <a:pt x="681" y="2474"/>
                  </a:cubicBezTo>
                  <a:cubicBezTo>
                    <a:pt x="379" y="2474"/>
                    <a:pt x="215" y="2137"/>
                    <a:pt x="394" y="1905"/>
                  </a:cubicBezTo>
                  <a:cubicBezTo>
                    <a:pt x="165" y="1748"/>
                    <a:pt x="152" y="1413"/>
                    <a:pt x="378" y="1249"/>
                  </a:cubicBezTo>
                  <a:cubicBezTo>
                    <a:pt x="469" y="1292"/>
                    <a:pt x="570" y="1317"/>
                    <a:pt x="678" y="1317"/>
                  </a:cubicBezTo>
                  <a:cubicBezTo>
                    <a:pt x="1052" y="1317"/>
                    <a:pt x="1356" y="1021"/>
                    <a:pt x="1356" y="658"/>
                  </a:cubicBezTo>
                  <a:cubicBezTo>
                    <a:pt x="1356" y="552"/>
                    <a:pt x="1329" y="451"/>
                    <a:pt x="1283" y="361"/>
                  </a:cubicBezTo>
                  <a:cubicBezTo>
                    <a:pt x="1469" y="372"/>
                    <a:pt x="1636" y="480"/>
                    <a:pt x="1719" y="643"/>
                  </a:cubicBezTo>
                  <a:lnTo>
                    <a:pt x="1719" y="1773"/>
                  </a:lnTo>
                  <a:lnTo>
                    <a:pt x="1823" y="1773"/>
                  </a:lnTo>
                  <a:lnTo>
                    <a:pt x="1823" y="1271"/>
                  </a:lnTo>
                  <a:cubicBezTo>
                    <a:pt x="1823" y="1076"/>
                    <a:pt x="1986" y="917"/>
                    <a:pt x="2187" y="917"/>
                  </a:cubicBezTo>
                  <a:lnTo>
                    <a:pt x="2187" y="816"/>
                  </a:lnTo>
                  <a:cubicBezTo>
                    <a:pt x="2040" y="816"/>
                    <a:pt x="1909" y="883"/>
                    <a:pt x="1823" y="986"/>
                  </a:cubicBezTo>
                  <a:lnTo>
                    <a:pt x="1823" y="643"/>
                  </a:lnTo>
                  <a:cubicBezTo>
                    <a:pt x="1909" y="471"/>
                    <a:pt x="2091" y="360"/>
                    <a:pt x="2289" y="360"/>
                  </a:cubicBezTo>
                  <a:cubicBezTo>
                    <a:pt x="2509" y="360"/>
                    <a:pt x="2703" y="494"/>
                    <a:pt x="2777" y="691"/>
                  </a:cubicBezTo>
                  <a:cubicBezTo>
                    <a:pt x="2699" y="722"/>
                    <a:pt x="2635" y="779"/>
                    <a:pt x="2595" y="850"/>
                  </a:cubicBezTo>
                  <a:cubicBezTo>
                    <a:pt x="2551" y="827"/>
                    <a:pt x="2501" y="813"/>
                    <a:pt x="2447" y="813"/>
                  </a:cubicBezTo>
                  <a:lnTo>
                    <a:pt x="2447" y="914"/>
                  </a:lnTo>
                  <a:cubicBezTo>
                    <a:pt x="2561" y="914"/>
                    <a:pt x="2654" y="1005"/>
                    <a:pt x="2654" y="1116"/>
                  </a:cubicBezTo>
                  <a:lnTo>
                    <a:pt x="2758" y="1116"/>
                  </a:lnTo>
                  <a:cubicBezTo>
                    <a:pt x="2758" y="1039"/>
                    <a:pt x="2728" y="968"/>
                    <a:pt x="2679" y="914"/>
                  </a:cubicBezTo>
                  <a:cubicBezTo>
                    <a:pt x="2718" y="826"/>
                    <a:pt x="2813" y="766"/>
                    <a:pt x="2912" y="767"/>
                  </a:cubicBezTo>
                  <a:cubicBezTo>
                    <a:pt x="3055" y="767"/>
                    <a:pt x="3172" y="881"/>
                    <a:pt x="3172" y="1020"/>
                  </a:cubicBezTo>
                  <a:cubicBezTo>
                    <a:pt x="3174" y="1089"/>
                    <a:pt x="3138" y="1152"/>
                    <a:pt x="3096" y="1205"/>
                  </a:cubicBezTo>
                  <a:cubicBezTo>
                    <a:pt x="3379" y="1353"/>
                    <a:pt x="3408" y="1720"/>
                    <a:pt x="3147" y="1905"/>
                  </a:cubicBezTo>
                  <a:cubicBezTo>
                    <a:pt x="3192" y="1969"/>
                    <a:pt x="3224" y="2043"/>
                    <a:pt x="3222" y="2122"/>
                  </a:cubicBezTo>
                  <a:cubicBezTo>
                    <a:pt x="3222" y="2316"/>
                    <a:pt x="3060" y="2474"/>
                    <a:pt x="2860" y="2474"/>
                  </a:cubicBezTo>
                  <a:cubicBezTo>
                    <a:pt x="2711" y="2475"/>
                    <a:pt x="2599" y="2389"/>
                    <a:pt x="2524" y="2270"/>
                  </a:cubicBezTo>
                  <a:lnTo>
                    <a:pt x="2482" y="2328"/>
                  </a:lnTo>
                  <a:cubicBezTo>
                    <a:pt x="2290" y="2598"/>
                    <a:pt x="1841" y="2475"/>
                    <a:pt x="1823" y="2147"/>
                  </a:cubicBezTo>
                  <a:moveTo>
                    <a:pt x="531" y="2551"/>
                  </a:moveTo>
                  <a:cubicBezTo>
                    <a:pt x="578" y="2566"/>
                    <a:pt x="629" y="2575"/>
                    <a:pt x="681" y="2575"/>
                  </a:cubicBezTo>
                  <a:cubicBezTo>
                    <a:pt x="808" y="2575"/>
                    <a:pt x="929" y="2524"/>
                    <a:pt x="1016" y="2436"/>
                  </a:cubicBezTo>
                  <a:cubicBezTo>
                    <a:pt x="1098" y="2519"/>
                    <a:pt x="1210" y="2570"/>
                    <a:pt x="1329" y="2577"/>
                  </a:cubicBezTo>
                  <a:cubicBezTo>
                    <a:pt x="1243" y="2702"/>
                    <a:pt x="1097" y="2780"/>
                    <a:pt x="939" y="2780"/>
                  </a:cubicBezTo>
                  <a:cubicBezTo>
                    <a:pt x="766" y="2780"/>
                    <a:pt x="613" y="2690"/>
                    <a:pt x="531" y="2551"/>
                  </a:cubicBezTo>
                  <a:moveTo>
                    <a:pt x="104" y="658"/>
                  </a:moveTo>
                  <a:cubicBezTo>
                    <a:pt x="104" y="351"/>
                    <a:pt x="361" y="101"/>
                    <a:pt x="678" y="101"/>
                  </a:cubicBezTo>
                  <a:cubicBezTo>
                    <a:pt x="994" y="101"/>
                    <a:pt x="1252" y="351"/>
                    <a:pt x="1252" y="658"/>
                  </a:cubicBezTo>
                  <a:cubicBezTo>
                    <a:pt x="1252" y="966"/>
                    <a:pt x="994" y="1216"/>
                    <a:pt x="678" y="1216"/>
                  </a:cubicBezTo>
                  <a:cubicBezTo>
                    <a:pt x="361" y="1216"/>
                    <a:pt x="104" y="966"/>
                    <a:pt x="104" y="658"/>
                  </a:cubicBezTo>
                  <a:moveTo>
                    <a:pt x="2616" y="2780"/>
                  </a:moveTo>
                  <a:cubicBezTo>
                    <a:pt x="2457" y="2780"/>
                    <a:pt x="2311" y="2702"/>
                    <a:pt x="2225" y="2576"/>
                  </a:cubicBezTo>
                  <a:cubicBezTo>
                    <a:pt x="2339" y="2567"/>
                    <a:pt x="2446" y="2516"/>
                    <a:pt x="2525" y="2436"/>
                  </a:cubicBezTo>
                  <a:cubicBezTo>
                    <a:pt x="2612" y="2524"/>
                    <a:pt x="2733" y="2575"/>
                    <a:pt x="2860" y="2575"/>
                  </a:cubicBezTo>
                  <a:cubicBezTo>
                    <a:pt x="2919" y="2575"/>
                    <a:pt x="2975" y="2564"/>
                    <a:pt x="3026" y="2545"/>
                  </a:cubicBezTo>
                  <a:cubicBezTo>
                    <a:pt x="2946" y="2687"/>
                    <a:pt x="2791" y="2780"/>
                    <a:pt x="2616" y="2780"/>
                  </a:cubicBezTo>
                  <a:moveTo>
                    <a:pt x="3172" y="2458"/>
                  </a:moveTo>
                  <a:cubicBezTo>
                    <a:pt x="3266" y="2375"/>
                    <a:pt x="3326" y="2256"/>
                    <a:pt x="3326" y="2122"/>
                  </a:cubicBezTo>
                  <a:cubicBezTo>
                    <a:pt x="3326" y="2054"/>
                    <a:pt x="3310" y="1987"/>
                    <a:pt x="3279" y="1926"/>
                  </a:cubicBezTo>
                  <a:cubicBezTo>
                    <a:pt x="3376" y="1832"/>
                    <a:pt x="3431" y="1704"/>
                    <a:pt x="3431" y="1570"/>
                  </a:cubicBezTo>
                  <a:cubicBezTo>
                    <a:pt x="3431" y="1416"/>
                    <a:pt x="3360" y="1273"/>
                    <a:pt x="3237" y="1178"/>
                  </a:cubicBezTo>
                  <a:cubicBezTo>
                    <a:pt x="3368" y="940"/>
                    <a:pt x="3155" y="636"/>
                    <a:pt x="2879" y="668"/>
                  </a:cubicBezTo>
                  <a:cubicBezTo>
                    <a:pt x="2793" y="425"/>
                    <a:pt x="2557" y="259"/>
                    <a:pt x="2289" y="259"/>
                  </a:cubicBezTo>
                  <a:cubicBezTo>
                    <a:pt x="2079" y="259"/>
                    <a:pt x="1885" y="363"/>
                    <a:pt x="1771" y="529"/>
                  </a:cubicBezTo>
                  <a:cubicBezTo>
                    <a:pt x="1650" y="353"/>
                    <a:pt x="1438" y="248"/>
                    <a:pt x="1217" y="260"/>
                  </a:cubicBezTo>
                  <a:cubicBezTo>
                    <a:pt x="1093" y="102"/>
                    <a:pt x="898" y="0"/>
                    <a:pt x="678" y="0"/>
                  </a:cubicBezTo>
                  <a:cubicBezTo>
                    <a:pt x="304" y="0"/>
                    <a:pt x="0" y="295"/>
                    <a:pt x="0" y="658"/>
                  </a:cubicBezTo>
                  <a:cubicBezTo>
                    <a:pt x="0" y="879"/>
                    <a:pt x="112" y="1074"/>
                    <a:pt x="284" y="1194"/>
                  </a:cubicBezTo>
                  <a:cubicBezTo>
                    <a:pt x="174" y="1289"/>
                    <a:pt x="110" y="1425"/>
                    <a:pt x="110" y="1570"/>
                  </a:cubicBezTo>
                  <a:cubicBezTo>
                    <a:pt x="110" y="1704"/>
                    <a:pt x="165" y="1832"/>
                    <a:pt x="262" y="1926"/>
                  </a:cubicBezTo>
                  <a:cubicBezTo>
                    <a:pt x="231" y="1987"/>
                    <a:pt x="215" y="2054"/>
                    <a:pt x="215" y="2122"/>
                  </a:cubicBezTo>
                  <a:cubicBezTo>
                    <a:pt x="215" y="2264"/>
                    <a:pt x="282" y="2390"/>
                    <a:pt x="387" y="2473"/>
                  </a:cubicBezTo>
                  <a:cubicBezTo>
                    <a:pt x="455" y="2714"/>
                    <a:pt x="679" y="2881"/>
                    <a:pt x="939" y="2881"/>
                  </a:cubicBezTo>
                  <a:cubicBezTo>
                    <a:pt x="1054" y="2881"/>
                    <a:pt x="1165" y="2847"/>
                    <a:pt x="1257" y="2787"/>
                  </a:cubicBezTo>
                  <a:lnTo>
                    <a:pt x="1354" y="2835"/>
                  </a:lnTo>
                  <a:cubicBezTo>
                    <a:pt x="1451" y="2883"/>
                    <a:pt x="1512" y="2978"/>
                    <a:pt x="1512" y="3085"/>
                  </a:cubicBezTo>
                  <a:lnTo>
                    <a:pt x="1512" y="3442"/>
                  </a:lnTo>
                  <a:lnTo>
                    <a:pt x="1616" y="3442"/>
                  </a:lnTo>
                  <a:lnTo>
                    <a:pt x="1616" y="3085"/>
                  </a:lnTo>
                  <a:cubicBezTo>
                    <a:pt x="1616" y="2940"/>
                    <a:pt x="1533" y="2810"/>
                    <a:pt x="1401" y="2745"/>
                  </a:cubicBezTo>
                  <a:lnTo>
                    <a:pt x="1344" y="2717"/>
                  </a:lnTo>
                  <a:cubicBezTo>
                    <a:pt x="1388" y="2674"/>
                    <a:pt x="1425" y="2624"/>
                    <a:pt x="1453" y="2568"/>
                  </a:cubicBezTo>
                  <a:cubicBezTo>
                    <a:pt x="1591" y="2540"/>
                    <a:pt x="1707" y="2452"/>
                    <a:pt x="1771" y="2334"/>
                  </a:cubicBezTo>
                  <a:cubicBezTo>
                    <a:pt x="1837" y="2456"/>
                    <a:pt x="1959" y="2546"/>
                    <a:pt x="2103" y="2571"/>
                  </a:cubicBezTo>
                  <a:cubicBezTo>
                    <a:pt x="2130" y="2624"/>
                    <a:pt x="2165" y="2673"/>
                    <a:pt x="2207" y="2714"/>
                  </a:cubicBezTo>
                  <a:lnTo>
                    <a:pt x="2145" y="2745"/>
                  </a:lnTo>
                  <a:cubicBezTo>
                    <a:pt x="2012" y="2810"/>
                    <a:pt x="1929" y="2940"/>
                    <a:pt x="1929" y="3085"/>
                  </a:cubicBezTo>
                  <a:lnTo>
                    <a:pt x="1929" y="3442"/>
                  </a:lnTo>
                  <a:lnTo>
                    <a:pt x="2033" y="3442"/>
                  </a:lnTo>
                  <a:lnTo>
                    <a:pt x="2033" y="3085"/>
                  </a:lnTo>
                  <a:cubicBezTo>
                    <a:pt x="2033" y="2978"/>
                    <a:pt x="2094" y="2883"/>
                    <a:pt x="2192" y="2835"/>
                  </a:cubicBezTo>
                  <a:lnTo>
                    <a:pt x="2294" y="2785"/>
                  </a:lnTo>
                  <a:cubicBezTo>
                    <a:pt x="2387" y="2846"/>
                    <a:pt x="2498" y="2881"/>
                    <a:pt x="2616" y="2881"/>
                  </a:cubicBezTo>
                  <a:cubicBezTo>
                    <a:pt x="2880" y="2881"/>
                    <a:pt x="3108" y="2707"/>
                    <a:pt x="3172" y="2458"/>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0" name="Google Shape;240;p35"/>
            <p:cNvSpPr/>
            <p:nvPr/>
          </p:nvSpPr>
          <p:spPr>
            <a:xfrm>
              <a:off x="6281219" y="4132912"/>
              <a:ext cx="16171" cy="15549"/>
            </a:xfrm>
            <a:custGeom>
              <a:rect b="b" l="l" r="r" t="t"/>
              <a:pathLst>
                <a:path extrusionOk="0" h="100" w="104">
                  <a:moveTo>
                    <a:pt x="0" y="0"/>
                  </a:moveTo>
                  <a:lnTo>
                    <a:pt x="104" y="0"/>
                  </a:lnTo>
                  <a:lnTo>
                    <a:pt x="104" y="100"/>
                  </a:lnTo>
                  <a:lnTo>
                    <a:pt x="0" y="100"/>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1" name="Google Shape;241;p35"/>
            <p:cNvSpPr/>
            <p:nvPr/>
          </p:nvSpPr>
          <p:spPr>
            <a:xfrm>
              <a:off x="6313871" y="4132912"/>
              <a:ext cx="16171" cy="15549"/>
            </a:xfrm>
            <a:custGeom>
              <a:rect b="b" l="l" r="r" t="t"/>
              <a:pathLst>
                <a:path extrusionOk="0" h="100" w="104">
                  <a:moveTo>
                    <a:pt x="0" y="0"/>
                  </a:moveTo>
                  <a:lnTo>
                    <a:pt x="104" y="0"/>
                  </a:lnTo>
                  <a:lnTo>
                    <a:pt x="104" y="100"/>
                  </a:lnTo>
                  <a:lnTo>
                    <a:pt x="0" y="100"/>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42" name="Google Shape;242;p35"/>
          <p:cNvGrpSpPr/>
          <p:nvPr/>
        </p:nvGrpSpPr>
        <p:grpSpPr>
          <a:xfrm>
            <a:off x="1297004" y="1259394"/>
            <a:ext cx="536973" cy="521224"/>
            <a:chOff x="1291880" y="4045683"/>
            <a:chExt cx="551364" cy="535192"/>
          </a:xfrm>
        </p:grpSpPr>
        <p:sp>
          <p:nvSpPr>
            <p:cNvPr id="243" name="Google Shape;243;p35"/>
            <p:cNvSpPr/>
            <p:nvPr/>
          </p:nvSpPr>
          <p:spPr>
            <a:xfrm>
              <a:off x="1652926" y="4198995"/>
              <a:ext cx="73390" cy="71369"/>
            </a:xfrm>
            <a:custGeom>
              <a:rect b="b" l="l" r="r" t="t"/>
              <a:pathLst>
                <a:path extrusionOk="0" h="459" w="472">
                  <a:moveTo>
                    <a:pt x="0" y="0"/>
                  </a:moveTo>
                  <a:lnTo>
                    <a:pt x="0" y="101"/>
                  </a:lnTo>
                  <a:cubicBezTo>
                    <a:pt x="203" y="101"/>
                    <a:pt x="368" y="262"/>
                    <a:pt x="368" y="459"/>
                  </a:cubicBezTo>
                  <a:lnTo>
                    <a:pt x="472" y="459"/>
                  </a:lnTo>
                  <a:cubicBezTo>
                    <a:pt x="472" y="206"/>
                    <a:pt x="260" y="0"/>
                    <a:pt x="0" y="0"/>
                  </a:cubicBez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4" name="Google Shape;244;p35"/>
            <p:cNvSpPr/>
            <p:nvPr/>
          </p:nvSpPr>
          <p:spPr>
            <a:xfrm>
              <a:off x="1442549" y="4264922"/>
              <a:ext cx="208353" cy="69658"/>
            </a:xfrm>
            <a:custGeom>
              <a:rect b="b" l="l" r="r" t="t"/>
              <a:pathLst>
                <a:path extrusionOk="0" h="448" w="1340">
                  <a:moveTo>
                    <a:pt x="484" y="154"/>
                  </a:moveTo>
                  <a:cubicBezTo>
                    <a:pt x="484" y="260"/>
                    <a:pt x="395" y="347"/>
                    <a:pt x="286" y="347"/>
                  </a:cubicBezTo>
                  <a:lnTo>
                    <a:pt x="0" y="347"/>
                  </a:lnTo>
                  <a:lnTo>
                    <a:pt x="0" y="448"/>
                  </a:lnTo>
                  <a:lnTo>
                    <a:pt x="286" y="448"/>
                  </a:lnTo>
                  <a:cubicBezTo>
                    <a:pt x="452" y="448"/>
                    <a:pt x="588" y="316"/>
                    <a:pt x="588" y="154"/>
                  </a:cubicBezTo>
                  <a:lnTo>
                    <a:pt x="588" y="101"/>
                  </a:lnTo>
                  <a:lnTo>
                    <a:pt x="1340" y="101"/>
                  </a:lnTo>
                  <a:lnTo>
                    <a:pt x="1340" y="0"/>
                  </a:lnTo>
                  <a:lnTo>
                    <a:pt x="484" y="0"/>
                  </a:lnTo>
                  <a:lnTo>
                    <a:pt x="484" y="154"/>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5" name="Google Shape;245;p35"/>
            <p:cNvSpPr/>
            <p:nvPr/>
          </p:nvSpPr>
          <p:spPr>
            <a:xfrm>
              <a:off x="1729116" y="4045683"/>
              <a:ext cx="114128" cy="48046"/>
            </a:xfrm>
            <a:custGeom>
              <a:rect b="b" l="l" r="r" t="t"/>
              <a:pathLst>
                <a:path extrusionOk="0" h="309" w="734">
                  <a:moveTo>
                    <a:pt x="630" y="208"/>
                  </a:moveTo>
                  <a:lnTo>
                    <a:pt x="104" y="208"/>
                  </a:lnTo>
                  <a:lnTo>
                    <a:pt x="104" y="101"/>
                  </a:lnTo>
                  <a:lnTo>
                    <a:pt x="630" y="101"/>
                  </a:lnTo>
                  <a:lnTo>
                    <a:pt x="630" y="208"/>
                  </a:lnTo>
                  <a:moveTo>
                    <a:pt x="0" y="309"/>
                  </a:moveTo>
                  <a:lnTo>
                    <a:pt x="734" y="309"/>
                  </a:lnTo>
                  <a:lnTo>
                    <a:pt x="734" y="0"/>
                  </a:lnTo>
                  <a:lnTo>
                    <a:pt x="0" y="0"/>
                  </a:lnTo>
                  <a:lnTo>
                    <a:pt x="0" y="309"/>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6" name="Google Shape;246;p35"/>
            <p:cNvSpPr/>
            <p:nvPr/>
          </p:nvSpPr>
          <p:spPr>
            <a:xfrm>
              <a:off x="1291880" y="4109900"/>
              <a:ext cx="551359" cy="406755"/>
            </a:xfrm>
            <a:custGeom>
              <a:rect b="b" l="l" r="r" t="t"/>
              <a:pathLst>
                <a:path extrusionOk="0" h="2616" w="3546">
                  <a:moveTo>
                    <a:pt x="2601" y="234"/>
                  </a:moveTo>
                  <a:cubicBezTo>
                    <a:pt x="2507" y="-5"/>
                    <a:pt x="2154" y="-80"/>
                    <a:pt x="1969" y="108"/>
                  </a:cubicBezTo>
                  <a:cubicBezTo>
                    <a:pt x="1858" y="-31"/>
                    <a:pt x="1618" y="-36"/>
                    <a:pt x="1503" y="101"/>
                  </a:cubicBezTo>
                  <a:cubicBezTo>
                    <a:pt x="1350" y="41"/>
                    <a:pt x="1165" y="124"/>
                    <a:pt x="1110" y="270"/>
                  </a:cubicBezTo>
                  <a:cubicBezTo>
                    <a:pt x="1002" y="229"/>
                    <a:pt x="889" y="241"/>
                    <a:pt x="795" y="290"/>
                  </a:cubicBezTo>
                  <a:lnTo>
                    <a:pt x="703" y="201"/>
                  </a:lnTo>
                  <a:lnTo>
                    <a:pt x="0" y="201"/>
                  </a:lnTo>
                  <a:lnTo>
                    <a:pt x="0" y="302"/>
                  </a:lnTo>
                  <a:lnTo>
                    <a:pt x="660" y="302"/>
                  </a:lnTo>
                  <a:lnTo>
                    <a:pt x="708" y="348"/>
                  </a:lnTo>
                  <a:cubicBezTo>
                    <a:pt x="623" y="425"/>
                    <a:pt x="570" y="536"/>
                    <a:pt x="585" y="659"/>
                  </a:cubicBezTo>
                  <a:cubicBezTo>
                    <a:pt x="387" y="685"/>
                    <a:pt x="265" y="917"/>
                    <a:pt x="365" y="1089"/>
                  </a:cubicBezTo>
                  <a:cubicBezTo>
                    <a:pt x="194" y="1239"/>
                    <a:pt x="213" y="1534"/>
                    <a:pt x="401" y="1662"/>
                  </a:cubicBezTo>
                  <a:cubicBezTo>
                    <a:pt x="355" y="1715"/>
                    <a:pt x="330" y="1782"/>
                    <a:pt x="330" y="1852"/>
                  </a:cubicBezTo>
                  <a:cubicBezTo>
                    <a:pt x="330" y="2015"/>
                    <a:pt x="466" y="2148"/>
                    <a:pt x="635" y="2148"/>
                  </a:cubicBezTo>
                  <a:lnTo>
                    <a:pt x="1201" y="2148"/>
                  </a:lnTo>
                  <a:lnTo>
                    <a:pt x="1201" y="2316"/>
                  </a:lnTo>
                  <a:lnTo>
                    <a:pt x="1305" y="2316"/>
                  </a:lnTo>
                  <a:lnTo>
                    <a:pt x="1305" y="2148"/>
                  </a:lnTo>
                  <a:lnTo>
                    <a:pt x="1341" y="2148"/>
                  </a:lnTo>
                  <a:cubicBezTo>
                    <a:pt x="1491" y="2148"/>
                    <a:pt x="1617" y="2042"/>
                    <a:pt x="1642" y="1902"/>
                  </a:cubicBezTo>
                  <a:cubicBezTo>
                    <a:pt x="1702" y="1908"/>
                    <a:pt x="1760" y="1906"/>
                    <a:pt x="1814" y="1897"/>
                  </a:cubicBezTo>
                  <a:lnTo>
                    <a:pt x="1408" y="2515"/>
                  </a:lnTo>
                  <a:lnTo>
                    <a:pt x="1305" y="2515"/>
                  </a:lnTo>
                  <a:lnTo>
                    <a:pt x="1305" y="2417"/>
                  </a:lnTo>
                  <a:lnTo>
                    <a:pt x="1201" y="2417"/>
                  </a:lnTo>
                  <a:lnTo>
                    <a:pt x="1201" y="2616"/>
                  </a:lnTo>
                  <a:lnTo>
                    <a:pt x="1465" y="2616"/>
                  </a:lnTo>
                  <a:lnTo>
                    <a:pt x="1974" y="1841"/>
                  </a:lnTo>
                  <a:cubicBezTo>
                    <a:pt x="2049" y="1797"/>
                    <a:pt x="2106" y="1729"/>
                    <a:pt x="2135" y="1634"/>
                  </a:cubicBezTo>
                  <a:lnTo>
                    <a:pt x="2474" y="1964"/>
                  </a:lnTo>
                  <a:lnTo>
                    <a:pt x="3177" y="1964"/>
                  </a:lnTo>
                  <a:lnTo>
                    <a:pt x="3177" y="1863"/>
                  </a:lnTo>
                  <a:lnTo>
                    <a:pt x="2517" y="1863"/>
                  </a:lnTo>
                  <a:lnTo>
                    <a:pt x="2221" y="1575"/>
                  </a:lnTo>
                  <a:lnTo>
                    <a:pt x="2604" y="1575"/>
                  </a:lnTo>
                  <a:lnTo>
                    <a:pt x="2604" y="1474"/>
                  </a:lnTo>
                  <a:lnTo>
                    <a:pt x="2177" y="1474"/>
                  </a:lnTo>
                  <a:cubicBezTo>
                    <a:pt x="2221" y="1404"/>
                    <a:pt x="2247" y="1322"/>
                    <a:pt x="2247" y="1234"/>
                  </a:cubicBezTo>
                  <a:lnTo>
                    <a:pt x="2143" y="1234"/>
                  </a:lnTo>
                  <a:cubicBezTo>
                    <a:pt x="2143" y="1432"/>
                    <a:pt x="1977" y="1593"/>
                    <a:pt x="1773" y="1593"/>
                  </a:cubicBezTo>
                  <a:lnTo>
                    <a:pt x="1773" y="1694"/>
                  </a:lnTo>
                  <a:cubicBezTo>
                    <a:pt x="1867" y="1694"/>
                    <a:pt x="1956" y="1666"/>
                    <a:pt x="2030" y="1620"/>
                  </a:cubicBezTo>
                  <a:cubicBezTo>
                    <a:pt x="1988" y="1724"/>
                    <a:pt x="1889" y="1802"/>
                    <a:pt x="1763" y="1801"/>
                  </a:cubicBezTo>
                  <a:lnTo>
                    <a:pt x="1542" y="1801"/>
                  </a:lnTo>
                  <a:cubicBezTo>
                    <a:pt x="1557" y="1928"/>
                    <a:pt x="1480" y="2046"/>
                    <a:pt x="1341" y="2047"/>
                  </a:cubicBezTo>
                  <a:lnTo>
                    <a:pt x="635" y="2047"/>
                  </a:lnTo>
                  <a:cubicBezTo>
                    <a:pt x="443" y="2050"/>
                    <a:pt x="360" y="1801"/>
                    <a:pt x="516" y="1694"/>
                  </a:cubicBezTo>
                  <a:cubicBezTo>
                    <a:pt x="620" y="1617"/>
                    <a:pt x="784" y="1666"/>
                    <a:pt x="824" y="1787"/>
                  </a:cubicBezTo>
                  <a:lnTo>
                    <a:pt x="922" y="1753"/>
                  </a:lnTo>
                  <a:cubicBezTo>
                    <a:pt x="896" y="1680"/>
                    <a:pt x="841" y="1622"/>
                    <a:pt x="773" y="1588"/>
                  </a:cubicBezTo>
                  <a:lnTo>
                    <a:pt x="773" y="1442"/>
                  </a:lnTo>
                  <a:cubicBezTo>
                    <a:pt x="773" y="1290"/>
                    <a:pt x="901" y="1165"/>
                    <a:pt x="1058" y="1165"/>
                  </a:cubicBezTo>
                  <a:lnTo>
                    <a:pt x="1058" y="1065"/>
                  </a:lnTo>
                  <a:cubicBezTo>
                    <a:pt x="843" y="1065"/>
                    <a:pt x="669" y="1234"/>
                    <a:pt x="669" y="1442"/>
                  </a:cubicBezTo>
                  <a:lnTo>
                    <a:pt x="669" y="1558"/>
                  </a:lnTo>
                  <a:cubicBezTo>
                    <a:pt x="605" y="1550"/>
                    <a:pt x="539" y="1564"/>
                    <a:pt x="483" y="1595"/>
                  </a:cubicBezTo>
                  <a:cubicBezTo>
                    <a:pt x="295" y="1481"/>
                    <a:pt x="311" y="1218"/>
                    <a:pt x="505" y="1109"/>
                  </a:cubicBezTo>
                  <a:lnTo>
                    <a:pt x="474" y="1069"/>
                  </a:lnTo>
                  <a:cubicBezTo>
                    <a:pt x="373" y="946"/>
                    <a:pt x="473" y="751"/>
                    <a:pt x="635" y="756"/>
                  </a:cubicBezTo>
                  <a:cubicBezTo>
                    <a:pt x="638" y="756"/>
                    <a:pt x="708" y="758"/>
                    <a:pt x="714" y="759"/>
                  </a:cubicBezTo>
                  <a:cubicBezTo>
                    <a:pt x="663" y="630"/>
                    <a:pt x="691" y="497"/>
                    <a:pt x="780" y="418"/>
                  </a:cubicBezTo>
                  <a:lnTo>
                    <a:pt x="1067" y="696"/>
                  </a:lnTo>
                  <a:lnTo>
                    <a:pt x="1140" y="625"/>
                  </a:lnTo>
                  <a:lnTo>
                    <a:pt x="872" y="365"/>
                  </a:lnTo>
                  <a:cubicBezTo>
                    <a:pt x="902" y="354"/>
                    <a:pt x="936" y="348"/>
                    <a:pt x="972" y="347"/>
                  </a:cubicBezTo>
                  <a:cubicBezTo>
                    <a:pt x="1049" y="343"/>
                    <a:pt x="1121" y="386"/>
                    <a:pt x="1184" y="424"/>
                  </a:cubicBezTo>
                  <a:lnTo>
                    <a:pt x="1195" y="349"/>
                  </a:lnTo>
                  <a:cubicBezTo>
                    <a:pt x="1226" y="186"/>
                    <a:pt x="1404" y="137"/>
                    <a:pt x="1536" y="232"/>
                  </a:cubicBezTo>
                  <a:lnTo>
                    <a:pt x="1563" y="192"/>
                  </a:lnTo>
                  <a:cubicBezTo>
                    <a:pt x="1637" y="70"/>
                    <a:pt x="1828" y="75"/>
                    <a:pt x="1902" y="189"/>
                  </a:cubicBezTo>
                  <a:cubicBezTo>
                    <a:pt x="1857" y="263"/>
                    <a:pt x="1840" y="352"/>
                    <a:pt x="1855" y="438"/>
                  </a:cubicBezTo>
                  <a:cubicBezTo>
                    <a:pt x="1751" y="485"/>
                    <a:pt x="1679" y="587"/>
                    <a:pt x="1679" y="705"/>
                  </a:cubicBezTo>
                  <a:lnTo>
                    <a:pt x="1783" y="705"/>
                  </a:lnTo>
                  <a:cubicBezTo>
                    <a:pt x="1783" y="598"/>
                    <a:pt x="1873" y="510"/>
                    <a:pt x="1984" y="510"/>
                  </a:cubicBezTo>
                  <a:cubicBezTo>
                    <a:pt x="2034" y="510"/>
                    <a:pt x="2082" y="528"/>
                    <a:pt x="2118" y="560"/>
                  </a:cubicBezTo>
                  <a:lnTo>
                    <a:pt x="2188" y="485"/>
                  </a:lnTo>
                  <a:cubicBezTo>
                    <a:pt x="2125" y="430"/>
                    <a:pt x="2040" y="403"/>
                    <a:pt x="1956" y="411"/>
                  </a:cubicBezTo>
                  <a:cubicBezTo>
                    <a:pt x="1946" y="349"/>
                    <a:pt x="1967" y="268"/>
                    <a:pt x="2006" y="222"/>
                  </a:cubicBezTo>
                  <a:cubicBezTo>
                    <a:pt x="2160" y="16"/>
                    <a:pt x="2454" y="91"/>
                    <a:pt x="2520" y="313"/>
                  </a:cubicBezTo>
                  <a:lnTo>
                    <a:pt x="2405" y="424"/>
                  </a:lnTo>
                  <a:lnTo>
                    <a:pt x="2479" y="495"/>
                  </a:lnTo>
                  <a:lnTo>
                    <a:pt x="2631" y="348"/>
                  </a:lnTo>
                  <a:cubicBezTo>
                    <a:pt x="2746" y="332"/>
                    <a:pt x="2863" y="423"/>
                    <a:pt x="2860" y="542"/>
                  </a:cubicBezTo>
                  <a:cubicBezTo>
                    <a:pt x="2863" y="583"/>
                    <a:pt x="2835" y="640"/>
                    <a:pt x="2822" y="679"/>
                  </a:cubicBezTo>
                  <a:lnTo>
                    <a:pt x="2900" y="674"/>
                  </a:lnTo>
                  <a:cubicBezTo>
                    <a:pt x="3015" y="667"/>
                    <a:pt x="3114" y="758"/>
                    <a:pt x="3113" y="869"/>
                  </a:cubicBezTo>
                  <a:cubicBezTo>
                    <a:pt x="3117" y="957"/>
                    <a:pt x="3051" y="1014"/>
                    <a:pt x="2989" y="1067"/>
                  </a:cubicBezTo>
                  <a:lnTo>
                    <a:pt x="3067" y="1096"/>
                  </a:lnTo>
                  <a:cubicBezTo>
                    <a:pt x="3269" y="1166"/>
                    <a:pt x="3213" y="1457"/>
                    <a:pt x="3039" y="1474"/>
                  </a:cubicBezTo>
                  <a:lnTo>
                    <a:pt x="2708" y="1474"/>
                  </a:lnTo>
                  <a:lnTo>
                    <a:pt x="2708" y="1575"/>
                  </a:lnTo>
                  <a:lnTo>
                    <a:pt x="3039" y="1575"/>
                  </a:lnTo>
                  <a:cubicBezTo>
                    <a:pt x="3290" y="1567"/>
                    <a:pt x="3409" y="1182"/>
                    <a:pt x="3166" y="1033"/>
                  </a:cubicBezTo>
                  <a:cubicBezTo>
                    <a:pt x="3291" y="862"/>
                    <a:pt x="3173" y="604"/>
                    <a:pt x="2962" y="577"/>
                  </a:cubicBezTo>
                  <a:cubicBezTo>
                    <a:pt x="2983" y="425"/>
                    <a:pt x="2873" y="287"/>
                    <a:pt x="2728" y="253"/>
                  </a:cubicBezTo>
                  <a:lnTo>
                    <a:pt x="2885" y="101"/>
                  </a:lnTo>
                  <a:lnTo>
                    <a:pt x="3546" y="101"/>
                  </a:lnTo>
                  <a:lnTo>
                    <a:pt x="3546" y="0"/>
                  </a:lnTo>
                  <a:lnTo>
                    <a:pt x="2842" y="0"/>
                  </a:lnTo>
                  <a:lnTo>
                    <a:pt x="2601" y="234"/>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7" name="Google Shape;247;p35"/>
            <p:cNvSpPr/>
            <p:nvPr/>
          </p:nvSpPr>
          <p:spPr>
            <a:xfrm>
              <a:off x="1291880" y="4078336"/>
              <a:ext cx="113972" cy="46646"/>
            </a:xfrm>
            <a:custGeom>
              <a:rect b="b" l="l" r="r" t="t"/>
              <a:pathLst>
                <a:path extrusionOk="0" h="300" w="733">
                  <a:moveTo>
                    <a:pt x="629" y="199"/>
                  </a:moveTo>
                  <a:lnTo>
                    <a:pt x="104" y="199"/>
                  </a:lnTo>
                  <a:lnTo>
                    <a:pt x="104" y="101"/>
                  </a:lnTo>
                  <a:lnTo>
                    <a:pt x="629" y="101"/>
                  </a:lnTo>
                  <a:lnTo>
                    <a:pt x="629" y="199"/>
                  </a:lnTo>
                  <a:moveTo>
                    <a:pt x="733" y="0"/>
                  </a:moveTo>
                  <a:lnTo>
                    <a:pt x="0" y="0"/>
                  </a:lnTo>
                  <a:lnTo>
                    <a:pt x="0" y="300"/>
                  </a:lnTo>
                  <a:lnTo>
                    <a:pt x="733" y="300"/>
                  </a:lnTo>
                  <a:lnTo>
                    <a:pt x="733" y="0"/>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8" name="Google Shape;248;p35"/>
            <p:cNvSpPr/>
            <p:nvPr/>
          </p:nvSpPr>
          <p:spPr>
            <a:xfrm>
              <a:off x="1291880" y="4532829"/>
              <a:ext cx="113972" cy="48046"/>
            </a:xfrm>
            <a:custGeom>
              <a:rect b="b" l="l" r="r" t="t"/>
              <a:pathLst>
                <a:path extrusionOk="0" h="309" w="733">
                  <a:moveTo>
                    <a:pt x="104" y="101"/>
                  </a:moveTo>
                  <a:lnTo>
                    <a:pt x="629" y="101"/>
                  </a:lnTo>
                  <a:lnTo>
                    <a:pt x="629" y="208"/>
                  </a:lnTo>
                  <a:lnTo>
                    <a:pt x="104" y="208"/>
                  </a:lnTo>
                  <a:lnTo>
                    <a:pt x="104" y="101"/>
                  </a:lnTo>
                  <a:moveTo>
                    <a:pt x="0" y="309"/>
                  </a:moveTo>
                  <a:lnTo>
                    <a:pt x="733" y="309"/>
                  </a:lnTo>
                  <a:lnTo>
                    <a:pt x="733" y="0"/>
                  </a:lnTo>
                  <a:lnTo>
                    <a:pt x="0" y="0"/>
                  </a:lnTo>
                  <a:lnTo>
                    <a:pt x="0" y="309"/>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49" name="Google Shape;249;p35"/>
            <p:cNvSpPr/>
            <p:nvPr/>
          </p:nvSpPr>
          <p:spPr>
            <a:xfrm>
              <a:off x="1291880" y="4464259"/>
              <a:ext cx="151756" cy="52244"/>
            </a:xfrm>
            <a:custGeom>
              <a:rect b="b" l="l" r="r" t="t"/>
              <a:pathLst>
                <a:path extrusionOk="0" h="336" w="976">
                  <a:moveTo>
                    <a:pt x="660" y="235"/>
                  </a:moveTo>
                  <a:lnTo>
                    <a:pt x="0" y="235"/>
                  </a:lnTo>
                  <a:lnTo>
                    <a:pt x="0" y="336"/>
                  </a:lnTo>
                  <a:lnTo>
                    <a:pt x="703" y="336"/>
                  </a:lnTo>
                  <a:lnTo>
                    <a:pt x="976" y="71"/>
                  </a:lnTo>
                  <a:lnTo>
                    <a:pt x="903" y="0"/>
                  </a:lnTo>
                  <a:lnTo>
                    <a:pt x="660" y="235"/>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0" name="Google Shape;250;p35"/>
            <p:cNvSpPr/>
            <p:nvPr/>
          </p:nvSpPr>
          <p:spPr>
            <a:xfrm>
              <a:off x="1671740" y="4431295"/>
              <a:ext cx="114128" cy="48046"/>
            </a:xfrm>
            <a:custGeom>
              <a:rect b="b" l="l" r="r" t="t"/>
              <a:pathLst>
                <a:path extrusionOk="0" h="309" w="734">
                  <a:moveTo>
                    <a:pt x="105" y="101"/>
                  </a:moveTo>
                  <a:lnTo>
                    <a:pt x="630" y="101"/>
                  </a:lnTo>
                  <a:lnTo>
                    <a:pt x="630" y="208"/>
                  </a:lnTo>
                  <a:lnTo>
                    <a:pt x="105" y="208"/>
                  </a:lnTo>
                  <a:lnTo>
                    <a:pt x="105" y="101"/>
                  </a:lnTo>
                  <a:moveTo>
                    <a:pt x="0" y="309"/>
                  </a:moveTo>
                  <a:lnTo>
                    <a:pt x="734" y="309"/>
                  </a:lnTo>
                  <a:lnTo>
                    <a:pt x="734" y="0"/>
                  </a:lnTo>
                  <a:lnTo>
                    <a:pt x="0" y="0"/>
                  </a:lnTo>
                  <a:lnTo>
                    <a:pt x="0" y="309"/>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1" name="Google Shape;251;p35"/>
            <p:cNvSpPr/>
            <p:nvPr/>
          </p:nvSpPr>
          <p:spPr>
            <a:xfrm>
              <a:off x="1381753" y="4242687"/>
              <a:ext cx="16171" cy="15704"/>
            </a:xfrm>
            <a:custGeom>
              <a:rect b="b" l="l" r="r" t="t"/>
              <a:pathLst>
                <a:path extrusionOk="0" h="101" w="104">
                  <a:moveTo>
                    <a:pt x="0" y="0"/>
                  </a:moveTo>
                  <a:lnTo>
                    <a:pt x="104" y="0"/>
                  </a:lnTo>
                  <a:lnTo>
                    <a:pt x="104" y="101"/>
                  </a:lnTo>
                  <a:lnTo>
                    <a:pt x="0" y="101"/>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2" name="Google Shape;252;p35"/>
            <p:cNvSpPr/>
            <p:nvPr/>
          </p:nvSpPr>
          <p:spPr>
            <a:xfrm>
              <a:off x="1414094" y="4242687"/>
              <a:ext cx="16171" cy="15704"/>
            </a:xfrm>
            <a:custGeom>
              <a:rect b="b" l="l" r="r" t="t"/>
              <a:pathLst>
                <a:path extrusionOk="0" h="101" w="104">
                  <a:moveTo>
                    <a:pt x="0" y="0"/>
                  </a:moveTo>
                  <a:lnTo>
                    <a:pt x="104" y="0"/>
                  </a:lnTo>
                  <a:lnTo>
                    <a:pt x="104" y="101"/>
                  </a:lnTo>
                  <a:lnTo>
                    <a:pt x="0" y="101"/>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53" name="Google Shape;253;p35"/>
          <p:cNvGrpSpPr/>
          <p:nvPr/>
        </p:nvGrpSpPr>
        <p:grpSpPr>
          <a:xfrm>
            <a:off x="4359617" y="1259391"/>
            <a:ext cx="424759" cy="521220"/>
            <a:chOff x="6022795" y="2605235"/>
            <a:chExt cx="436142" cy="535188"/>
          </a:xfrm>
        </p:grpSpPr>
        <p:sp>
          <p:nvSpPr>
            <p:cNvPr id="254" name="Google Shape;254;p35"/>
            <p:cNvSpPr/>
            <p:nvPr/>
          </p:nvSpPr>
          <p:spPr>
            <a:xfrm>
              <a:off x="6022795" y="2605235"/>
              <a:ext cx="436142" cy="535188"/>
            </a:xfrm>
            <a:custGeom>
              <a:rect b="b" l="l" r="r" t="t"/>
              <a:pathLst>
                <a:path extrusionOk="0" h="3442" w="2805">
                  <a:moveTo>
                    <a:pt x="2387" y="1204"/>
                  </a:moveTo>
                  <a:lnTo>
                    <a:pt x="2387" y="1159"/>
                  </a:lnTo>
                  <a:cubicBezTo>
                    <a:pt x="2387" y="520"/>
                    <a:pt x="1852" y="0"/>
                    <a:pt x="1194" y="0"/>
                  </a:cubicBezTo>
                  <a:cubicBezTo>
                    <a:pt x="536" y="0"/>
                    <a:pt x="0" y="520"/>
                    <a:pt x="0" y="1159"/>
                  </a:cubicBezTo>
                  <a:lnTo>
                    <a:pt x="0" y="3442"/>
                  </a:lnTo>
                  <a:lnTo>
                    <a:pt x="987" y="3442"/>
                  </a:lnTo>
                  <a:lnTo>
                    <a:pt x="987" y="3341"/>
                  </a:lnTo>
                  <a:lnTo>
                    <a:pt x="623" y="3341"/>
                  </a:lnTo>
                  <a:lnTo>
                    <a:pt x="623" y="3031"/>
                  </a:lnTo>
                  <a:lnTo>
                    <a:pt x="520" y="3031"/>
                  </a:lnTo>
                  <a:lnTo>
                    <a:pt x="520" y="3341"/>
                  </a:lnTo>
                  <a:lnTo>
                    <a:pt x="104" y="3341"/>
                  </a:lnTo>
                  <a:lnTo>
                    <a:pt x="104" y="1159"/>
                  </a:lnTo>
                  <a:cubicBezTo>
                    <a:pt x="104" y="575"/>
                    <a:pt x="593" y="101"/>
                    <a:pt x="1194" y="101"/>
                  </a:cubicBezTo>
                  <a:cubicBezTo>
                    <a:pt x="1795" y="101"/>
                    <a:pt x="2283" y="575"/>
                    <a:pt x="2283" y="1159"/>
                  </a:cubicBezTo>
                  <a:lnTo>
                    <a:pt x="2283" y="1228"/>
                  </a:lnTo>
                  <a:lnTo>
                    <a:pt x="2690" y="2024"/>
                  </a:lnTo>
                  <a:lnTo>
                    <a:pt x="2285" y="2024"/>
                  </a:lnTo>
                  <a:lnTo>
                    <a:pt x="2285" y="2334"/>
                  </a:lnTo>
                  <a:cubicBezTo>
                    <a:pt x="2285" y="2499"/>
                    <a:pt x="2147" y="2632"/>
                    <a:pt x="1978" y="2632"/>
                  </a:cubicBezTo>
                  <a:lnTo>
                    <a:pt x="988" y="2630"/>
                  </a:lnTo>
                  <a:lnTo>
                    <a:pt x="988" y="2731"/>
                  </a:lnTo>
                  <a:lnTo>
                    <a:pt x="1303" y="2731"/>
                  </a:lnTo>
                  <a:lnTo>
                    <a:pt x="1303" y="3341"/>
                  </a:lnTo>
                  <a:lnTo>
                    <a:pt x="1091" y="3341"/>
                  </a:lnTo>
                  <a:lnTo>
                    <a:pt x="1091" y="3442"/>
                  </a:lnTo>
                  <a:lnTo>
                    <a:pt x="1407" y="3442"/>
                  </a:lnTo>
                  <a:lnTo>
                    <a:pt x="1407" y="2731"/>
                  </a:lnTo>
                  <a:lnTo>
                    <a:pt x="1978" y="2731"/>
                  </a:lnTo>
                  <a:cubicBezTo>
                    <a:pt x="2205" y="2731"/>
                    <a:pt x="2389" y="2554"/>
                    <a:pt x="2389" y="2334"/>
                  </a:cubicBezTo>
                  <a:lnTo>
                    <a:pt x="2389" y="2124"/>
                  </a:lnTo>
                  <a:lnTo>
                    <a:pt x="2805" y="2124"/>
                  </a:lnTo>
                  <a:lnTo>
                    <a:pt x="2805" y="2022"/>
                  </a:lnTo>
                  <a:lnTo>
                    <a:pt x="2387" y="1204"/>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5" name="Google Shape;255;p35"/>
            <p:cNvSpPr/>
            <p:nvPr/>
          </p:nvSpPr>
          <p:spPr>
            <a:xfrm>
              <a:off x="6054826" y="2645351"/>
              <a:ext cx="282987" cy="415618"/>
            </a:xfrm>
            <a:custGeom>
              <a:rect b="b" l="l" r="r" t="t"/>
              <a:pathLst>
                <a:path extrusionOk="0" h="2673" w="1820">
                  <a:moveTo>
                    <a:pt x="207" y="1311"/>
                  </a:moveTo>
                  <a:cubicBezTo>
                    <a:pt x="150" y="1311"/>
                    <a:pt x="104" y="1266"/>
                    <a:pt x="104" y="1210"/>
                  </a:cubicBezTo>
                  <a:cubicBezTo>
                    <a:pt x="104" y="1155"/>
                    <a:pt x="150" y="1109"/>
                    <a:pt x="207" y="1109"/>
                  </a:cubicBezTo>
                  <a:cubicBezTo>
                    <a:pt x="265" y="1109"/>
                    <a:pt x="311" y="1155"/>
                    <a:pt x="311" y="1210"/>
                  </a:cubicBezTo>
                  <a:cubicBezTo>
                    <a:pt x="311" y="1266"/>
                    <a:pt x="265" y="1311"/>
                    <a:pt x="207" y="1311"/>
                  </a:cubicBezTo>
                  <a:moveTo>
                    <a:pt x="314" y="706"/>
                  </a:moveTo>
                  <a:cubicBezTo>
                    <a:pt x="256" y="706"/>
                    <a:pt x="210" y="661"/>
                    <a:pt x="210" y="605"/>
                  </a:cubicBezTo>
                  <a:cubicBezTo>
                    <a:pt x="210" y="550"/>
                    <a:pt x="256" y="504"/>
                    <a:pt x="314" y="504"/>
                  </a:cubicBezTo>
                  <a:cubicBezTo>
                    <a:pt x="371" y="504"/>
                    <a:pt x="417" y="550"/>
                    <a:pt x="417" y="605"/>
                  </a:cubicBezTo>
                  <a:cubicBezTo>
                    <a:pt x="417" y="661"/>
                    <a:pt x="371" y="706"/>
                    <a:pt x="314" y="706"/>
                  </a:cubicBezTo>
                  <a:moveTo>
                    <a:pt x="573" y="202"/>
                  </a:moveTo>
                  <a:cubicBezTo>
                    <a:pt x="573" y="146"/>
                    <a:pt x="620" y="101"/>
                    <a:pt x="677" y="101"/>
                  </a:cubicBezTo>
                  <a:cubicBezTo>
                    <a:pt x="734" y="101"/>
                    <a:pt x="781" y="146"/>
                    <a:pt x="781" y="202"/>
                  </a:cubicBezTo>
                  <a:cubicBezTo>
                    <a:pt x="781" y="258"/>
                    <a:pt x="734" y="303"/>
                    <a:pt x="677" y="303"/>
                  </a:cubicBezTo>
                  <a:cubicBezTo>
                    <a:pt x="620" y="303"/>
                    <a:pt x="573" y="257"/>
                    <a:pt x="573" y="202"/>
                  </a:cubicBezTo>
                  <a:moveTo>
                    <a:pt x="1093" y="202"/>
                  </a:moveTo>
                  <a:cubicBezTo>
                    <a:pt x="1093" y="146"/>
                    <a:pt x="1139" y="101"/>
                    <a:pt x="1197" y="101"/>
                  </a:cubicBezTo>
                  <a:cubicBezTo>
                    <a:pt x="1254" y="101"/>
                    <a:pt x="1300" y="146"/>
                    <a:pt x="1300" y="202"/>
                  </a:cubicBezTo>
                  <a:cubicBezTo>
                    <a:pt x="1300" y="258"/>
                    <a:pt x="1254" y="303"/>
                    <a:pt x="1197" y="303"/>
                  </a:cubicBezTo>
                  <a:cubicBezTo>
                    <a:pt x="1139" y="303"/>
                    <a:pt x="1093" y="257"/>
                    <a:pt x="1093" y="202"/>
                  </a:cubicBezTo>
                  <a:moveTo>
                    <a:pt x="1612" y="454"/>
                  </a:moveTo>
                  <a:cubicBezTo>
                    <a:pt x="1669" y="454"/>
                    <a:pt x="1716" y="499"/>
                    <a:pt x="1716" y="555"/>
                  </a:cubicBezTo>
                  <a:cubicBezTo>
                    <a:pt x="1716" y="611"/>
                    <a:pt x="1669" y="656"/>
                    <a:pt x="1612" y="656"/>
                  </a:cubicBezTo>
                  <a:cubicBezTo>
                    <a:pt x="1555" y="656"/>
                    <a:pt x="1508" y="611"/>
                    <a:pt x="1508" y="555"/>
                  </a:cubicBezTo>
                  <a:cubicBezTo>
                    <a:pt x="1508" y="499"/>
                    <a:pt x="1555" y="454"/>
                    <a:pt x="1612" y="454"/>
                  </a:cubicBezTo>
                  <a:moveTo>
                    <a:pt x="1404" y="1009"/>
                  </a:moveTo>
                  <a:cubicBezTo>
                    <a:pt x="1404" y="1064"/>
                    <a:pt x="1358" y="1109"/>
                    <a:pt x="1300" y="1109"/>
                  </a:cubicBezTo>
                  <a:cubicBezTo>
                    <a:pt x="1243" y="1109"/>
                    <a:pt x="1197" y="1064"/>
                    <a:pt x="1197" y="1009"/>
                  </a:cubicBezTo>
                  <a:cubicBezTo>
                    <a:pt x="1197" y="953"/>
                    <a:pt x="1243" y="908"/>
                    <a:pt x="1300" y="908"/>
                  </a:cubicBezTo>
                  <a:cubicBezTo>
                    <a:pt x="1358" y="908"/>
                    <a:pt x="1404" y="953"/>
                    <a:pt x="1404" y="1009"/>
                  </a:cubicBezTo>
                  <a:moveTo>
                    <a:pt x="314" y="2673"/>
                  </a:moveTo>
                  <a:lnTo>
                    <a:pt x="417" y="2673"/>
                  </a:lnTo>
                  <a:lnTo>
                    <a:pt x="417" y="2374"/>
                  </a:lnTo>
                  <a:cubicBezTo>
                    <a:pt x="417" y="2253"/>
                    <a:pt x="468" y="2135"/>
                    <a:pt x="558" y="2050"/>
                  </a:cubicBezTo>
                  <a:cubicBezTo>
                    <a:pt x="667" y="1946"/>
                    <a:pt x="729" y="1802"/>
                    <a:pt x="729" y="1654"/>
                  </a:cubicBezTo>
                  <a:lnTo>
                    <a:pt x="729" y="1131"/>
                  </a:lnTo>
                  <a:cubicBezTo>
                    <a:pt x="728" y="923"/>
                    <a:pt x="872" y="740"/>
                    <a:pt x="1073" y="676"/>
                  </a:cubicBezTo>
                  <a:cubicBezTo>
                    <a:pt x="1156" y="681"/>
                    <a:pt x="1224" y="739"/>
                    <a:pt x="1243" y="815"/>
                  </a:cubicBezTo>
                  <a:cubicBezTo>
                    <a:pt x="1156" y="839"/>
                    <a:pt x="1093" y="917"/>
                    <a:pt x="1093" y="1009"/>
                  </a:cubicBezTo>
                  <a:cubicBezTo>
                    <a:pt x="1093" y="1120"/>
                    <a:pt x="1186" y="1210"/>
                    <a:pt x="1300" y="1210"/>
                  </a:cubicBezTo>
                  <a:cubicBezTo>
                    <a:pt x="1415" y="1210"/>
                    <a:pt x="1508" y="1120"/>
                    <a:pt x="1508" y="1009"/>
                  </a:cubicBezTo>
                  <a:cubicBezTo>
                    <a:pt x="1508" y="914"/>
                    <a:pt x="1440" y="834"/>
                    <a:pt x="1349" y="813"/>
                  </a:cubicBezTo>
                  <a:cubicBezTo>
                    <a:pt x="1337" y="741"/>
                    <a:pt x="1298" y="679"/>
                    <a:pt x="1242" y="636"/>
                  </a:cubicBezTo>
                  <a:cubicBezTo>
                    <a:pt x="1309" y="628"/>
                    <a:pt x="1370" y="629"/>
                    <a:pt x="1421" y="634"/>
                  </a:cubicBezTo>
                  <a:cubicBezTo>
                    <a:pt x="1453" y="706"/>
                    <a:pt x="1526" y="757"/>
                    <a:pt x="1612" y="757"/>
                  </a:cubicBezTo>
                  <a:cubicBezTo>
                    <a:pt x="1727" y="757"/>
                    <a:pt x="1820" y="666"/>
                    <a:pt x="1820" y="555"/>
                  </a:cubicBezTo>
                  <a:cubicBezTo>
                    <a:pt x="1820" y="444"/>
                    <a:pt x="1727" y="353"/>
                    <a:pt x="1612" y="353"/>
                  </a:cubicBezTo>
                  <a:cubicBezTo>
                    <a:pt x="1508" y="353"/>
                    <a:pt x="1422" y="427"/>
                    <a:pt x="1407" y="523"/>
                  </a:cubicBezTo>
                  <a:cubicBezTo>
                    <a:pt x="1333" y="516"/>
                    <a:pt x="1272" y="464"/>
                    <a:pt x="1254" y="396"/>
                  </a:cubicBezTo>
                  <a:cubicBezTo>
                    <a:pt x="1341" y="371"/>
                    <a:pt x="1404" y="294"/>
                    <a:pt x="1404" y="202"/>
                  </a:cubicBezTo>
                  <a:cubicBezTo>
                    <a:pt x="1404" y="91"/>
                    <a:pt x="1311" y="0"/>
                    <a:pt x="1197" y="0"/>
                  </a:cubicBezTo>
                  <a:cubicBezTo>
                    <a:pt x="1082" y="0"/>
                    <a:pt x="989" y="91"/>
                    <a:pt x="989" y="202"/>
                  </a:cubicBezTo>
                  <a:cubicBezTo>
                    <a:pt x="989" y="297"/>
                    <a:pt x="1057" y="377"/>
                    <a:pt x="1148" y="398"/>
                  </a:cubicBezTo>
                  <a:cubicBezTo>
                    <a:pt x="1158" y="451"/>
                    <a:pt x="1183" y="500"/>
                    <a:pt x="1219" y="538"/>
                  </a:cubicBezTo>
                  <a:cubicBezTo>
                    <a:pt x="1137" y="549"/>
                    <a:pt x="1040" y="574"/>
                    <a:pt x="950" y="618"/>
                  </a:cubicBezTo>
                  <a:cubicBezTo>
                    <a:pt x="836" y="595"/>
                    <a:pt x="751" y="506"/>
                    <a:pt x="733" y="396"/>
                  </a:cubicBezTo>
                  <a:cubicBezTo>
                    <a:pt x="820" y="373"/>
                    <a:pt x="885" y="294"/>
                    <a:pt x="885" y="202"/>
                  </a:cubicBezTo>
                  <a:cubicBezTo>
                    <a:pt x="885" y="91"/>
                    <a:pt x="792" y="0"/>
                    <a:pt x="677" y="0"/>
                  </a:cubicBezTo>
                  <a:cubicBezTo>
                    <a:pt x="562" y="0"/>
                    <a:pt x="469" y="91"/>
                    <a:pt x="469" y="202"/>
                  </a:cubicBezTo>
                  <a:cubicBezTo>
                    <a:pt x="469" y="297"/>
                    <a:pt x="537" y="376"/>
                    <a:pt x="628" y="398"/>
                  </a:cubicBezTo>
                  <a:cubicBezTo>
                    <a:pt x="644" y="525"/>
                    <a:pt x="725" y="633"/>
                    <a:pt x="840" y="688"/>
                  </a:cubicBezTo>
                  <a:cubicBezTo>
                    <a:pt x="794" y="725"/>
                    <a:pt x="755" y="768"/>
                    <a:pt x="722" y="816"/>
                  </a:cubicBezTo>
                  <a:cubicBezTo>
                    <a:pt x="680" y="739"/>
                    <a:pt x="603" y="681"/>
                    <a:pt x="513" y="662"/>
                  </a:cubicBezTo>
                  <a:cubicBezTo>
                    <a:pt x="553" y="536"/>
                    <a:pt x="450" y="402"/>
                    <a:pt x="314" y="404"/>
                  </a:cubicBezTo>
                  <a:cubicBezTo>
                    <a:pt x="199" y="404"/>
                    <a:pt x="106" y="494"/>
                    <a:pt x="106" y="605"/>
                  </a:cubicBezTo>
                  <a:cubicBezTo>
                    <a:pt x="106" y="717"/>
                    <a:pt x="199" y="807"/>
                    <a:pt x="314" y="807"/>
                  </a:cubicBezTo>
                  <a:cubicBezTo>
                    <a:pt x="366" y="807"/>
                    <a:pt x="414" y="788"/>
                    <a:pt x="451" y="757"/>
                  </a:cubicBezTo>
                  <a:cubicBezTo>
                    <a:pt x="561" y="758"/>
                    <a:pt x="651" y="844"/>
                    <a:pt x="655" y="951"/>
                  </a:cubicBezTo>
                  <a:cubicBezTo>
                    <a:pt x="635" y="1008"/>
                    <a:pt x="625" y="1069"/>
                    <a:pt x="625" y="1131"/>
                  </a:cubicBezTo>
                  <a:lnTo>
                    <a:pt x="625" y="1263"/>
                  </a:lnTo>
                  <a:cubicBezTo>
                    <a:pt x="569" y="1208"/>
                    <a:pt x="493" y="1171"/>
                    <a:pt x="409" y="1162"/>
                  </a:cubicBezTo>
                  <a:cubicBezTo>
                    <a:pt x="387" y="1074"/>
                    <a:pt x="305" y="1009"/>
                    <a:pt x="207" y="1009"/>
                  </a:cubicBezTo>
                  <a:cubicBezTo>
                    <a:pt x="93" y="1009"/>
                    <a:pt x="0" y="1099"/>
                    <a:pt x="0" y="1210"/>
                  </a:cubicBezTo>
                  <a:cubicBezTo>
                    <a:pt x="0" y="1322"/>
                    <a:pt x="93" y="1412"/>
                    <a:pt x="207" y="1412"/>
                  </a:cubicBezTo>
                  <a:cubicBezTo>
                    <a:pt x="303" y="1412"/>
                    <a:pt x="384" y="1349"/>
                    <a:pt x="408" y="1264"/>
                  </a:cubicBezTo>
                  <a:cubicBezTo>
                    <a:pt x="523" y="1281"/>
                    <a:pt x="613" y="1371"/>
                    <a:pt x="625" y="1486"/>
                  </a:cubicBezTo>
                  <a:lnTo>
                    <a:pt x="625" y="1654"/>
                  </a:lnTo>
                  <a:cubicBezTo>
                    <a:pt x="625" y="1766"/>
                    <a:pt x="581" y="1876"/>
                    <a:pt x="504" y="1959"/>
                  </a:cubicBezTo>
                  <a:cubicBezTo>
                    <a:pt x="459" y="1847"/>
                    <a:pt x="346" y="1767"/>
                    <a:pt x="214" y="1767"/>
                  </a:cubicBezTo>
                  <a:lnTo>
                    <a:pt x="214" y="1867"/>
                  </a:lnTo>
                  <a:cubicBezTo>
                    <a:pt x="323" y="1867"/>
                    <a:pt x="412" y="1949"/>
                    <a:pt x="420" y="2052"/>
                  </a:cubicBezTo>
                  <a:cubicBezTo>
                    <a:pt x="352" y="2146"/>
                    <a:pt x="314" y="2259"/>
                    <a:pt x="314" y="2374"/>
                  </a:cubicBezTo>
                  <a:lnTo>
                    <a:pt x="314" y="2673"/>
                  </a:lnTo>
                  <a:close/>
                </a:path>
              </a:pathLst>
            </a:custGeom>
            <a:solidFill>
              <a:srgbClr val="EE606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6" name="Google Shape;256;p35"/>
            <p:cNvSpPr/>
            <p:nvPr/>
          </p:nvSpPr>
          <p:spPr>
            <a:xfrm>
              <a:off x="6054826" y="2888380"/>
              <a:ext cx="16171" cy="15704"/>
            </a:xfrm>
            <a:custGeom>
              <a:rect b="b" l="l" r="r" t="t"/>
              <a:pathLst>
                <a:path extrusionOk="0" h="101" w="104">
                  <a:moveTo>
                    <a:pt x="0" y="0"/>
                  </a:moveTo>
                  <a:lnTo>
                    <a:pt x="104" y="0"/>
                  </a:lnTo>
                  <a:lnTo>
                    <a:pt x="104" y="101"/>
                  </a:lnTo>
                  <a:lnTo>
                    <a:pt x="0" y="101"/>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7" name="Google Shape;257;p35"/>
            <p:cNvSpPr/>
            <p:nvPr/>
          </p:nvSpPr>
          <p:spPr>
            <a:xfrm>
              <a:off x="6054826" y="2920099"/>
              <a:ext cx="16171" cy="15549"/>
            </a:xfrm>
            <a:custGeom>
              <a:rect b="b" l="l" r="r" t="t"/>
              <a:pathLst>
                <a:path extrusionOk="0" h="100" w="104">
                  <a:moveTo>
                    <a:pt x="0" y="0"/>
                  </a:moveTo>
                  <a:lnTo>
                    <a:pt x="104" y="0"/>
                  </a:lnTo>
                  <a:lnTo>
                    <a:pt x="104" y="100"/>
                  </a:lnTo>
                  <a:lnTo>
                    <a:pt x="0" y="100"/>
                  </a:lnTo>
                  <a:lnTo>
                    <a:pt x="0" y="0"/>
                  </a:lnTo>
                  <a:close/>
                </a:path>
              </a:pathLst>
            </a:custGeom>
            <a:solidFill>
              <a:srgbClr val="EE606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pic>
        <p:nvPicPr>
          <p:cNvPr id="258" name="Google Shape;258;p35"/>
          <p:cNvPicPr preferRelativeResize="0"/>
          <p:nvPr/>
        </p:nvPicPr>
        <p:blipFill>
          <a:blip r:embed="rId3">
            <a:alphaModFix/>
          </a:blip>
          <a:stretch>
            <a:fillRect/>
          </a:stretch>
        </p:blipFill>
        <p:spPr>
          <a:xfrm>
            <a:off x="7727450" y="3885001"/>
            <a:ext cx="1347599" cy="12456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662375" y="155650"/>
            <a:ext cx="77040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t>P</a:t>
            </a:r>
            <a:r>
              <a:rPr lang="en"/>
              <a:t>ositive and Negative Impact</a:t>
            </a:r>
            <a:endParaRPr/>
          </a:p>
        </p:txBody>
      </p:sp>
      <p:sp>
        <p:nvSpPr>
          <p:cNvPr id="264" name="Google Shape;264;p36"/>
          <p:cNvSpPr txBox="1"/>
          <p:nvPr>
            <p:ph idx="1" type="subTitle"/>
          </p:nvPr>
        </p:nvSpPr>
        <p:spPr>
          <a:xfrm>
            <a:off x="4990836" y="1374464"/>
            <a:ext cx="3852000" cy="2829900"/>
          </a:xfrm>
          <a:prstGeom prst="rect">
            <a:avLst/>
          </a:prstGeom>
        </p:spPr>
        <p:txBody>
          <a:bodyPr anchorCtr="0" anchor="t" bIns="91425" lIns="91425" spcFirstLastPara="1" rIns="91425" wrap="square" tIns="91425">
            <a:noAutofit/>
          </a:bodyPr>
          <a:lstStyle/>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Not a Diagnostic Tool</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Predictions should never replace evaluation by a qualified mental health professional.</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Limited Generalizability</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Models trained on one research dataset may not perform equally well in different populations.</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Imaging Limitations</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Resting-state fMRI features alone showed limited predictive value in this study.</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Privacy &amp; Ethics</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Mental health and neuroimaging data require careful handling to protect participant privacy and confidentiality.</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400"/>
              </a:spcAft>
              <a:buNone/>
            </a:pPr>
            <a:r>
              <a:t/>
            </a:r>
            <a:endParaRPr sz="1300">
              <a:latin typeface="Crimson Text"/>
              <a:ea typeface="Crimson Text"/>
              <a:cs typeface="Crimson Text"/>
              <a:sym typeface="Crimson Text"/>
            </a:endParaRPr>
          </a:p>
        </p:txBody>
      </p:sp>
      <p:sp>
        <p:nvSpPr>
          <p:cNvPr id="265" name="Google Shape;265;p36"/>
          <p:cNvSpPr txBox="1"/>
          <p:nvPr>
            <p:ph idx="2" type="subTitle"/>
          </p:nvPr>
        </p:nvSpPr>
        <p:spPr>
          <a:xfrm>
            <a:off x="662375" y="1377832"/>
            <a:ext cx="3852000" cy="2947200"/>
          </a:xfrm>
          <a:prstGeom prst="rect">
            <a:avLst/>
          </a:prstGeom>
        </p:spPr>
        <p:txBody>
          <a:bodyPr anchorCtr="0" anchor="t" bIns="91425" lIns="91425" spcFirstLastPara="1" rIns="91425" wrap="square" tIns="91425">
            <a:noAutofit/>
          </a:bodyPr>
          <a:lstStyle/>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Earlier Identification</a:t>
            </a:r>
            <a:endParaRPr b="1">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May help identify individuals at risk for worsening mental health symptoms earlier.</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Improved Research</a:t>
            </a:r>
            <a:endParaRPr b="1">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Enables researchers to study relationships between behavioral measures and brain imaging more efficiently.</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Clinical Decision Support</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Could assist clinicians by providing an additional source of information alongside professional evaluation.</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0"/>
              </a:spcAft>
              <a:buNone/>
            </a:pPr>
            <a:r>
              <a:rPr b="1" lang="en">
                <a:solidFill>
                  <a:srgbClr val="000000"/>
                </a:solidFill>
                <a:latin typeface="Crimson Text"/>
                <a:ea typeface="Crimson Text"/>
                <a:cs typeface="Crimson Text"/>
                <a:sym typeface="Crimson Text"/>
              </a:rPr>
              <a:t>Better Understanding of Mental Health</a:t>
            </a:r>
            <a:endParaRPr>
              <a:solidFill>
                <a:srgbClr val="000000"/>
              </a:solidFill>
              <a:latin typeface="Crimson Text"/>
              <a:ea typeface="Crimson Text"/>
              <a:cs typeface="Crimson Text"/>
              <a:sym typeface="Crimson Text"/>
            </a:endParaRPr>
          </a:p>
          <a:p>
            <a:pPr indent="0" lvl="0" marL="457200" rtl="0" algn="l">
              <a:lnSpc>
                <a:spcPct val="100000"/>
              </a:lnSpc>
              <a:spcBef>
                <a:spcPts val="400"/>
              </a:spcBef>
              <a:spcAft>
                <a:spcPts val="0"/>
              </a:spcAft>
              <a:buNone/>
            </a:pPr>
            <a:r>
              <a:rPr lang="en">
                <a:solidFill>
                  <a:srgbClr val="000000"/>
                </a:solidFill>
                <a:latin typeface="Crimson Text"/>
                <a:ea typeface="Crimson Text"/>
                <a:cs typeface="Crimson Text"/>
                <a:sym typeface="Crimson Text"/>
              </a:rPr>
              <a:t>Cross-category analyses reveal how different symptom domains relate to one another.</a:t>
            </a:r>
            <a:endParaRPr>
              <a:solidFill>
                <a:srgbClr val="000000"/>
              </a:solidFill>
              <a:latin typeface="Crimson Text"/>
              <a:ea typeface="Crimson Text"/>
              <a:cs typeface="Crimson Text"/>
              <a:sym typeface="Crimson Text"/>
            </a:endParaRPr>
          </a:p>
          <a:p>
            <a:pPr indent="0" lvl="0" marL="0" rtl="0" algn="l">
              <a:lnSpc>
                <a:spcPct val="100000"/>
              </a:lnSpc>
              <a:spcBef>
                <a:spcPts val="400"/>
              </a:spcBef>
              <a:spcAft>
                <a:spcPts val="400"/>
              </a:spcAft>
              <a:buNone/>
            </a:pPr>
            <a:r>
              <a:t/>
            </a:r>
            <a:endParaRPr sz="1300">
              <a:latin typeface="Crimson Text"/>
              <a:ea typeface="Crimson Text"/>
              <a:cs typeface="Crimson Text"/>
              <a:sym typeface="Crimson Text"/>
            </a:endParaRPr>
          </a:p>
        </p:txBody>
      </p:sp>
      <p:sp>
        <p:nvSpPr>
          <p:cNvPr id="266" name="Google Shape;266;p36"/>
          <p:cNvSpPr txBox="1"/>
          <p:nvPr>
            <p:ph idx="3" type="subTitle"/>
          </p:nvPr>
        </p:nvSpPr>
        <p:spPr>
          <a:xfrm>
            <a:off x="1226225" y="818468"/>
            <a:ext cx="27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rgbClr val="191919"/>
                </a:solidFill>
                <a:latin typeface="Barlow"/>
                <a:ea typeface="Barlow"/>
                <a:cs typeface="Barlow"/>
                <a:sym typeface="Barlow"/>
              </a:rPr>
              <a:t>Benefits</a:t>
            </a:r>
            <a:endParaRPr sz="2000">
              <a:solidFill>
                <a:srgbClr val="191919"/>
              </a:solidFill>
              <a:latin typeface="Barlow"/>
              <a:ea typeface="Barlow"/>
              <a:cs typeface="Barlow"/>
              <a:sym typeface="Barlow"/>
            </a:endParaRPr>
          </a:p>
        </p:txBody>
      </p:sp>
      <p:sp>
        <p:nvSpPr>
          <p:cNvPr id="267" name="Google Shape;267;p36"/>
          <p:cNvSpPr txBox="1"/>
          <p:nvPr>
            <p:ph idx="4" type="subTitle"/>
          </p:nvPr>
        </p:nvSpPr>
        <p:spPr>
          <a:xfrm>
            <a:off x="5554675" y="818466"/>
            <a:ext cx="27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rgbClr val="000000"/>
                </a:solidFill>
                <a:latin typeface="Barlow"/>
                <a:ea typeface="Barlow"/>
                <a:cs typeface="Barlow"/>
                <a:sym typeface="Barlow"/>
              </a:rPr>
              <a:t>Challenges</a:t>
            </a:r>
            <a:endParaRPr sz="2000">
              <a:solidFill>
                <a:srgbClr val="000000"/>
              </a:solidFill>
              <a:latin typeface="Barlow"/>
              <a:ea typeface="Barlow"/>
              <a:cs typeface="Barlow"/>
              <a:sym typeface="Barlow"/>
            </a:endParaRPr>
          </a:p>
        </p:txBody>
      </p:sp>
      <p:pic>
        <p:nvPicPr>
          <p:cNvPr descr="Check mark icon (Provided by Getty Images)" id="268" name="Google Shape;268;p36"/>
          <p:cNvPicPr preferRelativeResize="0"/>
          <p:nvPr/>
        </p:nvPicPr>
        <p:blipFill rotWithShape="1">
          <a:blip r:embed="rId3">
            <a:alphaModFix/>
          </a:blip>
          <a:srcRect b="27269" l="49339" r="8556" t="32320"/>
          <a:stretch/>
        </p:blipFill>
        <p:spPr>
          <a:xfrm>
            <a:off x="4614207" y="1491615"/>
            <a:ext cx="453228" cy="434990"/>
          </a:xfrm>
          <a:prstGeom prst="rect">
            <a:avLst/>
          </a:prstGeom>
          <a:noFill/>
          <a:ln>
            <a:noFill/>
          </a:ln>
        </p:spPr>
      </p:pic>
      <p:pic>
        <p:nvPicPr>
          <p:cNvPr descr="Check mark icon (Provided by Getty Images)" id="269" name="Google Shape;269;p36"/>
          <p:cNvPicPr preferRelativeResize="0"/>
          <p:nvPr/>
        </p:nvPicPr>
        <p:blipFill rotWithShape="1">
          <a:blip r:embed="rId3">
            <a:alphaModFix/>
          </a:blip>
          <a:srcRect b="33576" l="8110" r="55557" t="34778"/>
          <a:stretch/>
        </p:blipFill>
        <p:spPr>
          <a:xfrm>
            <a:off x="301175" y="1491623"/>
            <a:ext cx="415273" cy="361702"/>
          </a:xfrm>
          <a:prstGeom prst="rect">
            <a:avLst/>
          </a:prstGeom>
          <a:noFill/>
          <a:ln>
            <a:noFill/>
          </a:ln>
        </p:spPr>
      </p:pic>
      <p:pic>
        <p:nvPicPr>
          <p:cNvPr descr="Check mark icon (Provided by Getty Images)" id="270" name="Google Shape;270;p36"/>
          <p:cNvPicPr preferRelativeResize="0"/>
          <p:nvPr/>
        </p:nvPicPr>
        <p:blipFill rotWithShape="1">
          <a:blip r:embed="rId3">
            <a:alphaModFix/>
          </a:blip>
          <a:srcRect b="27269" l="49339" r="8556" t="32320"/>
          <a:stretch/>
        </p:blipFill>
        <p:spPr>
          <a:xfrm>
            <a:off x="4614199" y="2164801"/>
            <a:ext cx="453228" cy="434990"/>
          </a:xfrm>
          <a:prstGeom prst="rect">
            <a:avLst/>
          </a:prstGeom>
          <a:noFill/>
          <a:ln>
            <a:noFill/>
          </a:ln>
        </p:spPr>
      </p:pic>
      <p:pic>
        <p:nvPicPr>
          <p:cNvPr descr="Check mark icon (Provided by Getty Images)" id="271" name="Google Shape;271;p36"/>
          <p:cNvPicPr preferRelativeResize="0"/>
          <p:nvPr/>
        </p:nvPicPr>
        <p:blipFill rotWithShape="1">
          <a:blip r:embed="rId3">
            <a:alphaModFix/>
          </a:blip>
          <a:srcRect b="27269" l="49339" r="8556" t="32320"/>
          <a:stretch/>
        </p:blipFill>
        <p:spPr>
          <a:xfrm>
            <a:off x="4614199" y="3027421"/>
            <a:ext cx="453228" cy="434990"/>
          </a:xfrm>
          <a:prstGeom prst="rect">
            <a:avLst/>
          </a:prstGeom>
          <a:noFill/>
          <a:ln>
            <a:noFill/>
          </a:ln>
        </p:spPr>
      </p:pic>
      <p:pic>
        <p:nvPicPr>
          <p:cNvPr descr="Check mark icon (Provided by Getty Images)" id="272" name="Google Shape;272;p36"/>
          <p:cNvPicPr preferRelativeResize="0"/>
          <p:nvPr/>
        </p:nvPicPr>
        <p:blipFill rotWithShape="1">
          <a:blip r:embed="rId3">
            <a:alphaModFix/>
          </a:blip>
          <a:srcRect b="27269" l="49339" r="8556" t="32320"/>
          <a:stretch/>
        </p:blipFill>
        <p:spPr>
          <a:xfrm>
            <a:off x="4614199" y="3672989"/>
            <a:ext cx="453228" cy="434990"/>
          </a:xfrm>
          <a:prstGeom prst="rect">
            <a:avLst/>
          </a:prstGeom>
          <a:noFill/>
          <a:ln>
            <a:noFill/>
          </a:ln>
        </p:spPr>
      </p:pic>
      <p:pic>
        <p:nvPicPr>
          <p:cNvPr descr="Check mark icon (Provided by Getty Images)" id="273" name="Google Shape;273;p36"/>
          <p:cNvPicPr preferRelativeResize="0"/>
          <p:nvPr/>
        </p:nvPicPr>
        <p:blipFill rotWithShape="1">
          <a:blip r:embed="rId3">
            <a:alphaModFix/>
          </a:blip>
          <a:srcRect b="33576" l="8110" r="55557" t="34778"/>
          <a:stretch/>
        </p:blipFill>
        <p:spPr>
          <a:xfrm>
            <a:off x="301175" y="2164814"/>
            <a:ext cx="415273" cy="361702"/>
          </a:xfrm>
          <a:prstGeom prst="rect">
            <a:avLst/>
          </a:prstGeom>
          <a:noFill/>
          <a:ln>
            <a:noFill/>
          </a:ln>
        </p:spPr>
      </p:pic>
      <p:pic>
        <p:nvPicPr>
          <p:cNvPr descr="Check mark icon (Provided by Getty Images)" id="274" name="Google Shape;274;p36"/>
          <p:cNvPicPr preferRelativeResize="0"/>
          <p:nvPr/>
        </p:nvPicPr>
        <p:blipFill rotWithShape="1">
          <a:blip r:embed="rId3">
            <a:alphaModFix/>
          </a:blip>
          <a:srcRect b="33576" l="8110" r="55557" t="34778"/>
          <a:stretch/>
        </p:blipFill>
        <p:spPr>
          <a:xfrm>
            <a:off x="301175" y="3015355"/>
            <a:ext cx="415273" cy="361702"/>
          </a:xfrm>
          <a:prstGeom prst="rect">
            <a:avLst/>
          </a:prstGeom>
          <a:noFill/>
          <a:ln>
            <a:noFill/>
          </a:ln>
        </p:spPr>
      </p:pic>
      <p:pic>
        <p:nvPicPr>
          <p:cNvPr descr="Check mark icon (Provided by Getty Images)" id="275" name="Google Shape;275;p36"/>
          <p:cNvPicPr preferRelativeResize="0"/>
          <p:nvPr/>
        </p:nvPicPr>
        <p:blipFill rotWithShape="1">
          <a:blip r:embed="rId3">
            <a:alphaModFix/>
          </a:blip>
          <a:srcRect b="33576" l="8110" r="55557" t="34778"/>
          <a:stretch/>
        </p:blipFill>
        <p:spPr>
          <a:xfrm>
            <a:off x="301175" y="3877943"/>
            <a:ext cx="415273" cy="361702"/>
          </a:xfrm>
          <a:prstGeom prst="rect">
            <a:avLst/>
          </a:prstGeom>
          <a:noFill/>
          <a:ln>
            <a:noFill/>
          </a:ln>
        </p:spPr>
      </p:pic>
      <p:sp>
        <p:nvSpPr>
          <p:cNvPr id="276" name="Google Shape;276;p36"/>
          <p:cNvSpPr txBox="1"/>
          <p:nvPr/>
        </p:nvSpPr>
        <p:spPr>
          <a:xfrm>
            <a:off x="0" y="4740550"/>
            <a:ext cx="850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Crimson Text"/>
                <a:ea typeface="Crimson Text"/>
                <a:cs typeface="Crimson Text"/>
                <a:sym typeface="Crimson Text"/>
                <a:hlinkClick r:id="rId4"/>
              </a:rPr>
              <a:t>Link to Albin’s Recorded Presentation </a:t>
            </a:r>
            <a:endParaRPr>
              <a:latin typeface="Crimson Text"/>
              <a:ea typeface="Crimson Text"/>
              <a:cs typeface="Crimson Text"/>
              <a:sym typeface="Crimson Tex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GitHub Link + Next Steps</a:t>
            </a:r>
            <a:endParaRPr/>
          </a:p>
        </p:txBody>
      </p:sp>
      <p:sp>
        <p:nvSpPr>
          <p:cNvPr id="282" name="Google Shape;282;p37"/>
          <p:cNvSpPr txBox="1"/>
          <p:nvPr>
            <p:ph idx="1" type="body"/>
          </p:nvPr>
        </p:nvSpPr>
        <p:spPr>
          <a:xfrm>
            <a:off x="776646" y="895165"/>
            <a:ext cx="7704000" cy="3554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400">
                <a:solidFill>
                  <a:srgbClr val="000000"/>
                </a:solidFill>
                <a:latin typeface="Crimson Text"/>
                <a:ea typeface="Crimson Text"/>
                <a:cs typeface="Crimson Text"/>
                <a:sym typeface="Crimson Text"/>
              </a:rPr>
              <a:t>Limitations</a:t>
            </a:r>
            <a:endParaRPr b="1" sz="1400">
              <a:solidFill>
                <a:srgbClr val="000000"/>
              </a:solidFill>
              <a:latin typeface="Crimson Text"/>
              <a:ea typeface="Crimson Text"/>
              <a:cs typeface="Crimson Text"/>
              <a:sym typeface="Crimson Text"/>
            </a:endParaRPr>
          </a:p>
          <a:p>
            <a:pPr indent="-317500" lvl="0" marL="457200" rtl="0" algn="l">
              <a:lnSpc>
                <a:spcPct val="115000"/>
              </a:lnSpc>
              <a:spcBef>
                <a:spcPts val="120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Small dataset.</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Only Random Forest models were evaluated.</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Resting-state fMRI features may not capture all relevant brain information.</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Single dataset limits generalizability.</a:t>
            </a:r>
            <a:endParaRPr sz="1400">
              <a:solidFill>
                <a:srgbClr val="000000"/>
              </a:solidFill>
              <a:latin typeface="Crimson Text"/>
              <a:ea typeface="Crimson Text"/>
              <a:cs typeface="Crimson Text"/>
              <a:sym typeface="Crimson Text"/>
            </a:endParaRPr>
          </a:p>
          <a:p>
            <a:pPr indent="0" lvl="0" marL="0" rtl="0" algn="l">
              <a:lnSpc>
                <a:spcPct val="115000"/>
              </a:lnSpc>
              <a:spcBef>
                <a:spcPts val="1400"/>
              </a:spcBef>
              <a:spcAft>
                <a:spcPts val="0"/>
              </a:spcAft>
              <a:buNone/>
            </a:pPr>
            <a:r>
              <a:rPr b="1" lang="en" sz="1400">
                <a:solidFill>
                  <a:srgbClr val="000000"/>
                </a:solidFill>
                <a:latin typeface="Crimson Text"/>
                <a:ea typeface="Crimson Text"/>
                <a:cs typeface="Crimson Text"/>
                <a:sym typeface="Crimson Text"/>
              </a:rPr>
              <a:t>Future work</a:t>
            </a:r>
            <a:endParaRPr b="1" sz="1400">
              <a:solidFill>
                <a:srgbClr val="000000"/>
              </a:solidFill>
              <a:latin typeface="Crimson Text"/>
              <a:ea typeface="Crimson Text"/>
              <a:cs typeface="Crimson Text"/>
              <a:sym typeface="Crimson Text"/>
            </a:endParaRPr>
          </a:p>
          <a:p>
            <a:pPr indent="-317500" lvl="0" marL="457200" rtl="0" algn="l">
              <a:lnSpc>
                <a:spcPct val="115000"/>
              </a:lnSpc>
              <a:spcBef>
                <a:spcPts val="120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Test additional machine learning models.</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Improve imaging feature engineering.</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Evaluate other neuroimaging modalities.</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Validate on external datasets.</a:t>
            </a:r>
            <a:endParaRPr sz="1400">
              <a:solidFill>
                <a:srgbClr val="000000"/>
              </a:solidFill>
              <a:latin typeface="Crimson Text"/>
              <a:ea typeface="Crimson Text"/>
              <a:cs typeface="Crimson Text"/>
              <a:sym typeface="Crimson Text"/>
            </a:endParaRPr>
          </a:p>
          <a:p>
            <a:pPr indent="-317500" lvl="0" marL="457200" rtl="0" algn="l">
              <a:lnSpc>
                <a:spcPct val="115000"/>
              </a:lnSpc>
              <a:spcBef>
                <a:spcPts val="0"/>
              </a:spcBef>
              <a:spcAft>
                <a:spcPts val="0"/>
              </a:spcAft>
              <a:buClr>
                <a:srgbClr val="000000"/>
              </a:buClr>
              <a:buSzPts val="1400"/>
              <a:buFont typeface="Crimson Text"/>
              <a:buChar char="●"/>
            </a:pPr>
            <a:r>
              <a:rPr lang="en" sz="1400">
                <a:solidFill>
                  <a:srgbClr val="000000"/>
                </a:solidFill>
                <a:latin typeface="Crimson Text"/>
                <a:ea typeface="Crimson Text"/>
                <a:cs typeface="Crimson Text"/>
                <a:sym typeface="Crimson Text"/>
              </a:rPr>
              <a:t>Increase sample size.</a:t>
            </a:r>
            <a:endParaRPr sz="1400">
              <a:solidFill>
                <a:srgbClr val="000000"/>
              </a:solidFill>
              <a:latin typeface="Crimson Text"/>
              <a:ea typeface="Crimson Text"/>
              <a:cs typeface="Crimson Text"/>
              <a:sym typeface="Crimson Text"/>
            </a:endParaRPr>
          </a:p>
          <a:p>
            <a:pPr indent="0" lvl="0" marL="0" rtl="0" algn="l">
              <a:lnSpc>
                <a:spcPct val="100000"/>
              </a:lnSpc>
              <a:spcBef>
                <a:spcPts val="1200"/>
              </a:spcBef>
              <a:spcAft>
                <a:spcPts val="0"/>
              </a:spcAft>
              <a:buNone/>
            </a:pPr>
            <a:r>
              <a:t/>
            </a:r>
            <a:endParaRPr sz="1400">
              <a:solidFill>
                <a:srgbClr val="1D1C1D"/>
              </a:solidFill>
              <a:latin typeface="Crimson Text"/>
              <a:ea typeface="Crimson Text"/>
              <a:cs typeface="Crimson Text"/>
              <a:sym typeface="Crimson Text"/>
            </a:endParaRPr>
          </a:p>
        </p:txBody>
      </p:sp>
      <p:sp>
        <p:nvSpPr>
          <p:cNvPr id="283" name="Google Shape;283;p37"/>
          <p:cNvSpPr txBox="1"/>
          <p:nvPr/>
        </p:nvSpPr>
        <p:spPr>
          <a:xfrm>
            <a:off x="2157750" y="4724325"/>
            <a:ext cx="482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u="sng">
                <a:solidFill>
                  <a:schemeClr val="hlink"/>
                </a:solidFill>
                <a:hlinkClick r:id="rId3"/>
              </a:rPr>
              <a:t>https://github.com/jewettm530/MH_Severity_Behavioral_and_Scans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Citations</a:t>
            </a:r>
            <a:endParaRPr/>
          </a:p>
        </p:txBody>
      </p:sp>
      <p:sp>
        <p:nvSpPr>
          <p:cNvPr id="289" name="Google Shape;289;p38"/>
          <p:cNvSpPr txBox="1"/>
          <p:nvPr>
            <p:ph idx="1" type="body"/>
          </p:nvPr>
        </p:nvSpPr>
        <p:spPr>
          <a:xfrm>
            <a:off x="720000" y="1053775"/>
            <a:ext cx="7704000" cy="3554700"/>
          </a:xfrm>
          <a:prstGeom prst="rect">
            <a:avLst/>
          </a:prstGeom>
        </p:spPr>
        <p:txBody>
          <a:bodyPr anchorCtr="0" anchor="t" bIns="91425" lIns="91425" spcFirstLastPara="1" rIns="91425" wrap="square" tIns="91425">
            <a:noAutofit/>
          </a:bodyPr>
          <a:lstStyle/>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Chopra, S., Cocuzza, C. V., Lawhead, C., Ricard, J. A., Labache, L., Patrick, L. M., Kumar, P., Rubenstein, A., Moses, J., Chen, L., Blankenbaker, C., Gillis, B., Germine, L. T., Harpaz-Rotem, I., Yeo, B. T. T., Baker, J. T., &amp; Holmes, A. J. (2025). </a:t>
            </a:r>
            <a:r>
              <a:rPr i="1" lang="en" sz="1210">
                <a:solidFill>
                  <a:schemeClr val="dk1"/>
                </a:solidFill>
                <a:latin typeface="Crimson Text"/>
                <a:ea typeface="Crimson Text"/>
                <a:cs typeface="Crimson Text"/>
                <a:sym typeface="Crimson Text"/>
              </a:rPr>
              <a:t>The Transdiagnostic Connectome Project: an open dataset for studying brain-behavior relationships in psychiatry</a:t>
            </a:r>
            <a:r>
              <a:rPr lang="en" sz="1210">
                <a:solidFill>
                  <a:schemeClr val="dk1"/>
                </a:solidFill>
                <a:latin typeface="Crimson Text"/>
                <a:ea typeface="Crimson Text"/>
                <a:cs typeface="Crimson Text"/>
                <a:sym typeface="Crimson Text"/>
              </a:rPr>
              <a:t>. Scientific Data, 12, 923.</a:t>
            </a:r>
            <a:r>
              <a:rPr lang="en" sz="1210" u="sng">
                <a:solidFill>
                  <a:schemeClr val="dk1"/>
                </a:solidFill>
                <a:latin typeface="Crimson Text"/>
                <a:ea typeface="Crimson Text"/>
                <a:cs typeface="Crimson Text"/>
                <a:sym typeface="Crimson Text"/>
                <a:hlinkClick r:id="rId3">
                  <a:extLst>
                    <a:ext uri="{A12FA001-AC4F-418D-AE19-62706E023703}">
                      <ahyp:hlinkClr val="tx"/>
                    </a:ext>
                  </a:extLst>
                </a:hlinkClick>
              </a:rPr>
              <a:t> https://doi.org/10.1038/s41597-025-04895-z</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Parkes, L., Satterthwaite, T. D., &amp; Bassett, D. S. (2020). </a:t>
            </a:r>
            <a:r>
              <a:rPr i="1" lang="en" sz="1210">
                <a:solidFill>
                  <a:schemeClr val="dk1"/>
                </a:solidFill>
                <a:latin typeface="Crimson Text"/>
                <a:ea typeface="Crimson Text"/>
                <a:cs typeface="Crimson Text"/>
                <a:sym typeface="Crimson Text"/>
              </a:rPr>
              <a:t>Towards precise resting-state fMRI biomarkers in psychiatry: synthesizing developments in transdiagnostic research, dimensional models of psychopathology, and normative neurodevelopment</a:t>
            </a:r>
            <a:r>
              <a:rPr lang="en" sz="1210">
                <a:solidFill>
                  <a:schemeClr val="dk1"/>
                </a:solidFill>
                <a:latin typeface="Crimson Text"/>
                <a:ea typeface="Crimson Text"/>
                <a:cs typeface="Crimson Text"/>
                <a:sym typeface="Crimson Text"/>
              </a:rPr>
              <a:t>. Current Opinion in Neurobiology, 65, 120–128.</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Chopra, S., Cocuzza, C. V., Lawhead, C., et al. (2024). </a:t>
            </a:r>
            <a:r>
              <a:rPr i="1" lang="en" sz="1210">
                <a:solidFill>
                  <a:schemeClr val="dk1"/>
                </a:solidFill>
                <a:latin typeface="Crimson Text"/>
                <a:ea typeface="Crimson Text"/>
                <a:cs typeface="Crimson Text"/>
                <a:sym typeface="Crimson Text"/>
              </a:rPr>
              <a:t>The Transdiagnostic Connectome Project dataset: a richly phenotyped open resource for advancing the study of brain-behavior relationships in psychiatry</a:t>
            </a:r>
            <a:r>
              <a:rPr lang="en" sz="1210">
                <a:solidFill>
                  <a:schemeClr val="dk1"/>
                </a:solidFill>
                <a:latin typeface="Crimson Text"/>
                <a:ea typeface="Crimson Text"/>
                <a:cs typeface="Crimson Text"/>
                <a:sym typeface="Crimson Text"/>
              </a:rPr>
              <a:t>. medRxiv.</a:t>
            </a:r>
            <a:r>
              <a:rPr lang="en" sz="1210" u="sng">
                <a:solidFill>
                  <a:schemeClr val="dk1"/>
                </a:solidFill>
                <a:latin typeface="Crimson Text"/>
                <a:ea typeface="Crimson Text"/>
                <a:cs typeface="Crimson Text"/>
                <a:sym typeface="Crimson Text"/>
                <a:hlinkClick r:id="rId4">
                  <a:extLst>
                    <a:ext uri="{A12FA001-AC4F-418D-AE19-62706E023703}">
                      <ahyp:hlinkClr val="tx"/>
                    </a:ext>
                  </a:extLst>
                </a:hlinkClick>
              </a:rPr>
              <a:t> https://doi.org/10.1101/2024.06.18.24309054</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Woo, C.-W., Chang, L. J., Lindquist, M. A., &amp; Wager, T. D. (2017). </a:t>
            </a:r>
            <a:r>
              <a:rPr i="1" lang="en" sz="1210">
                <a:solidFill>
                  <a:schemeClr val="dk1"/>
                </a:solidFill>
                <a:latin typeface="Crimson Text"/>
                <a:ea typeface="Crimson Text"/>
                <a:cs typeface="Crimson Text"/>
                <a:sym typeface="Crimson Text"/>
              </a:rPr>
              <a:t>Building better biomarkers: Brain models in translational neuroimaging</a:t>
            </a:r>
            <a:r>
              <a:rPr lang="en" sz="1210">
                <a:solidFill>
                  <a:schemeClr val="dk1"/>
                </a:solidFill>
                <a:latin typeface="Crimson Text"/>
                <a:ea typeface="Crimson Text"/>
                <a:cs typeface="Crimson Text"/>
                <a:sym typeface="Crimson Text"/>
              </a:rPr>
              <a:t>. Nature Neuroscience, 20, 365–377.</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Bzdok, D., &amp; Meyer-Lindenberg, A. (2018). </a:t>
            </a:r>
            <a:r>
              <a:rPr i="1" lang="en" sz="1210">
                <a:solidFill>
                  <a:schemeClr val="dk1"/>
                </a:solidFill>
                <a:latin typeface="Crimson Text"/>
                <a:ea typeface="Crimson Text"/>
                <a:cs typeface="Crimson Text"/>
                <a:sym typeface="Crimson Text"/>
              </a:rPr>
              <a:t>Machine learning for precision psychiatry: opportunities and challenges. </a:t>
            </a:r>
            <a:r>
              <a:rPr lang="en" sz="1210">
                <a:solidFill>
                  <a:schemeClr val="dk1"/>
                </a:solidFill>
                <a:latin typeface="Crimson Text"/>
                <a:ea typeface="Crimson Text"/>
                <a:cs typeface="Crimson Text"/>
                <a:sym typeface="Crimson Text"/>
              </a:rPr>
              <a:t>Biological Psychiatry: Cognitive Neuroscience and Neuroimaging, 3(3), 223–230.</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Insel, T. R. (2014).</a:t>
            </a:r>
            <a:r>
              <a:rPr i="1" lang="en" sz="1210">
                <a:solidFill>
                  <a:schemeClr val="dk1"/>
                </a:solidFill>
                <a:latin typeface="Crimson Text"/>
                <a:ea typeface="Crimson Text"/>
                <a:cs typeface="Crimson Text"/>
                <a:sym typeface="Crimson Text"/>
              </a:rPr>
              <a:t> The NIMH Research Domain Criteria (RDoC) Project: precision medicine for psychiatry.</a:t>
            </a:r>
            <a:r>
              <a:rPr lang="en" sz="1210">
                <a:solidFill>
                  <a:schemeClr val="dk1"/>
                </a:solidFill>
                <a:latin typeface="Crimson Text"/>
                <a:ea typeface="Crimson Text"/>
                <a:cs typeface="Crimson Text"/>
                <a:sym typeface="Crimson Text"/>
              </a:rPr>
              <a:t> American Journal of Psychiatry, 171(4), 395–397.</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solidFill>
                  <a:schemeClr val="dk1"/>
                </a:solidFill>
                <a:latin typeface="Crimson Text"/>
                <a:ea typeface="Crimson Text"/>
                <a:cs typeface="Crimson Text"/>
                <a:sym typeface="Crimson Text"/>
              </a:rPr>
              <a:t>Yuwon Kim. (2025). </a:t>
            </a:r>
            <a:r>
              <a:rPr i="1" lang="en" sz="1210">
                <a:solidFill>
                  <a:schemeClr val="dk1"/>
                </a:solidFill>
                <a:latin typeface="Crimson Text"/>
                <a:ea typeface="Crimson Text"/>
                <a:cs typeface="Crimson Text"/>
                <a:sym typeface="Crimson Text"/>
              </a:rPr>
              <a:t>Beyond Missing Data: A Multimodal Approach Using VR-EEG-MRI (VEEM) Biomarkers for Detecting MCI. </a:t>
            </a:r>
            <a:r>
              <a:rPr lang="en" sz="1210">
                <a:solidFill>
                  <a:schemeClr val="dk1"/>
                </a:solidFill>
                <a:latin typeface="Crimson Text"/>
                <a:ea typeface="Crimson Text"/>
                <a:cs typeface="Crimson Text"/>
                <a:sym typeface="Crimson Text"/>
              </a:rPr>
              <a:t>In Proceedings of the Extended Abstracts of the CHI Conference on Human Factors in Computing Systems (CHI EA '25). Association for Computing Machinery, New York, NY, USA, Article 895, 1–7. https://doi.org/10.1145/3706599.3719284</a:t>
            </a:r>
            <a:endParaRPr sz="1210">
              <a:solidFill>
                <a:schemeClr val="dk1"/>
              </a:solidFill>
              <a:latin typeface="Crimson Text"/>
              <a:ea typeface="Crimson Text"/>
              <a:cs typeface="Crimson Text"/>
              <a:sym typeface="Crimson Text"/>
            </a:endParaRPr>
          </a:p>
          <a:p>
            <a:pPr indent="-228600" lvl="0" marL="228600" rtl="0" algn="l">
              <a:lnSpc>
                <a:spcPct val="80000"/>
              </a:lnSpc>
              <a:spcBef>
                <a:spcPts val="0"/>
              </a:spcBef>
              <a:spcAft>
                <a:spcPts val="0"/>
              </a:spcAft>
              <a:buClr>
                <a:schemeClr val="dk1"/>
              </a:buClr>
              <a:buSzPts val="1100"/>
              <a:buFont typeface="Arial"/>
              <a:buNone/>
            </a:pPr>
            <a:r>
              <a:rPr lang="en" sz="1210">
                <a:solidFill>
                  <a:schemeClr val="dk1"/>
                </a:solidFill>
                <a:latin typeface="Crimson Text"/>
                <a:ea typeface="Crimson Text"/>
                <a:cs typeface="Crimson Text"/>
                <a:sym typeface="Crimson Text"/>
              </a:rPr>
              <a:t>Jinxia Wang, Liang Qiao, Haibin Lv, and Zhihan Lv. 2022. </a:t>
            </a:r>
            <a:r>
              <a:rPr i="1" lang="en" sz="1210">
                <a:solidFill>
                  <a:schemeClr val="dk1"/>
                </a:solidFill>
                <a:latin typeface="Crimson Text"/>
                <a:ea typeface="Crimson Text"/>
                <a:cs typeface="Crimson Text"/>
                <a:sym typeface="Crimson Text"/>
              </a:rPr>
              <a:t>Deep Transfer Learning-Based Multi-Modal Digital Twins for Enhancement and Diagnostic Analysis of Brain MRI Image</a:t>
            </a:r>
            <a:r>
              <a:rPr lang="en" sz="1210">
                <a:solidFill>
                  <a:schemeClr val="dk1"/>
                </a:solidFill>
                <a:latin typeface="Crimson Text"/>
                <a:ea typeface="Crimson Text"/>
                <a:cs typeface="Crimson Text"/>
                <a:sym typeface="Crimson Text"/>
              </a:rPr>
              <a:t>. IEEE/ACM Trans. Comput. Biol. Bioinformatics 20, 4 (July-Aug. 2023), 2407–2419. https://doi.org/10.1109/TCBB.2022.3168189</a:t>
            </a:r>
            <a:endParaRPr sz="1200">
              <a:solidFill>
                <a:schemeClr val="dk1"/>
              </a:solidFill>
              <a:latin typeface="Crimson Text"/>
              <a:ea typeface="Crimson Text"/>
              <a:cs typeface="Crimson Text"/>
              <a:sym typeface="Crimson Tex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rebrovascular Accident Recovery Breakthrough by Slidesgo">
  <a:themeElements>
    <a:clrScheme name="Simple Light">
      <a:dk1>
        <a:srgbClr val="333333"/>
      </a:dk1>
      <a:lt1>
        <a:srgbClr val="FFFFFF"/>
      </a:lt1>
      <a:dk2>
        <a:srgbClr val="49557B"/>
      </a:dk2>
      <a:lt2>
        <a:srgbClr val="7F8BAE"/>
      </a:lt2>
      <a:accent1>
        <a:srgbClr val="D2E0EC"/>
      </a:accent1>
      <a:accent2>
        <a:srgbClr val="DBD2A4"/>
      </a:accent2>
      <a:accent3>
        <a:srgbClr val="EE6067"/>
      </a:accent3>
      <a:accent4>
        <a:srgbClr val="EF9E9E"/>
      </a:accent4>
      <a:accent5>
        <a:srgbClr val="F8CCCA"/>
      </a:accent5>
      <a:accent6>
        <a:srgbClr val="FFCAC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